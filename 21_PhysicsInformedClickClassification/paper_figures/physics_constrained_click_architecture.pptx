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24b0ee4dc48b0" /><Relationship Type="http://schemas.openxmlformats.org/officeDocument/2006/relationships/extended-properties" Target="/docProps/app.xml" Id="Rda639d96ee7d44df" /><Relationship Type="http://schemas.openxmlformats.org/officeDocument/2006/relationships/officeDocument" Target="/ppt/presentation.xml" Id="R0d339d8a91dc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165e68eb0e47aa"/>
  </p:sldMasterIdLst>
  <p:notesMasterIdLst>
    <p:notesMasterId xmlns:r="http://schemas.openxmlformats.org/officeDocument/2006/relationships" r:id="R83a8944d84214cc4"/>
  </p:notesMasterIdLst>
  <p:sldIdLst>
    <p:sldId xmlns:r="http://schemas.openxmlformats.org/officeDocument/2006/relationships" id="256" r:id="R7c7d1da969da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2531243f86438f" /><Relationship Type="http://schemas.openxmlformats.org/officeDocument/2006/relationships/slideMaster" Target="/ppt/slideMasters/slideMaster1.xml" Id="R74165e68eb0e47aa" /><Relationship Type="http://schemas.openxmlformats.org/officeDocument/2006/relationships/notesMaster" Target="/ppt/notesMasters/notesMaster1.xml" Id="R83a8944d84214cc4" /><Relationship Type="http://schemas.openxmlformats.org/officeDocument/2006/relationships/presProps" Target="/ppt/presProps.xml" Id="R7b8c8293f68e424f" /><Relationship Type="http://schemas.openxmlformats.org/officeDocument/2006/relationships/tableStyles" Target="/ppt/tableStyles.xml" Id="Rf409b22d4f554679" /><Relationship Type="http://schemas.openxmlformats.org/officeDocument/2006/relationships/slide" Target="/ppt/slides/slide1.xml" Id="R7c7d1da969da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f401477f64f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6d548830a4c6d" /><Relationship Type="http://schemas.openxmlformats.org/officeDocument/2006/relationships/notesMaster" Target="/ppt/notesMasters/notesMaster1.xml" Id="R0d0aece6bfb2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501aac3e0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62bd5eba7b4d25" /><Relationship Type="http://schemas.openxmlformats.org/officeDocument/2006/relationships/slideLayout" Target="/ppt/slideLayouts/slideLayout1.xml" Id="R783d9328e3ff40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d9328e3ff40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f723f06d446c2" /><Relationship Type="http://schemas.openxmlformats.org/officeDocument/2006/relationships/notesSlide" Target="/ppt/notesSlides/notesSlide1.xml" Id="R84605341cbec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panel-a">
            <a:extLst xmlns:a="http://schemas.openxmlformats.org/drawingml/2006/main">
              <a:ext uri="{FF2B5EF4-FFF2-40B4-BE49-F238E27FC236}">
                <a16:creationId xmlns:a16="http://schemas.microsoft.com/office/drawing/2014/main" id="{6ACF832B-1166-493E-B203-EC73584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3350"/>
            <a:ext cx="11887200" cy="3829050"/>
          </a:xfrm>
          <a:prstGeom xmlns:a="http://schemas.openxmlformats.org/drawingml/2006/main" prst="roundRect">
            <a:avLst>
              <a:gd name="adj" fmla="val 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" name="panel-a-accent">
            <a:extLst xmlns:a="http://schemas.openxmlformats.org/drawingml/2006/main">
              <a:ext uri="{FF2B5EF4-FFF2-40B4-BE49-F238E27FC236}">
                <a16:creationId xmlns:a16="http://schemas.microsoft.com/office/drawing/2014/main" id="{90C0F7A6-B9F2-40AA-AEE3-66339A3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3350"/>
            <a:ext cx="66675" cy="3829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0">
            <a:solidFill>
              <a:srgbClr val="0072B2"/>
            </a:solidFill>
            <a:prstDash val="solid"/>
          </a:ln>
        </p:spPr>
      </p:sp>
      <p:sp>
        <p:nvSpPr>
          <p:cNvPr id="3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66AC4F12-36DB-472A-8A10-FA388AE0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(a) Signal decomposition and causal reconstruction</a:t>
            </a:r>
          </a:p>
        </p:txBody>
      </p:sp>
      <p:sp>
        <p:nvSpPr>
          <p:cNvPr id="4" name="input-y">
            <a:extLst xmlns:a="http://schemas.openxmlformats.org/drawingml/2006/main">
              <a:ext uri="{FF2B5EF4-FFF2-40B4-BE49-F238E27FC236}">
                <a16:creationId xmlns:a16="http://schemas.microsoft.com/office/drawing/2014/main" id="{D1637BC0-2A11-46CB-98AE-C803EE8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430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</p:sp>
      <p:sp>
        <p:nvSpPr>
          <p:cNvPr id="5" name="input-y-axis">
            <a:extLst xmlns:a="http://schemas.openxmlformats.org/drawingml/2006/main">
              <a:ext uri="{FF2B5EF4-FFF2-40B4-BE49-F238E27FC236}">
                <a16:creationId xmlns:a16="http://schemas.microsoft.com/office/drawing/2014/main" id="{81A28860-51CB-4D67-BE06-291FC75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6" name="input-y-wave">
            <a:extLst xmlns:a="http://schemas.openxmlformats.org/drawingml/2006/main">
              <a:ext uri="{FF2B5EF4-FFF2-40B4-BE49-F238E27FC236}">
                <a16:creationId xmlns:a16="http://schemas.microsoft.com/office/drawing/2014/main" id="{3513AC41-2073-4F2B-9E29-A5E8B7B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33550"/>
            <a:ext cx="1009650" cy="571500"/>
          </a:xfrm>
          <a:custGeom xmlns:a="http://schemas.openxmlformats.org/drawingml/2006/main">
            <a:pathLst>
              <a:path w="1009650" h="571500">
                <a:moveTo>
                  <a:pt x="0" y="285750"/>
                </a:moveTo>
                <a:lnTo>
                  <a:pt x="18697" y="281686"/>
                </a:lnTo>
                <a:lnTo>
                  <a:pt x="37394" y="277936"/>
                </a:lnTo>
                <a:lnTo>
                  <a:pt x="56092" y="274792"/>
                </a:lnTo>
                <a:lnTo>
                  <a:pt x="74789" y="272498"/>
                </a:lnTo>
                <a:lnTo>
                  <a:pt x="93486" y="271231"/>
                </a:lnTo>
                <a:lnTo>
                  <a:pt x="112183" y="271086"/>
                </a:lnTo>
                <a:lnTo>
                  <a:pt x="130881" y="272062"/>
                </a:lnTo>
                <a:lnTo>
                  <a:pt x="149578" y="274109"/>
                </a:lnTo>
                <a:lnTo>
                  <a:pt x="168275" y="277169"/>
                </a:lnTo>
                <a:lnTo>
                  <a:pt x="186972" y="280899"/>
                </a:lnTo>
                <a:lnTo>
                  <a:pt x="205669" y="284355"/>
                </a:lnTo>
                <a:lnTo>
                  <a:pt x="224367" y="287860"/>
                </a:lnTo>
                <a:lnTo>
                  <a:pt x="243064" y="294323"/>
                </a:lnTo>
                <a:lnTo>
                  <a:pt x="261761" y="299084"/>
                </a:lnTo>
                <a:lnTo>
                  <a:pt x="280458" y="291259"/>
                </a:lnTo>
                <a:lnTo>
                  <a:pt x="299156" y="295672"/>
                </a:lnTo>
                <a:lnTo>
                  <a:pt x="317853" y="324212"/>
                </a:lnTo>
                <a:lnTo>
                  <a:pt x="336550" y="287214"/>
                </a:lnTo>
                <a:lnTo>
                  <a:pt x="355247" y="259131"/>
                </a:lnTo>
                <a:lnTo>
                  <a:pt x="373944" y="366548"/>
                </a:lnTo>
                <a:lnTo>
                  <a:pt x="392642" y="270640"/>
                </a:lnTo>
                <a:lnTo>
                  <a:pt x="411339" y="201561"/>
                </a:lnTo>
                <a:lnTo>
                  <a:pt x="430036" y="432682"/>
                </a:lnTo>
                <a:lnTo>
                  <a:pt x="448733" y="181051"/>
                </a:lnTo>
                <a:lnTo>
                  <a:pt x="467431" y="245320"/>
                </a:lnTo>
                <a:lnTo>
                  <a:pt x="486128" y="419879"/>
                </a:lnTo>
                <a:lnTo>
                  <a:pt x="504825" y="90525"/>
                </a:lnTo>
                <a:lnTo>
                  <a:pt x="523522" y="407872"/>
                </a:lnTo>
                <a:lnTo>
                  <a:pt x="542219" y="213023"/>
                </a:lnTo>
                <a:lnTo>
                  <a:pt x="560917" y="263581"/>
                </a:lnTo>
                <a:lnTo>
                  <a:pt x="579614" y="321897"/>
                </a:lnTo>
                <a:lnTo>
                  <a:pt x="598311" y="223869"/>
                </a:lnTo>
                <a:lnTo>
                  <a:pt x="617008" y="329812"/>
                </a:lnTo>
                <a:lnTo>
                  <a:pt x="635706" y="252754"/>
                </a:lnTo>
                <a:lnTo>
                  <a:pt x="654403" y="312788"/>
                </a:lnTo>
                <a:lnTo>
                  <a:pt x="673100" y="281222"/>
                </a:lnTo>
                <a:lnTo>
                  <a:pt x="691797" y="304885"/>
                </a:lnTo>
                <a:lnTo>
                  <a:pt x="710494" y="295305"/>
                </a:lnTo>
                <a:lnTo>
                  <a:pt x="729192" y="302583"/>
                </a:lnTo>
                <a:lnTo>
                  <a:pt x="747889" y="299181"/>
                </a:lnTo>
                <a:lnTo>
                  <a:pt x="766586" y="299513"/>
                </a:lnTo>
                <a:lnTo>
                  <a:pt x="785283" y="296491"/>
                </a:lnTo>
                <a:lnTo>
                  <a:pt x="803981" y="293642"/>
                </a:lnTo>
                <a:lnTo>
                  <a:pt x="822678" y="289793"/>
                </a:lnTo>
                <a:lnTo>
                  <a:pt x="841375" y="285753"/>
                </a:lnTo>
                <a:lnTo>
                  <a:pt x="860072" y="281687"/>
                </a:lnTo>
                <a:lnTo>
                  <a:pt x="878769" y="277935"/>
                </a:lnTo>
                <a:lnTo>
                  <a:pt x="897467" y="274793"/>
                </a:lnTo>
                <a:lnTo>
                  <a:pt x="916164" y="272497"/>
                </a:lnTo>
                <a:lnTo>
                  <a:pt x="934861" y="271229"/>
                </a:lnTo>
                <a:lnTo>
                  <a:pt x="953558" y="271086"/>
                </a:lnTo>
                <a:lnTo>
                  <a:pt x="972256" y="272079"/>
                </a:lnTo>
                <a:lnTo>
                  <a:pt x="990953" y="274131"/>
                </a:lnTo>
                <a:lnTo>
                  <a:pt x="1009650" y="2770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  <a:prstDash val="solid"/>
          </a:ln>
        </p:spPr>
      </p:sp>
      <p:sp>
        <p:nvSpPr>
          <p:cNvPr id="7" name="input-y-label">
            <a:extLst xmlns:a="http://schemas.openxmlformats.org/drawingml/2006/main">
              <a:ext uri="{FF2B5EF4-FFF2-40B4-BE49-F238E27FC236}">
                <a16:creationId xmlns:a16="http://schemas.microsoft.com/office/drawing/2014/main" id="{C47E6B5C-F216-4D4B-9488-DAF9D938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382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Input waveform y</a:t>
            </a:r>
          </a:p>
        </p:txBody>
      </p:sp>
      <p:sp>
        <p:nvSpPr>
          <p:cNvPr id="8" name="input-y-sub">
            <a:extLst xmlns:a="http://schemas.openxmlformats.org/drawingml/2006/main">
              <a:ext uri="{FF2B5EF4-FFF2-40B4-BE49-F238E27FC236}">
                <a16:creationId xmlns:a16="http://schemas.microsoft.com/office/drawing/2014/main" id="{551184DE-CB14-4A23-981F-2B3552A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[B, 5761] · 576 kHz</a:t>
            </a:r>
          </a:p>
        </p:txBody>
      </p:sp>
      <p:sp>
        <p:nvSpPr>
          <p:cNvPr id="9" name="shared-encoder-layer-1">
            <a:extLst xmlns:a="http://schemas.openxmlformats.org/drawingml/2006/main">
              <a:ext uri="{FF2B5EF4-FFF2-40B4-BE49-F238E27FC236}">
                <a16:creationId xmlns:a16="http://schemas.microsoft.com/office/drawing/2014/main" id="{09C55CC0-15E6-418B-AA00-CEE12797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238125" cy="1181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72B2">
              <a:alpha val="14902"/>
            </a:srgbClr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0" name="shared-encoder-layer-2">
            <a:extLst xmlns:a="http://schemas.openxmlformats.org/drawingml/2006/main">
              <a:ext uri="{FF2B5EF4-FFF2-40B4-BE49-F238E27FC236}">
                <a16:creationId xmlns:a16="http://schemas.microsoft.com/office/drawing/2014/main" id="{72B53A5E-0703-49AD-9840-CD7BAB0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14475"/>
            <a:ext cx="238125" cy="1009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1" name="shared-encoder-layer-3">
            <a:extLst xmlns:a="http://schemas.openxmlformats.org/drawingml/2006/main">
              <a:ext uri="{FF2B5EF4-FFF2-40B4-BE49-F238E27FC236}">
                <a16:creationId xmlns:a16="http://schemas.microsoft.com/office/drawing/2014/main" id="{78AF4C5D-6835-4B9B-8F7B-297ECE3D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00200"/>
            <a:ext cx="238125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72B2">
              <a:alpha val="14902"/>
            </a:srgbClr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2" name="shared-encoder-layer-4">
            <a:extLst xmlns:a="http://schemas.openxmlformats.org/drawingml/2006/main">
              <a:ext uri="{FF2B5EF4-FFF2-40B4-BE49-F238E27FC236}">
                <a16:creationId xmlns:a16="http://schemas.microsoft.com/office/drawing/2014/main" id="{DD6999F7-F9D3-4B86-B6F8-2EDBCA4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85925"/>
            <a:ext cx="238125" cy="666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3" name="shared-encoder-layer-5">
            <a:extLst xmlns:a="http://schemas.openxmlformats.org/drawingml/2006/main">
              <a:ext uri="{FF2B5EF4-FFF2-40B4-BE49-F238E27FC236}">
                <a16:creationId xmlns:a16="http://schemas.microsoft.com/office/drawing/2014/main" id="{50744398-0750-4171-8543-97DB299D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62125"/>
            <a:ext cx="238125" cy="514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72B2">
              <a:alpha val="14902"/>
            </a:srgbClr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</p:sp>
      <p:sp>
        <p:nvSpPr>
          <p:cNvPr id="14" name="shared-encoder-label">
            <a:extLst xmlns:a="http://schemas.openxmlformats.org/drawingml/2006/main">
              <a:ext uri="{FF2B5EF4-FFF2-40B4-BE49-F238E27FC236}">
                <a16:creationId xmlns:a16="http://schemas.microsoft.com/office/drawing/2014/main" id="{A1BB84FC-2FB4-4D19-BB54-6C126790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1334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Shared 1D convolutional encoder E</a:t>
            </a:r>
          </a:p>
        </p:txBody>
      </p:sp>
      <p:sp>
        <p:nvSpPr>
          <p:cNvPr id="15" name="shared-encoder-sub">
            <a:extLst xmlns:a="http://schemas.openxmlformats.org/drawingml/2006/main">
              <a:ext uri="{FF2B5EF4-FFF2-40B4-BE49-F238E27FC236}">
                <a16:creationId xmlns:a16="http://schemas.microsoft.com/office/drawing/2014/main" id="{41DF4E6A-AAA3-4AC2-A0A4-51FD86B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3842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Conv1d · GN · GELU · stride 2</a:t>
            </a:r>
          </a:p>
        </p:txBody>
      </p:sp>
      <p:sp>
        <p:nvSpPr>
          <p:cNvPr id="16" name="latent-z">
            <a:extLst xmlns:a="http://schemas.openxmlformats.org/drawingml/2006/main">
              <a:ext uri="{FF2B5EF4-FFF2-40B4-BE49-F238E27FC236}">
                <a16:creationId xmlns:a16="http://schemas.microsoft.com/office/drawing/2014/main" id="{262EB450-581F-4B36-96BF-808BE9F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76400"/>
            <a:ext cx="400050" cy="6858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EEF9"/>
          </a:solidFill>
          <a:ln xmlns:a="http://schemas.openxmlformats.org/drawingml/2006/main" w="14288">
            <a:solidFill>
              <a:srgbClr val="0072B2"/>
            </a:solidFill>
            <a:prstDash val="solid"/>
          </a:ln>
        </p:spPr>
      </p:sp>
      <p:sp>
        <p:nvSpPr>
          <p:cNvPr id="17" name="latent-z-label">
            <a:extLst xmlns:a="http://schemas.openxmlformats.org/drawingml/2006/main">
              <a:ext uri="{FF2B5EF4-FFF2-40B4-BE49-F238E27FC236}">
                <a16:creationId xmlns:a16="http://schemas.microsoft.com/office/drawing/2014/main" id="{EA0ABD36-F7D4-45E2-9FC3-8855FF8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3238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z</a:t>
            </a:r>
          </a:p>
        </p:txBody>
      </p:sp>
      <p:sp>
        <p:nvSpPr>
          <p:cNvPr id="18" name="latent-z-sub">
            <a:extLst xmlns:a="http://schemas.openxmlformats.org/drawingml/2006/main">
              <a:ext uri="{FF2B5EF4-FFF2-40B4-BE49-F238E27FC236}">
                <a16:creationId xmlns:a16="http://schemas.microsoft.com/office/drawing/2014/main" id="{511B23D7-DD0C-40BD-A214-8D34D39C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46732"/>
            <a:ext cx="32385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92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128 ch</a:t>
            </a:r>
          </a:p>
        </p:txBody>
      </p:sp>
      <p:sp>
        <p:nvSpPr>
          <p:cNvPr id="19" name="source-decoder-layer-1">
            <a:extLst xmlns:a="http://schemas.openxmlformats.org/drawingml/2006/main">
              <a:ext uri="{FF2B5EF4-FFF2-40B4-BE49-F238E27FC236}">
                <a16:creationId xmlns:a16="http://schemas.microsoft.com/office/drawing/2014/main" id="{783F5107-4F32-47CF-B7F4-6A5AC1E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00125"/>
            <a:ext cx="209550" cy="4381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9E73">
              <a:alpha val="14902"/>
            </a:srgbClr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0" name="source-decoder-layer-2">
            <a:extLst xmlns:a="http://schemas.openxmlformats.org/drawingml/2006/main">
              <a:ext uri="{FF2B5EF4-FFF2-40B4-BE49-F238E27FC236}">
                <a16:creationId xmlns:a16="http://schemas.microsoft.com/office/drawing/2014/main" id="{EBAA6F33-8ADE-4E05-8E24-09BEC23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933450"/>
            <a:ext cx="209550" cy="571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1" name="source-decoder-layer-3">
            <a:extLst xmlns:a="http://schemas.openxmlformats.org/drawingml/2006/main">
              <a:ext uri="{FF2B5EF4-FFF2-40B4-BE49-F238E27FC236}">
                <a16:creationId xmlns:a16="http://schemas.microsoft.com/office/drawing/2014/main" id="{1B290A4C-FF92-486C-B1A4-2516379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857250"/>
            <a:ext cx="209550" cy="7239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9E73">
              <a:alpha val="14902"/>
            </a:srgbClr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2" name="source-decoder-layer-4">
            <a:extLst xmlns:a="http://schemas.openxmlformats.org/drawingml/2006/main">
              <a:ext uri="{FF2B5EF4-FFF2-40B4-BE49-F238E27FC236}">
                <a16:creationId xmlns:a16="http://schemas.microsoft.com/office/drawing/2014/main" id="{816771FE-C722-4039-9241-C87E3D43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781050"/>
            <a:ext cx="209550" cy="876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3" name="source-decoder-layer-5">
            <a:extLst xmlns:a="http://schemas.openxmlformats.org/drawingml/2006/main">
              <a:ext uri="{FF2B5EF4-FFF2-40B4-BE49-F238E27FC236}">
                <a16:creationId xmlns:a16="http://schemas.microsoft.com/office/drawing/2014/main" id="{2CF5DD54-A6A7-4F29-81D2-CC631E14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4850"/>
            <a:ext cx="209550" cy="10287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9E73">
              <a:alpha val="14902"/>
            </a:srgbClr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24" name="source-decoder-label">
            <a:extLst xmlns:a="http://schemas.openxmlformats.org/drawingml/2006/main">
              <a:ext uri="{FF2B5EF4-FFF2-40B4-BE49-F238E27FC236}">
                <a16:creationId xmlns:a16="http://schemas.microsoft.com/office/drawing/2014/main" id="{30CAF3B6-6B50-4F4C-8DB9-D56D9993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Full-length source decoder Dₓ</a:t>
            </a:r>
          </a:p>
        </p:txBody>
      </p:sp>
      <p:sp>
        <p:nvSpPr>
          <p:cNvPr id="25" name="source-decoder-sub">
            <a:extLst xmlns:a="http://schemas.openxmlformats.org/drawingml/2006/main">
              <a:ext uri="{FF2B5EF4-FFF2-40B4-BE49-F238E27FC236}">
                <a16:creationId xmlns:a16="http://schemas.microsoft.com/office/drawing/2014/main" id="{6A9B8F81-8FB5-4D25-9D83-3B29CE26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ConvTranspose1d × 5 · tanh</a:t>
            </a:r>
          </a:p>
        </p:txBody>
      </p:sp>
      <p:sp>
        <p:nvSpPr>
          <p:cNvPr id="26" name="xhat-output">
            <a:extLst xmlns:a="http://schemas.openxmlformats.org/drawingml/2006/main">
              <a:ext uri="{FF2B5EF4-FFF2-40B4-BE49-F238E27FC236}">
                <a16:creationId xmlns:a16="http://schemas.microsoft.com/office/drawing/2014/main" id="{D78BFD57-FC5C-4AA8-B556-DD069F3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962025"/>
            <a:ext cx="12001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73"/>
            </a:solidFill>
            <a:prstDash val="solid"/>
          </a:ln>
        </p:spPr>
      </p:sp>
      <p:sp>
        <p:nvSpPr>
          <p:cNvPr id="27" name="xhat-output-axis">
            <a:extLst xmlns:a="http://schemas.openxmlformats.org/drawingml/2006/main">
              <a:ext uri="{FF2B5EF4-FFF2-40B4-BE49-F238E27FC236}">
                <a16:creationId xmlns:a16="http://schemas.microsoft.com/office/drawing/2014/main" id="{EE2D4069-05D0-4D72-BB8D-1AC9E7D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0492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8" name="xhat-output-wave">
            <a:extLst xmlns:a="http://schemas.openxmlformats.org/drawingml/2006/main">
              <a:ext uri="{FF2B5EF4-FFF2-40B4-BE49-F238E27FC236}">
                <a16:creationId xmlns:a16="http://schemas.microsoft.com/office/drawing/2014/main" id="{9A9AA2E1-A462-4D0E-B2DF-25D119E4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019175"/>
            <a:ext cx="1066800" cy="571500"/>
          </a:xfrm>
          <a:custGeom xmlns:a="http://schemas.openxmlformats.org/drawingml/2006/main">
            <a:pathLst>
              <a:path w="1066800" h="571500">
                <a:moveTo>
                  <a:pt x="0" y="285750"/>
                </a:moveTo>
                <a:lnTo>
                  <a:pt x="19756" y="281686"/>
                </a:lnTo>
                <a:lnTo>
                  <a:pt x="39511" y="277936"/>
                </a:lnTo>
                <a:lnTo>
                  <a:pt x="59267" y="274792"/>
                </a:lnTo>
                <a:lnTo>
                  <a:pt x="79022" y="272498"/>
                </a:lnTo>
                <a:lnTo>
                  <a:pt x="98778" y="271231"/>
                </a:lnTo>
                <a:lnTo>
                  <a:pt x="118533" y="271086"/>
                </a:lnTo>
                <a:lnTo>
                  <a:pt x="138289" y="272062"/>
                </a:lnTo>
                <a:lnTo>
                  <a:pt x="158044" y="274109"/>
                </a:lnTo>
                <a:lnTo>
                  <a:pt x="177800" y="277169"/>
                </a:lnTo>
                <a:lnTo>
                  <a:pt x="197556" y="280899"/>
                </a:lnTo>
                <a:lnTo>
                  <a:pt x="217311" y="284355"/>
                </a:lnTo>
                <a:lnTo>
                  <a:pt x="237067" y="287860"/>
                </a:lnTo>
                <a:lnTo>
                  <a:pt x="256822" y="294323"/>
                </a:lnTo>
                <a:lnTo>
                  <a:pt x="276578" y="299084"/>
                </a:lnTo>
                <a:lnTo>
                  <a:pt x="296333" y="291259"/>
                </a:lnTo>
                <a:lnTo>
                  <a:pt x="316089" y="295672"/>
                </a:lnTo>
                <a:lnTo>
                  <a:pt x="335844" y="324212"/>
                </a:lnTo>
                <a:lnTo>
                  <a:pt x="355600" y="287214"/>
                </a:lnTo>
                <a:lnTo>
                  <a:pt x="375356" y="259131"/>
                </a:lnTo>
                <a:lnTo>
                  <a:pt x="395111" y="366548"/>
                </a:lnTo>
                <a:lnTo>
                  <a:pt x="414867" y="270640"/>
                </a:lnTo>
                <a:lnTo>
                  <a:pt x="434622" y="201561"/>
                </a:lnTo>
                <a:lnTo>
                  <a:pt x="454378" y="432682"/>
                </a:lnTo>
                <a:lnTo>
                  <a:pt x="474133" y="181051"/>
                </a:lnTo>
                <a:lnTo>
                  <a:pt x="493889" y="245320"/>
                </a:lnTo>
                <a:lnTo>
                  <a:pt x="513644" y="419879"/>
                </a:lnTo>
                <a:lnTo>
                  <a:pt x="533400" y="90525"/>
                </a:lnTo>
                <a:lnTo>
                  <a:pt x="553156" y="407872"/>
                </a:lnTo>
                <a:lnTo>
                  <a:pt x="572911" y="213023"/>
                </a:lnTo>
                <a:lnTo>
                  <a:pt x="592667" y="263581"/>
                </a:lnTo>
                <a:lnTo>
                  <a:pt x="612422" y="321897"/>
                </a:lnTo>
                <a:lnTo>
                  <a:pt x="632178" y="223869"/>
                </a:lnTo>
                <a:lnTo>
                  <a:pt x="651933" y="329812"/>
                </a:lnTo>
                <a:lnTo>
                  <a:pt x="671689" y="252754"/>
                </a:lnTo>
                <a:lnTo>
                  <a:pt x="691444" y="312788"/>
                </a:lnTo>
                <a:lnTo>
                  <a:pt x="711200" y="281222"/>
                </a:lnTo>
                <a:lnTo>
                  <a:pt x="730956" y="304885"/>
                </a:lnTo>
                <a:lnTo>
                  <a:pt x="750711" y="295305"/>
                </a:lnTo>
                <a:lnTo>
                  <a:pt x="770467" y="302583"/>
                </a:lnTo>
                <a:lnTo>
                  <a:pt x="790222" y="299181"/>
                </a:lnTo>
                <a:lnTo>
                  <a:pt x="809978" y="299513"/>
                </a:lnTo>
                <a:lnTo>
                  <a:pt x="829733" y="296491"/>
                </a:lnTo>
                <a:lnTo>
                  <a:pt x="849489" y="293642"/>
                </a:lnTo>
                <a:lnTo>
                  <a:pt x="869244" y="289793"/>
                </a:lnTo>
                <a:lnTo>
                  <a:pt x="889000" y="285753"/>
                </a:lnTo>
                <a:lnTo>
                  <a:pt x="908756" y="281687"/>
                </a:lnTo>
                <a:lnTo>
                  <a:pt x="928511" y="277935"/>
                </a:lnTo>
                <a:lnTo>
                  <a:pt x="948267" y="274793"/>
                </a:lnTo>
                <a:lnTo>
                  <a:pt x="968022" y="272497"/>
                </a:lnTo>
                <a:lnTo>
                  <a:pt x="987778" y="271229"/>
                </a:lnTo>
                <a:lnTo>
                  <a:pt x="1007533" y="271086"/>
                </a:lnTo>
                <a:lnTo>
                  <a:pt x="1027289" y="272079"/>
                </a:lnTo>
                <a:lnTo>
                  <a:pt x="1047044" y="274131"/>
                </a:lnTo>
                <a:lnTo>
                  <a:pt x="1066800" y="2770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29" name="xhat-output-label">
            <a:extLst xmlns:a="http://schemas.openxmlformats.org/drawingml/2006/main">
              <a:ext uri="{FF2B5EF4-FFF2-40B4-BE49-F238E27FC236}">
                <a16:creationId xmlns:a16="http://schemas.microsoft.com/office/drawing/2014/main" id="{33D5D1EF-5AE9-4DBD-9759-0891620C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239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x̂</a:t>
            </a:r>
          </a:p>
        </p:txBody>
      </p:sp>
      <p:sp>
        <p:nvSpPr>
          <p:cNvPr id="30" name="xhat-output-sub">
            <a:extLst xmlns:a="http://schemas.openxmlformats.org/drawingml/2006/main">
              <a:ext uri="{FF2B5EF4-FFF2-40B4-BE49-F238E27FC236}">
                <a16:creationId xmlns:a16="http://schemas.microsoft.com/office/drawing/2014/main" id="{C67313D2-4867-432F-BD69-0EDAA05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[B, 5761]</a:t>
            </a:r>
          </a:p>
        </p:txBody>
      </p:sp>
      <p:sp>
        <p:nvSpPr>
          <p:cNvPr id="31" name="response-decoder-layer-1">
            <a:extLst xmlns:a="http://schemas.openxmlformats.org/drawingml/2006/main">
              <a:ext uri="{FF2B5EF4-FFF2-40B4-BE49-F238E27FC236}">
                <a16:creationId xmlns:a16="http://schemas.microsoft.com/office/drawing/2014/main" id="{C15E2AFD-A0F9-43C9-87C7-88B8D0B0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238125" cy="876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9F00">
              <a:alpha val="14902"/>
            </a:srgbClr>
          </a:solidFill>
          <a:ln xmlns:a="http://schemas.openxmlformats.org/drawingml/2006/main" w="12383">
            <a:solidFill>
              <a:srgbClr val="E69F00"/>
            </a:solidFill>
            <a:prstDash val="solid"/>
          </a:ln>
        </p:spPr>
      </p:sp>
      <p:sp>
        <p:nvSpPr>
          <p:cNvPr id="32" name="response-decoder-layer-2">
            <a:extLst xmlns:a="http://schemas.openxmlformats.org/drawingml/2006/main">
              <a:ext uri="{FF2B5EF4-FFF2-40B4-BE49-F238E27FC236}">
                <a16:creationId xmlns:a16="http://schemas.microsoft.com/office/drawing/2014/main" id="{9463D62A-D54B-4E87-98E1-EF861BE1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238125" cy="742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69F00"/>
            </a:solidFill>
            <a:prstDash val="solid"/>
          </a:ln>
        </p:spPr>
      </p:sp>
      <p:sp>
        <p:nvSpPr>
          <p:cNvPr id="33" name="response-decoder-layer-3">
            <a:extLst xmlns:a="http://schemas.openxmlformats.org/drawingml/2006/main">
              <a:ext uri="{FF2B5EF4-FFF2-40B4-BE49-F238E27FC236}">
                <a16:creationId xmlns:a16="http://schemas.microsoft.com/office/drawing/2014/main" id="{799317E8-94EA-4583-B8BF-5F059AC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238125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9F00">
              <a:alpha val="14902"/>
            </a:srgbClr>
          </a:solidFill>
          <a:ln xmlns:a="http://schemas.openxmlformats.org/drawingml/2006/main" w="12383">
            <a:solidFill>
              <a:srgbClr val="E69F00"/>
            </a:solidFill>
            <a:prstDash val="solid"/>
          </a:ln>
        </p:spPr>
      </p:sp>
      <p:sp>
        <p:nvSpPr>
          <p:cNvPr id="34" name="response-decoder-layer-4">
            <a:extLst xmlns:a="http://schemas.openxmlformats.org/drawingml/2006/main">
              <a:ext uri="{FF2B5EF4-FFF2-40B4-BE49-F238E27FC236}">
                <a16:creationId xmlns:a16="http://schemas.microsoft.com/office/drawing/2014/main" id="{0CD54A6A-E9F5-45E7-91AC-C129D37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95575"/>
            <a:ext cx="238125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69F00"/>
            </a:solidFill>
            <a:prstDash val="solid"/>
          </a:ln>
        </p:spPr>
      </p:sp>
      <p:sp>
        <p:nvSpPr>
          <p:cNvPr id="35" name="response-decoder-label">
            <a:extLst xmlns:a="http://schemas.openxmlformats.org/drawingml/2006/main">
              <a:ext uri="{FF2B5EF4-FFF2-40B4-BE49-F238E27FC236}">
                <a16:creationId xmlns:a16="http://schemas.microsoft.com/office/drawing/2014/main" id="{BFE0EF65-3DF5-43CF-93CD-B41DFC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Causal response decoder Dₕ</a:t>
            </a:r>
          </a:p>
        </p:txBody>
      </p:sp>
      <p:sp>
        <p:nvSpPr>
          <p:cNvPr id="36" name="response-decoder-sub">
            <a:extLst xmlns:a="http://schemas.openxmlformats.org/drawingml/2006/main">
              <a:ext uri="{FF2B5EF4-FFF2-40B4-BE49-F238E27FC236}">
                <a16:creationId xmlns:a16="http://schemas.microsoft.com/office/drawing/2014/main" id="{BB379683-2712-455E-B8C1-AB0CF6E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909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Conv1d × 4 · prepend h₀ = 1</a:t>
            </a:r>
          </a:p>
        </p:txBody>
      </p:sp>
      <p:sp>
        <p:nvSpPr>
          <p:cNvPr id="37" name="hhat-output">
            <a:extLst xmlns:a="http://schemas.openxmlformats.org/drawingml/2006/main">
              <a:ext uri="{FF2B5EF4-FFF2-40B4-BE49-F238E27FC236}">
                <a16:creationId xmlns:a16="http://schemas.microsoft.com/office/drawing/2014/main" id="{B70E3D1E-7696-463D-B49D-A4B9F24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81275"/>
            <a:ext cx="12001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38" name="hhat-output-axis">
            <a:extLst xmlns:a="http://schemas.openxmlformats.org/drawingml/2006/main">
              <a:ext uri="{FF2B5EF4-FFF2-40B4-BE49-F238E27FC236}">
                <a16:creationId xmlns:a16="http://schemas.microsoft.com/office/drawing/2014/main" id="{0A9FE5E0-0E21-436B-BCCF-7695274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718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9" name="hhat-output-tap-0">
            <a:extLst xmlns:a="http://schemas.openxmlformats.org/drawingml/2006/main">
              <a:ext uri="{FF2B5EF4-FFF2-40B4-BE49-F238E27FC236}">
                <a16:creationId xmlns:a16="http://schemas.microsoft.com/office/drawing/2014/main" id="{98C38B6C-BB31-4E21-985B-67DF9C0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2770632"/>
            <a:ext cx="0" cy="4011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2222"/>
            </a:solidFill>
            <a:prstDash val="solid"/>
          </a:ln>
        </p:spPr>
      </p:sp>
      <p:sp>
        <p:nvSpPr>
          <p:cNvPr id="40" name="hhat-output-tap-1">
            <a:extLst xmlns:a="http://schemas.openxmlformats.org/drawingml/2006/main">
              <a:ext uri="{FF2B5EF4-FFF2-40B4-BE49-F238E27FC236}">
                <a16:creationId xmlns:a16="http://schemas.microsoft.com/office/drawing/2014/main" id="{169ABC64-098F-490E-BC99-A2A5322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955798"/>
            <a:ext cx="0" cy="216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1" name="hhat-output-tap-2">
            <a:extLst xmlns:a="http://schemas.openxmlformats.org/drawingml/2006/main">
              <a:ext uri="{FF2B5EF4-FFF2-40B4-BE49-F238E27FC236}">
                <a16:creationId xmlns:a16="http://schemas.microsoft.com/office/drawing/2014/main" id="{0D333C29-E5F0-49EC-86F2-128B386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303" y="2863215"/>
            <a:ext cx="0" cy="308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2" name="hhat-output-tap-3">
            <a:extLst xmlns:a="http://schemas.openxmlformats.org/drawingml/2006/main">
              <a:ext uri="{FF2B5EF4-FFF2-40B4-BE49-F238E27FC236}">
                <a16:creationId xmlns:a16="http://schemas.microsoft.com/office/drawing/2014/main" id="{8570CF64-131F-457D-9A80-BAC51C2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033" y="3017520"/>
            <a:ext cx="0" cy="1543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3" name="hhat-output-tap-4">
            <a:extLst xmlns:a="http://schemas.openxmlformats.org/drawingml/2006/main">
              <a:ext uri="{FF2B5EF4-FFF2-40B4-BE49-F238E27FC236}">
                <a16:creationId xmlns:a16="http://schemas.microsoft.com/office/drawing/2014/main" id="{89B1ABF9-E1FB-48B2-B282-45D8850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195" y="2930081"/>
            <a:ext cx="0" cy="2417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4" name="hhat-output-tap-5">
            <a:extLst xmlns:a="http://schemas.openxmlformats.org/drawingml/2006/main">
              <a:ext uri="{FF2B5EF4-FFF2-40B4-BE49-F238E27FC236}">
                <a16:creationId xmlns:a16="http://schemas.microsoft.com/office/drawing/2014/main" id="{E46A3619-4C06-46EC-B4C6-17945AA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058668"/>
            <a:ext cx="0" cy="113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5" name="hhat-output-tap-6">
            <a:extLst xmlns:a="http://schemas.openxmlformats.org/drawingml/2006/main">
              <a:ext uri="{FF2B5EF4-FFF2-40B4-BE49-F238E27FC236}">
                <a16:creationId xmlns:a16="http://schemas.microsoft.com/office/drawing/2014/main" id="{A4170548-1CF1-437A-989B-E307D66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3002090"/>
            <a:ext cx="0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46" name="hhat-output-label">
            <a:extLst xmlns:a="http://schemas.openxmlformats.org/drawingml/2006/main">
              <a:ext uri="{FF2B5EF4-FFF2-40B4-BE49-F238E27FC236}">
                <a16:creationId xmlns:a16="http://schemas.microsoft.com/office/drawing/2014/main" id="{E3A992FE-61DA-4667-B4EA-1893F6AB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ĥ</a:t>
            </a:r>
          </a:p>
        </p:txBody>
      </p:sp>
      <p:sp>
        <p:nvSpPr>
          <p:cNvPr id="47" name="hhat-output-sub">
            <a:extLst xmlns:a="http://schemas.openxmlformats.org/drawingml/2006/main">
              <a:ext uri="{FF2B5EF4-FFF2-40B4-BE49-F238E27FC236}">
                <a16:creationId xmlns:a16="http://schemas.microsoft.com/office/drawing/2014/main" id="{8D63C55F-D7F3-47DB-9141-4A30C7C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[B, 1153] · 0–2 ms</a:t>
            </a:r>
          </a:p>
        </p:txBody>
      </p:sp>
      <p:sp>
        <p:nvSpPr>
          <p:cNvPr id="48" name="fft-convolution">
            <a:extLst xmlns:a="http://schemas.openxmlformats.org/drawingml/2006/main">
              <a:ext uri="{FF2B5EF4-FFF2-40B4-BE49-F238E27FC236}">
                <a16:creationId xmlns:a16="http://schemas.microsoft.com/office/drawing/2014/main" id="{5B13C558-4391-415D-96A8-EFED60A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12001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6E6F0"/>
          </a:solidFill>
          <a:ln xmlns:a="http://schemas.openxmlformats.org/drawingml/2006/main" w="14288">
            <a:solidFill>
              <a:srgbClr val="CC79A7"/>
            </a:solidFill>
            <a:prstDash val="solid"/>
          </a:ln>
        </p:spPr>
      </p:sp>
      <p:sp>
        <p:nvSpPr>
          <p:cNvPr id="49" name="fft-convolution-label">
            <a:extLst xmlns:a="http://schemas.openxmlformats.org/drawingml/2006/main">
              <a:ext uri="{FF2B5EF4-FFF2-40B4-BE49-F238E27FC236}">
                <a16:creationId xmlns:a16="http://schemas.microsoft.com/office/drawing/2014/main" id="{AB686DF8-C57E-4553-A234-AFE8BDF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11239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Causal FFT</a:t>
            </a:r>
          </a:p>
        </p:txBody>
      </p:sp>
      <p:sp>
        <p:nvSpPr>
          <p:cNvPr id="50" name="fft-convolution-sub">
            <a:extLst xmlns:a="http://schemas.openxmlformats.org/drawingml/2006/main">
              <a:ext uri="{FF2B5EF4-FFF2-40B4-BE49-F238E27FC236}">
                <a16:creationId xmlns:a16="http://schemas.microsoft.com/office/drawing/2014/main" id="{69AFB719-12D0-492C-AD94-FDE65393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9117"/>
            <a:ext cx="1123950" cy="296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linear convolution</a:t>
            </a:r>
          </a:p>
        </p:txBody>
      </p:sp>
      <p:sp>
        <p:nvSpPr>
          <p:cNvPr id="51" name="yhat-output">
            <a:extLst xmlns:a="http://schemas.openxmlformats.org/drawingml/2006/main">
              <a:ext uri="{FF2B5EF4-FFF2-40B4-BE49-F238E27FC236}">
                <a16:creationId xmlns:a16="http://schemas.microsoft.com/office/drawing/2014/main" id="{B4AE5AFB-CDC2-4FE6-83C8-F23060BC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04975"/>
            <a:ext cx="1104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79A7"/>
            </a:solidFill>
            <a:prstDash val="solid"/>
          </a:ln>
        </p:spPr>
      </p:sp>
      <p:sp>
        <p:nvSpPr>
          <p:cNvPr id="52" name="yhat-output-axis">
            <a:extLst xmlns:a="http://schemas.openxmlformats.org/drawingml/2006/main">
              <a:ext uri="{FF2B5EF4-FFF2-40B4-BE49-F238E27FC236}">
                <a16:creationId xmlns:a16="http://schemas.microsoft.com/office/drawing/2014/main" id="{4EF65739-9D71-417A-987C-AD9B66D6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3" name="yhat-output-wave">
            <a:extLst xmlns:a="http://schemas.openxmlformats.org/drawingml/2006/main">
              <a:ext uri="{FF2B5EF4-FFF2-40B4-BE49-F238E27FC236}">
                <a16:creationId xmlns:a16="http://schemas.microsoft.com/office/drawing/2014/main" id="{532613D7-4615-4016-9563-428DBDE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762125"/>
            <a:ext cx="971550" cy="571500"/>
          </a:xfrm>
          <a:custGeom xmlns:a="http://schemas.openxmlformats.org/drawingml/2006/main">
            <a:pathLst>
              <a:path w="971550" h="571500">
                <a:moveTo>
                  <a:pt x="0" y="285750"/>
                </a:moveTo>
                <a:lnTo>
                  <a:pt x="17992" y="285750"/>
                </a:lnTo>
                <a:lnTo>
                  <a:pt x="35983" y="285749"/>
                </a:lnTo>
                <a:lnTo>
                  <a:pt x="53975" y="285749"/>
                </a:lnTo>
                <a:lnTo>
                  <a:pt x="71967" y="285752"/>
                </a:lnTo>
                <a:lnTo>
                  <a:pt x="89958" y="285759"/>
                </a:lnTo>
                <a:lnTo>
                  <a:pt x="107950" y="285755"/>
                </a:lnTo>
                <a:lnTo>
                  <a:pt x="125942" y="285709"/>
                </a:lnTo>
                <a:lnTo>
                  <a:pt x="143933" y="285662"/>
                </a:lnTo>
                <a:lnTo>
                  <a:pt x="161925" y="285837"/>
                </a:lnTo>
                <a:lnTo>
                  <a:pt x="179917" y="286216"/>
                </a:lnTo>
                <a:lnTo>
                  <a:pt x="197908" y="285714"/>
                </a:lnTo>
                <a:lnTo>
                  <a:pt x="215900" y="284014"/>
                </a:lnTo>
                <a:lnTo>
                  <a:pt x="233892" y="285490"/>
                </a:lnTo>
                <a:lnTo>
                  <a:pt x="251883" y="291156"/>
                </a:lnTo>
                <a:lnTo>
                  <a:pt x="269875" y="285576"/>
                </a:lnTo>
                <a:lnTo>
                  <a:pt x="287867" y="271578"/>
                </a:lnTo>
                <a:lnTo>
                  <a:pt x="305858" y="293200"/>
                </a:lnTo>
                <a:lnTo>
                  <a:pt x="323850" y="312525"/>
                </a:lnTo>
                <a:lnTo>
                  <a:pt x="341842" y="250120"/>
                </a:lnTo>
                <a:lnTo>
                  <a:pt x="359833" y="266619"/>
                </a:lnTo>
                <a:lnTo>
                  <a:pt x="377825" y="365830"/>
                </a:lnTo>
                <a:lnTo>
                  <a:pt x="395817" y="231259"/>
                </a:lnTo>
                <a:lnTo>
                  <a:pt x="413808" y="230941"/>
                </a:lnTo>
                <a:lnTo>
                  <a:pt x="431800" y="424083"/>
                </a:lnTo>
                <a:lnTo>
                  <a:pt x="449792" y="180499"/>
                </a:lnTo>
                <a:lnTo>
                  <a:pt x="467783" y="265619"/>
                </a:lnTo>
                <a:lnTo>
                  <a:pt x="485775" y="420942"/>
                </a:lnTo>
                <a:lnTo>
                  <a:pt x="503767" y="123488"/>
                </a:lnTo>
                <a:lnTo>
                  <a:pt x="521758" y="388354"/>
                </a:lnTo>
                <a:lnTo>
                  <a:pt x="539750" y="274962"/>
                </a:lnTo>
                <a:lnTo>
                  <a:pt x="557742" y="225993"/>
                </a:lnTo>
                <a:lnTo>
                  <a:pt x="575733" y="373361"/>
                </a:lnTo>
                <a:lnTo>
                  <a:pt x="593725" y="205300"/>
                </a:lnTo>
                <a:lnTo>
                  <a:pt x="611717" y="342790"/>
                </a:lnTo>
                <a:lnTo>
                  <a:pt x="629708" y="252920"/>
                </a:lnTo>
                <a:lnTo>
                  <a:pt x="647700" y="300913"/>
                </a:lnTo>
                <a:lnTo>
                  <a:pt x="665692" y="280749"/>
                </a:lnTo>
                <a:lnTo>
                  <a:pt x="683683" y="286133"/>
                </a:lnTo>
                <a:lnTo>
                  <a:pt x="701675" y="286829"/>
                </a:lnTo>
                <a:lnTo>
                  <a:pt x="719667" y="284615"/>
                </a:lnTo>
                <a:lnTo>
                  <a:pt x="737658" y="286513"/>
                </a:lnTo>
                <a:lnTo>
                  <a:pt x="755650" y="285362"/>
                </a:lnTo>
                <a:lnTo>
                  <a:pt x="773642" y="285886"/>
                </a:lnTo>
                <a:lnTo>
                  <a:pt x="791633" y="285743"/>
                </a:lnTo>
                <a:lnTo>
                  <a:pt x="809625" y="285710"/>
                </a:lnTo>
                <a:lnTo>
                  <a:pt x="827617" y="285795"/>
                </a:lnTo>
                <a:lnTo>
                  <a:pt x="845608" y="285717"/>
                </a:lnTo>
                <a:lnTo>
                  <a:pt x="863600" y="285769"/>
                </a:lnTo>
                <a:lnTo>
                  <a:pt x="881592" y="285741"/>
                </a:lnTo>
                <a:lnTo>
                  <a:pt x="899583" y="285753"/>
                </a:lnTo>
                <a:lnTo>
                  <a:pt x="917575" y="285749"/>
                </a:lnTo>
                <a:lnTo>
                  <a:pt x="935567" y="285750"/>
                </a:lnTo>
                <a:lnTo>
                  <a:pt x="953558" y="285750"/>
                </a:lnTo>
                <a:lnTo>
                  <a:pt x="9715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C79A7"/>
            </a:solidFill>
            <a:prstDash val="solid"/>
          </a:ln>
        </p:spPr>
      </p:sp>
      <p:sp>
        <p:nvSpPr>
          <p:cNvPr id="54" name="yhat-output-label">
            <a:extLst xmlns:a="http://schemas.openxmlformats.org/drawingml/2006/main">
              <a:ext uri="{FF2B5EF4-FFF2-40B4-BE49-F238E27FC236}">
                <a16:creationId xmlns:a16="http://schemas.microsoft.com/office/drawing/2014/main" id="{0F6E7B07-17D8-45E9-8F4D-CB6234D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66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Reconstruction ŷ</a:t>
            </a:r>
          </a:p>
        </p:txBody>
      </p:sp>
      <p:sp>
        <p:nvSpPr>
          <p:cNvPr id="55" name="yhat-output-sub">
            <a:extLst xmlns:a="http://schemas.openxmlformats.org/drawingml/2006/main">
              <a:ext uri="{FF2B5EF4-FFF2-40B4-BE49-F238E27FC236}">
                <a16:creationId xmlns:a16="http://schemas.microsoft.com/office/drawing/2014/main" id="{7DF50787-3F49-46ED-9DAF-14F05FB2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9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first 5761 samples</a:t>
            </a:r>
          </a:p>
        </p:txBody>
      </p:sp>
      <p:sp>
        <p:nvSpPr>
          <p:cNvPr id="56" name="subtract">
            <a:extLst xmlns:a="http://schemas.openxmlformats.org/drawingml/2006/main">
              <a:ext uri="{FF2B5EF4-FFF2-40B4-BE49-F238E27FC236}">
                <a16:creationId xmlns:a16="http://schemas.microsoft.com/office/drawing/2014/main" id="{BC25BFD6-4FE0-4C7B-8AAC-D58B0D7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838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</p:sp>
      <p:sp>
        <p:nvSpPr>
          <p:cNvPr id="57" name="subtract-label">
            <a:extLst xmlns:a="http://schemas.openxmlformats.org/drawingml/2006/main">
              <a:ext uri="{FF2B5EF4-FFF2-40B4-BE49-F238E27FC236}">
                <a16:creationId xmlns:a16="http://schemas.microsoft.com/office/drawing/2014/main" id="{4749A55E-BDE3-483E-B397-1529036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76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−</a:t>
            </a:r>
          </a:p>
        </p:txBody>
      </p:sp>
      <p:sp>
        <p:nvSpPr>
          <p:cNvPr id="58" name="residual-output">
            <a:extLst xmlns:a="http://schemas.openxmlformats.org/drawingml/2006/main">
              <a:ext uri="{FF2B5EF4-FFF2-40B4-BE49-F238E27FC236}">
                <a16:creationId xmlns:a16="http://schemas.microsoft.com/office/drawing/2014/main" id="{EE9119D9-B787-4000-A089-DF310F52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95600"/>
            <a:ext cx="76200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5E00"/>
            </a:solidFill>
            <a:prstDash val="solid"/>
          </a:ln>
        </p:spPr>
      </p:sp>
      <p:sp>
        <p:nvSpPr>
          <p:cNvPr id="59" name="residual-output-axis">
            <a:extLst xmlns:a="http://schemas.openxmlformats.org/drawingml/2006/main">
              <a:ext uri="{FF2B5EF4-FFF2-40B4-BE49-F238E27FC236}">
                <a16:creationId xmlns:a16="http://schemas.microsoft.com/office/drawing/2014/main" id="{2765ADE5-C855-4D8F-8405-7E54889E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57538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60" name="residual-output-wave">
            <a:extLst xmlns:a="http://schemas.openxmlformats.org/drawingml/2006/main">
              <a:ext uri="{FF2B5EF4-FFF2-40B4-BE49-F238E27FC236}">
                <a16:creationId xmlns:a16="http://schemas.microsoft.com/office/drawing/2014/main" id="{DB66E4BC-4B3B-40A6-AEAA-8E06C73E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952750"/>
            <a:ext cx="628650" cy="409575"/>
          </a:xfrm>
          <a:custGeom xmlns:a="http://schemas.openxmlformats.org/drawingml/2006/main">
            <a:pathLst>
              <a:path w="628650" h="409575">
                <a:moveTo>
                  <a:pt x="0" y="204788"/>
                </a:moveTo>
                <a:lnTo>
                  <a:pt x="11642" y="186597"/>
                </a:lnTo>
                <a:lnTo>
                  <a:pt x="23283" y="172666"/>
                </a:lnTo>
                <a:lnTo>
                  <a:pt x="34925" y="166254"/>
                </a:lnTo>
                <a:lnTo>
                  <a:pt x="46567" y="168863"/>
                </a:lnTo>
                <a:lnTo>
                  <a:pt x="58208" y="179882"/>
                </a:lnTo>
                <a:lnTo>
                  <a:pt x="69850" y="196732"/>
                </a:lnTo>
                <a:lnTo>
                  <a:pt x="81492" y="215465"/>
                </a:lnTo>
                <a:lnTo>
                  <a:pt x="93133" y="231703"/>
                </a:lnTo>
                <a:lnTo>
                  <a:pt x="104775" y="241650"/>
                </a:lnTo>
                <a:lnTo>
                  <a:pt x="116417" y="242918"/>
                </a:lnTo>
                <a:lnTo>
                  <a:pt x="128058" y="235303"/>
                </a:lnTo>
                <a:lnTo>
                  <a:pt x="139700" y="220690"/>
                </a:lnTo>
                <a:lnTo>
                  <a:pt x="151342" y="201929"/>
                </a:lnTo>
                <a:lnTo>
                  <a:pt x="162983" y="183967"/>
                </a:lnTo>
                <a:lnTo>
                  <a:pt x="174625" y="172145"/>
                </a:lnTo>
                <a:lnTo>
                  <a:pt x="186267" y="165705"/>
                </a:lnTo>
                <a:lnTo>
                  <a:pt x="197908" y="167951"/>
                </a:lnTo>
                <a:lnTo>
                  <a:pt x="209550" y="185342"/>
                </a:lnTo>
                <a:lnTo>
                  <a:pt x="221192" y="200047"/>
                </a:lnTo>
                <a:lnTo>
                  <a:pt x="232833" y="210545"/>
                </a:lnTo>
                <a:lnTo>
                  <a:pt x="244475" y="240260"/>
                </a:lnTo>
                <a:lnTo>
                  <a:pt x="256117" y="248288"/>
                </a:lnTo>
                <a:lnTo>
                  <a:pt x="267758" y="226518"/>
                </a:lnTo>
                <a:lnTo>
                  <a:pt x="279400" y="239839"/>
                </a:lnTo>
                <a:lnTo>
                  <a:pt x="291042" y="232651"/>
                </a:lnTo>
                <a:lnTo>
                  <a:pt x="302683" y="180087"/>
                </a:lnTo>
                <a:lnTo>
                  <a:pt x="314325" y="182013"/>
                </a:lnTo>
                <a:lnTo>
                  <a:pt x="325967" y="188303"/>
                </a:lnTo>
                <a:lnTo>
                  <a:pt x="337608" y="152882"/>
                </a:lnTo>
                <a:lnTo>
                  <a:pt x="349250" y="165869"/>
                </a:lnTo>
                <a:lnTo>
                  <a:pt x="360892" y="197170"/>
                </a:lnTo>
                <a:lnTo>
                  <a:pt x="372533" y="197518"/>
                </a:lnTo>
                <a:lnTo>
                  <a:pt x="384175" y="215641"/>
                </a:lnTo>
                <a:lnTo>
                  <a:pt x="395817" y="240548"/>
                </a:lnTo>
                <a:lnTo>
                  <a:pt x="407458" y="242513"/>
                </a:lnTo>
                <a:lnTo>
                  <a:pt x="419100" y="239542"/>
                </a:lnTo>
                <a:lnTo>
                  <a:pt x="430742" y="232906"/>
                </a:lnTo>
                <a:lnTo>
                  <a:pt x="442383" y="215672"/>
                </a:lnTo>
                <a:lnTo>
                  <a:pt x="454025" y="196240"/>
                </a:lnTo>
                <a:lnTo>
                  <a:pt x="465667" y="180030"/>
                </a:lnTo>
                <a:lnTo>
                  <a:pt x="477308" y="168939"/>
                </a:lnTo>
                <a:lnTo>
                  <a:pt x="488950" y="166188"/>
                </a:lnTo>
                <a:lnTo>
                  <a:pt x="500592" y="172673"/>
                </a:lnTo>
                <a:lnTo>
                  <a:pt x="512233" y="186609"/>
                </a:lnTo>
                <a:lnTo>
                  <a:pt x="523875" y="204782"/>
                </a:lnTo>
                <a:lnTo>
                  <a:pt x="535517" y="222977"/>
                </a:lnTo>
                <a:lnTo>
                  <a:pt x="547158" y="236910"/>
                </a:lnTo>
                <a:lnTo>
                  <a:pt x="558800" y="243321"/>
                </a:lnTo>
                <a:lnTo>
                  <a:pt x="570442" y="240712"/>
                </a:lnTo>
                <a:lnTo>
                  <a:pt x="582083" y="229693"/>
                </a:lnTo>
                <a:lnTo>
                  <a:pt x="593725" y="212843"/>
                </a:lnTo>
                <a:lnTo>
                  <a:pt x="605367" y="194108"/>
                </a:lnTo>
                <a:lnTo>
                  <a:pt x="617008" y="177872"/>
                </a:lnTo>
                <a:lnTo>
                  <a:pt x="628650" y="167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61" name="residual-output-label">
            <a:extLst xmlns:a="http://schemas.openxmlformats.org/drawingml/2006/main">
              <a:ext uri="{FF2B5EF4-FFF2-40B4-BE49-F238E27FC236}">
                <a16:creationId xmlns:a16="http://schemas.microsoft.com/office/drawing/2014/main" id="{72075C80-C6E5-416C-9CFE-748324D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574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Residual r</a:t>
            </a:r>
          </a:p>
        </p:txBody>
      </p:sp>
      <p:sp>
        <p:nvSpPr>
          <p:cNvPr id="62" name="residual-output-sub">
            <a:extLst xmlns:a="http://schemas.openxmlformats.org/drawingml/2006/main">
              <a:ext uri="{FF2B5EF4-FFF2-40B4-BE49-F238E27FC236}">
                <a16:creationId xmlns:a16="http://schemas.microsoft.com/office/drawing/2014/main" id="{F0DCCF15-226D-48C9-94CE-4355E334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4385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y − ŷ</a:t>
            </a:r>
          </a:p>
        </p:txBody>
      </p:sp>
      <p:cxnSp>
        <p:nvCxnSpPr>
          <p:cNvPr id="211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543050" y="20193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21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2019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21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38600" y="1219200"/>
            <a:ext cx="5524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9E73"/>
            </a:solidFill>
            <a:prstDash val="solid"/>
            <a:tailEnd type="arrow" w="med" len="med"/>
          </a:ln>
        </p:spPr>
      </p:cxnSp>
      <p:cxnSp>
        <p:nvCxnSpPr>
          <p:cNvPr id="214" name=""/>
          <p:cNvCxnSpPr>
            <a:stCxn xmlns:a="http://schemas.openxmlformats.org/drawingml/2006/main" id="1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038600" y="2019300"/>
            <a:ext cx="552450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9F00"/>
            </a:solidFill>
            <a:prstDash val="solid"/>
            <a:tailEnd type="arrow" w="med" len="med"/>
          </a:ln>
        </p:spPr>
      </p:cxnSp>
      <p:cxnSp>
        <p:nvCxnSpPr>
          <p:cNvPr id="215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829300" y="1219200"/>
            <a:ext cx="381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E73"/>
            </a:solidFill>
            <a:prstDash val="solid"/>
            <a:tailEnd type="arrow" w="med" len="med"/>
          </a:ln>
        </p:spPr>
      </p:cxnSp>
      <p:cxnSp>
        <p:nvCxnSpPr>
          <p:cNvPr id="216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686425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9F00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26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410450" y="1304925"/>
            <a:ext cx="609600" cy="742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9E73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3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V="1">
            <a:off x="7410450" y="2047875"/>
            <a:ext cx="6096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9F00"/>
            </a:solidFill>
            <a:prstDash val="solid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4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220200" y="2047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C79A7"/>
            </a:solidFill>
            <a:prstDash val="solid"/>
            <a:tailEnd type="arrow" w="med" len="med"/>
          </a:ln>
        </p:spPr>
      </p:cxnSp>
      <p:cxnSp>
        <p:nvCxnSpPr>
          <p:cNvPr id="220" name=""/>
          <p:cNvCxnSpPr>
            <a:stCxn xmlns:a="http://schemas.openxmlformats.org/drawingml/2006/main" id="51" idx="3"/>
            <a:endCxn xmlns:a="http://schemas.openxmlformats.org/drawingml/2006/main" id="56" idx="2"/>
          </p:cNvCxnSpPr>
          <p:nvPr/>
        </p:nvCxnSpPr>
        <p:spPr>
          <a:xfrm xmlns:a="http://schemas.openxmlformats.org/drawingml/2006/main">
            <a:off x="10668000" y="2047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C79A7"/>
            </a:solidFill>
            <a:prstDash val="solid"/>
            <a:tailEnd type="arrow" w="med" len="med"/>
          </a:ln>
        </p:spPr>
      </p:cxnSp>
      <p:cxnSp>
        <p:nvCxnSpPr>
          <p:cNvPr id="221" name=""/>
          <p:cNvCxnSpPr>
            <a:stCxn xmlns:a="http://schemas.openxmlformats.org/drawingml/2006/main" id="56" idx="4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1049000" y="2257425"/>
            <a:ext cx="76200" cy="9001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D55E00"/>
            </a:solidFill>
            <a:prstDash val="solid"/>
            <a:tailEnd type="arrow" w="med" len="med"/>
          </a:ln>
        </p:spPr>
      </p:cxnSp>
      <p:sp>
        <p:nvSpPr>
          <p:cNvPr id="74" name="input-y-bypass-anchor">
            <a:extLst xmlns:a="http://schemas.openxmlformats.org/drawingml/2006/main">
              <a:ext uri="{FF2B5EF4-FFF2-40B4-BE49-F238E27FC236}">
                <a16:creationId xmlns:a16="http://schemas.microsoft.com/office/drawing/2014/main" id="{C72A926C-8EF8-41B5-8DDF-753F83A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10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4" idx="0"/>
            <a:endCxn xmlns:a="http://schemas.openxmlformats.org/drawingml/2006/main" id="74" idx="2"/>
          </p:cNvCxnSpPr>
          <p:nvPr/>
        </p:nvCxnSpPr>
        <p:spPr>
          <a:xfrm xmlns:a="http://schemas.openxmlformats.org/drawingml/2006/main" flipV="1">
            <a:off x="971550" y="600075"/>
            <a:ext cx="10058400" cy="10763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222222"/>
            </a:solidFill>
            <a:prstDash val="solid"/>
          </a:ln>
        </p:spPr>
      </p:cxnSp>
      <p:cxnSp>
        <p:nvCxnSpPr>
          <p:cNvPr id="224" name=""/>
          <p:cNvCxnSpPr>
            <a:stCxn xmlns:a="http://schemas.openxmlformats.org/drawingml/2006/main" id="74" idx="4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1049000" y="619125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sp>
        <p:nvSpPr>
          <p:cNvPr id="77" name="identity-path-label">
            <a:extLst xmlns:a="http://schemas.openxmlformats.org/drawingml/2006/main">
              <a:ext uri="{FF2B5EF4-FFF2-40B4-BE49-F238E27FC236}">
                <a16:creationId xmlns:a16="http://schemas.microsoft.com/office/drawing/2014/main" id="{8A40B8FA-F118-4D45-98C2-77120127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identity path y</a:t>
            </a:r>
          </a:p>
        </p:txBody>
      </p:sp>
      <p:sp>
        <p:nvSpPr>
          <p:cNvPr id="78" name="panel-b">
            <a:extLst xmlns:a="http://schemas.openxmlformats.org/drawingml/2006/main">
              <a:ext uri="{FF2B5EF4-FFF2-40B4-BE49-F238E27FC236}">
                <a16:creationId xmlns:a16="http://schemas.microsoft.com/office/drawing/2014/main" id="{072DA3AE-7367-4660-AD94-EF3A75B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95750"/>
            <a:ext cx="1188720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9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4CA353E8-8909-45C0-85BC-1FA7BDB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52900"/>
            <a:ext cx="533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(b) Classification from decoded representations</a:t>
            </a:r>
          </a:p>
        </p:txBody>
      </p:sp>
      <p:sp>
        <p:nvSpPr>
          <p:cNvPr id="80" name="classifier-xhat">
            <a:extLst xmlns:a="http://schemas.openxmlformats.org/drawingml/2006/main">
              <a:ext uri="{FF2B5EF4-FFF2-40B4-BE49-F238E27FC236}">
                <a16:creationId xmlns:a16="http://schemas.microsoft.com/office/drawing/2014/main" id="{B1DFE58E-BDC6-432F-9AF7-8B8F59F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9144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73"/>
            </a:solidFill>
            <a:prstDash val="solid"/>
          </a:ln>
        </p:spPr>
      </p:sp>
      <p:sp>
        <p:nvSpPr>
          <p:cNvPr id="81" name="classifier-xhat-axis">
            <a:extLst xmlns:a="http://schemas.openxmlformats.org/drawingml/2006/main">
              <a:ext uri="{FF2B5EF4-FFF2-40B4-BE49-F238E27FC236}">
                <a16:creationId xmlns:a16="http://schemas.microsoft.com/office/drawing/2014/main" id="{3DE0788B-0A1B-41C2-A173-70383032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2" name="classifier-xhat-wave">
            <a:extLst xmlns:a="http://schemas.openxmlformats.org/drawingml/2006/main">
              <a:ext uri="{FF2B5EF4-FFF2-40B4-BE49-F238E27FC236}">
                <a16:creationId xmlns:a16="http://schemas.microsoft.com/office/drawing/2014/main" id="{EBEE2AE8-FC0D-440A-AD52-A5E53A84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33900"/>
            <a:ext cx="781050" cy="171450"/>
          </a:xfrm>
          <a:custGeom xmlns:a="http://schemas.openxmlformats.org/drawingml/2006/main">
            <a:pathLst>
              <a:path w="781050" h="171450">
                <a:moveTo>
                  <a:pt x="0" y="85725"/>
                </a:moveTo>
                <a:lnTo>
                  <a:pt x="14464" y="84506"/>
                </a:lnTo>
                <a:lnTo>
                  <a:pt x="28928" y="83381"/>
                </a:lnTo>
                <a:lnTo>
                  <a:pt x="43392" y="82438"/>
                </a:lnTo>
                <a:lnTo>
                  <a:pt x="57856" y="81749"/>
                </a:lnTo>
                <a:lnTo>
                  <a:pt x="72319" y="81369"/>
                </a:lnTo>
                <a:lnTo>
                  <a:pt x="86783" y="81326"/>
                </a:lnTo>
                <a:lnTo>
                  <a:pt x="101247" y="81619"/>
                </a:lnTo>
                <a:lnTo>
                  <a:pt x="115711" y="82233"/>
                </a:lnTo>
                <a:lnTo>
                  <a:pt x="130175" y="83151"/>
                </a:lnTo>
                <a:lnTo>
                  <a:pt x="144639" y="84270"/>
                </a:lnTo>
                <a:lnTo>
                  <a:pt x="159103" y="85306"/>
                </a:lnTo>
                <a:lnTo>
                  <a:pt x="173567" y="86358"/>
                </a:lnTo>
                <a:lnTo>
                  <a:pt x="188031" y="88297"/>
                </a:lnTo>
                <a:lnTo>
                  <a:pt x="202494" y="89725"/>
                </a:lnTo>
                <a:lnTo>
                  <a:pt x="216958" y="87378"/>
                </a:lnTo>
                <a:lnTo>
                  <a:pt x="231422" y="88702"/>
                </a:lnTo>
                <a:lnTo>
                  <a:pt x="245886" y="97264"/>
                </a:lnTo>
                <a:lnTo>
                  <a:pt x="260350" y="86164"/>
                </a:lnTo>
                <a:lnTo>
                  <a:pt x="274814" y="77739"/>
                </a:lnTo>
                <a:lnTo>
                  <a:pt x="289278" y="109964"/>
                </a:lnTo>
                <a:lnTo>
                  <a:pt x="303742" y="81192"/>
                </a:lnTo>
                <a:lnTo>
                  <a:pt x="318206" y="60468"/>
                </a:lnTo>
                <a:lnTo>
                  <a:pt x="332669" y="129805"/>
                </a:lnTo>
                <a:lnTo>
                  <a:pt x="347133" y="54315"/>
                </a:lnTo>
                <a:lnTo>
                  <a:pt x="361597" y="73596"/>
                </a:lnTo>
                <a:lnTo>
                  <a:pt x="376061" y="125964"/>
                </a:lnTo>
                <a:lnTo>
                  <a:pt x="390525" y="27158"/>
                </a:lnTo>
                <a:lnTo>
                  <a:pt x="404989" y="122361"/>
                </a:lnTo>
                <a:lnTo>
                  <a:pt x="419453" y="63907"/>
                </a:lnTo>
                <a:lnTo>
                  <a:pt x="433917" y="79074"/>
                </a:lnTo>
                <a:lnTo>
                  <a:pt x="448381" y="96569"/>
                </a:lnTo>
                <a:lnTo>
                  <a:pt x="462844" y="67161"/>
                </a:lnTo>
                <a:lnTo>
                  <a:pt x="477308" y="98944"/>
                </a:lnTo>
                <a:lnTo>
                  <a:pt x="491772" y="75826"/>
                </a:lnTo>
                <a:lnTo>
                  <a:pt x="506236" y="93836"/>
                </a:lnTo>
                <a:lnTo>
                  <a:pt x="520700" y="84367"/>
                </a:lnTo>
                <a:lnTo>
                  <a:pt x="535164" y="91465"/>
                </a:lnTo>
                <a:lnTo>
                  <a:pt x="549628" y="88592"/>
                </a:lnTo>
                <a:lnTo>
                  <a:pt x="564092" y="90775"/>
                </a:lnTo>
                <a:lnTo>
                  <a:pt x="578556" y="89754"/>
                </a:lnTo>
                <a:lnTo>
                  <a:pt x="593019" y="89854"/>
                </a:lnTo>
                <a:lnTo>
                  <a:pt x="607483" y="88947"/>
                </a:lnTo>
                <a:lnTo>
                  <a:pt x="621947" y="88093"/>
                </a:lnTo>
                <a:lnTo>
                  <a:pt x="636411" y="86938"/>
                </a:lnTo>
                <a:lnTo>
                  <a:pt x="650875" y="85726"/>
                </a:lnTo>
                <a:lnTo>
                  <a:pt x="665339" y="84506"/>
                </a:lnTo>
                <a:lnTo>
                  <a:pt x="679803" y="83381"/>
                </a:lnTo>
                <a:lnTo>
                  <a:pt x="694267" y="82438"/>
                </a:lnTo>
                <a:lnTo>
                  <a:pt x="708731" y="81749"/>
                </a:lnTo>
                <a:lnTo>
                  <a:pt x="723194" y="81369"/>
                </a:lnTo>
                <a:lnTo>
                  <a:pt x="737658" y="81326"/>
                </a:lnTo>
                <a:lnTo>
                  <a:pt x="752122" y="81624"/>
                </a:lnTo>
                <a:lnTo>
                  <a:pt x="766586" y="82239"/>
                </a:lnTo>
                <a:lnTo>
                  <a:pt x="781050" y="8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83" name="classifier-xhat-label">
            <a:extLst xmlns:a="http://schemas.openxmlformats.org/drawingml/2006/main">
              <a:ext uri="{FF2B5EF4-FFF2-40B4-BE49-F238E27FC236}">
                <a16:creationId xmlns:a16="http://schemas.microsoft.com/office/drawing/2014/main" id="{83358ABA-6E1C-499E-9366-73E4AD2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lassifier-hhat">
            <a:extLst xmlns:a="http://schemas.openxmlformats.org/drawingml/2006/main">
              <a:ext uri="{FF2B5EF4-FFF2-40B4-BE49-F238E27FC236}">
                <a16:creationId xmlns:a16="http://schemas.microsoft.com/office/drawing/2014/main" id="{0F6A41F1-5F57-48E2-BA4E-420F1F5D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9144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85" name="classifier-hhat-axis">
            <a:extLst xmlns:a="http://schemas.openxmlformats.org/drawingml/2006/main">
              <a:ext uri="{FF2B5EF4-FFF2-40B4-BE49-F238E27FC236}">
                <a16:creationId xmlns:a16="http://schemas.microsoft.com/office/drawing/2014/main" id="{E2A2B5B0-2712-4C63-ADCB-BF8A781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054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6" name="classifier-hhat-tap-0">
            <a:extLst xmlns:a="http://schemas.openxmlformats.org/drawingml/2006/main">
              <a:ext uri="{FF2B5EF4-FFF2-40B4-BE49-F238E27FC236}">
                <a16:creationId xmlns:a16="http://schemas.microsoft.com/office/drawing/2014/main" id="{47EE5FC1-8509-4F5F-A1B8-A762956A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5016246"/>
            <a:ext cx="0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2222"/>
            </a:solidFill>
            <a:prstDash val="solid"/>
          </a:ln>
        </p:spPr>
      </p:sp>
      <p:sp>
        <p:nvSpPr>
          <p:cNvPr id="87" name="classifier-hhat-tap-1">
            <a:extLst xmlns:a="http://schemas.openxmlformats.org/drawingml/2006/main">
              <a:ext uri="{FF2B5EF4-FFF2-40B4-BE49-F238E27FC236}">
                <a16:creationId xmlns:a16="http://schemas.microsoft.com/office/drawing/2014/main" id="{9639BB1D-8F55-4CAA-B3B0-DD1CFD6B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" y="5057394"/>
            <a:ext cx="0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88" name="classifier-hhat-tap-2">
            <a:extLst xmlns:a="http://schemas.openxmlformats.org/drawingml/2006/main">
              <a:ext uri="{FF2B5EF4-FFF2-40B4-BE49-F238E27FC236}">
                <a16:creationId xmlns:a16="http://schemas.microsoft.com/office/drawing/2014/main" id="{A142C666-3CBA-4D15-81DA-FB53BAC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" y="5036820"/>
            <a:ext cx="0" cy="68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89" name="classifier-hhat-tap-3">
            <a:extLst xmlns:a="http://schemas.openxmlformats.org/drawingml/2006/main">
              <a:ext uri="{FF2B5EF4-FFF2-40B4-BE49-F238E27FC236}">
                <a16:creationId xmlns:a16="http://schemas.microsoft.com/office/drawing/2014/main" id="{AFD260DF-D209-40C6-861A-C88C116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5071110"/>
            <a:ext cx="0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90" name="classifier-hhat-tap-4">
            <a:extLst xmlns:a="http://schemas.openxmlformats.org/drawingml/2006/main">
              <a:ext uri="{FF2B5EF4-FFF2-40B4-BE49-F238E27FC236}">
                <a16:creationId xmlns:a16="http://schemas.microsoft.com/office/drawing/2014/main" id="{7AB6A0E2-7C9C-4C13-80B7-A9162513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051679"/>
            <a:ext cx="0" cy="537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91" name="classifier-hhat-tap-5">
            <a:extLst xmlns:a="http://schemas.openxmlformats.org/drawingml/2006/main">
              <a:ext uri="{FF2B5EF4-FFF2-40B4-BE49-F238E27FC236}">
                <a16:creationId xmlns:a16="http://schemas.microsoft.com/office/drawing/2014/main" id="{AB865963-37BE-4227-AD62-9997921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80254"/>
            <a:ext cx="0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92" name="classifier-hhat-tap-6">
            <a:extLst xmlns:a="http://schemas.openxmlformats.org/drawingml/2006/main">
              <a:ext uri="{FF2B5EF4-FFF2-40B4-BE49-F238E27FC236}">
                <a16:creationId xmlns:a16="http://schemas.microsoft.com/office/drawing/2014/main" id="{9374D702-2701-4109-BE69-4CF7762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5067681"/>
            <a:ext cx="0" cy="37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93" name="classifier-hhat-label">
            <a:extLst xmlns:a="http://schemas.openxmlformats.org/drawingml/2006/main">
              <a:ext uri="{FF2B5EF4-FFF2-40B4-BE49-F238E27FC236}">
                <a16:creationId xmlns:a16="http://schemas.microsoft.com/office/drawing/2014/main" id="{E479964D-59C0-4B5B-ACA3-5E231E19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classifier-residual">
            <a:extLst xmlns:a="http://schemas.openxmlformats.org/drawingml/2006/main">
              <a:ext uri="{FF2B5EF4-FFF2-40B4-BE49-F238E27FC236}">
                <a16:creationId xmlns:a16="http://schemas.microsoft.com/office/drawing/2014/main" id="{6EC41A2A-FB90-47EE-86D8-757F83FD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9144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5E00"/>
            </a:solidFill>
            <a:prstDash val="solid"/>
          </a:ln>
        </p:spPr>
      </p:sp>
      <p:sp>
        <p:nvSpPr>
          <p:cNvPr id="95" name="classifier-residual-axis">
            <a:extLst xmlns:a="http://schemas.openxmlformats.org/drawingml/2006/main">
              <a:ext uri="{FF2B5EF4-FFF2-40B4-BE49-F238E27FC236}">
                <a16:creationId xmlns:a16="http://schemas.microsoft.com/office/drawing/2014/main" id="{379ACF33-D796-4DBA-848F-9718C98C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6" name="classifier-residual-wave">
            <a:extLst xmlns:a="http://schemas.openxmlformats.org/drawingml/2006/main">
              <a:ext uri="{FF2B5EF4-FFF2-40B4-BE49-F238E27FC236}">
                <a16:creationId xmlns:a16="http://schemas.microsoft.com/office/drawing/2014/main" id="{8574A70C-6E1D-47E9-91FA-6F1DACA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0200"/>
            <a:ext cx="781050" cy="133350"/>
          </a:xfrm>
          <a:custGeom xmlns:a="http://schemas.openxmlformats.org/drawingml/2006/main">
            <a:pathLst>
              <a:path w="781050" h="133350">
                <a:moveTo>
                  <a:pt x="0" y="66675"/>
                </a:moveTo>
                <a:lnTo>
                  <a:pt x="14464" y="60753"/>
                </a:lnTo>
                <a:lnTo>
                  <a:pt x="28928" y="56217"/>
                </a:lnTo>
                <a:lnTo>
                  <a:pt x="43392" y="54129"/>
                </a:lnTo>
                <a:lnTo>
                  <a:pt x="57856" y="54979"/>
                </a:lnTo>
                <a:lnTo>
                  <a:pt x="72319" y="58566"/>
                </a:lnTo>
                <a:lnTo>
                  <a:pt x="86783" y="64052"/>
                </a:lnTo>
                <a:lnTo>
                  <a:pt x="101247" y="70151"/>
                </a:lnTo>
                <a:lnTo>
                  <a:pt x="115711" y="75438"/>
                </a:lnTo>
                <a:lnTo>
                  <a:pt x="130175" y="78677"/>
                </a:lnTo>
                <a:lnTo>
                  <a:pt x="144639" y="79090"/>
                </a:lnTo>
                <a:lnTo>
                  <a:pt x="159103" y="76610"/>
                </a:lnTo>
                <a:lnTo>
                  <a:pt x="173567" y="71853"/>
                </a:lnTo>
                <a:lnTo>
                  <a:pt x="188031" y="65744"/>
                </a:lnTo>
                <a:lnTo>
                  <a:pt x="202494" y="59896"/>
                </a:lnTo>
                <a:lnTo>
                  <a:pt x="216958" y="56047"/>
                </a:lnTo>
                <a:lnTo>
                  <a:pt x="231422" y="53951"/>
                </a:lnTo>
                <a:lnTo>
                  <a:pt x="245886" y="54682"/>
                </a:lnTo>
                <a:lnTo>
                  <a:pt x="260350" y="60344"/>
                </a:lnTo>
                <a:lnTo>
                  <a:pt x="274814" y="65132"/>
                </a:lnTo>
                <a:lnTo>
                  <a:pt x="289278" y="68550"/>
                </a:lnTo>
                <a:lnTo>
                  <a:pt x="303742" y="78224"/>
                </a:lnTo>
                <a:lnTo>
                  <a:pt x="318206" y="80838"/>
                </a:lnTo>
                <a:lnTo>
                  <a:pt x="332669" y="73750"/>
                </a:lnTo>
                <a:lnTo>
                  <a:pt x="347133" y="78087"/>
                </a:lnTo>
                <a:lnTo>
                  <a:pt x="361597" y="75747"/>
                </a:lnTo>
                <a:lnTo>
                  <a:pt x="376061" y="58633"/>
                </a:lnTo>
                <a:lnTo>
                  <a:pt x="390525" y="59260"/>
                </a:lnTo>
                <a:lnTo>
                  <a:pt x="404989" y="61308"/>
                </a:lnTo>
                <a:lnTo>
                  <a:pt x="419453" y="49776"/>
                </a:lnTo>
                <a:lnTo>
                  <a:pt x="433917" y="54004"/>
                </a:lnTo>
                <a:lnTo>
                  <a:pt x="448381" y="64195"/>
                </a:lnTo>
                <a:lnTo>
                  <a:pt x="462844" y="64308"/>
                </a:lnTo>
                <a:lnTo>
                  <a:pt x="477308" y="70209"/>
                </a:lnTo>
                <a:lnTo>
                  <a:pt x="491772" y="78318"/>
                </a:lnTo>
                <a:lnTo>
                  <a:pt x="506236" y="78958"/>
                </a:lnTo>
                <a:lnTo>
                  <a:pt x="520700" y="77990"/>
                </a:lnTo>
                <a:lnTo>
                  <a:pt x="535164" y="75830"/>
                </a:lnTo>
                <a:lnTo>
                  <a:pt x="549628" y="70219"/>
                </a:lnTo>
                <a:lnTo>
                  <a:pt x="564092" y="63892"/>
                </a:lnTo>
                <a:lnTo>
                  <a:pt x="578556" y="58614"/>
                </a:lnTo>
                <a:lnTo>
                  <a:pt x="593019" y="55003"/>
                </a:lnTo>
                <a:lnTo>
                  <a:pt x="607483" y="54108"/>
                </a:lnTo>
                <a:lnTo>
                  <a:pt x="621947" y="56219"/>
                </a:lnTo>
                <a:lnTo>
                  <a:pt x="636411" y="60756"/>
                </a:lnTo>
                <a:lnTo>
                  <a:pt x="650875" y="66673"/>
                </a:lnTo>
                <a:lnTo>
                  <a:pt x="665339" y="72597"/>
                </a:lnTo>
                <a:lnTo>
                  <a:pt x="679803" y="77134"/>
                </a:lnTo>
                <a:lnTo>
                  <a:pt x="694267" y="79221"/>
                </a:lnTo>
                <a:lnTo>
                  <a:pt x="708731" y="78371"/>
                </a:lnTo>
                <a:lnTo>
                  <a:pt x="723194" y="74784"/>
                </a:lnTo>
                <a:lnTo>
                  <a:pt x="737658" y="69298"/>
                </a:lnTo>
                <a:lnTo>
                  <a:pt x="752122" y="63198"/>
                </a:lnTo>
                <a:lnTo>
                  <a:pt x="766586" y="57912"/>
                </a:lnTo>
                <a:lnTo>
                  <a:pt x="781050" y="546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5E00"/>
            </a:solidFill>
            <a:prstDash val="solid"/>
          </a:ln>
        </p:spPr>
      </p:sp>
      <p:sp>
        <p:nvSpPr>
          <p:cNvPr id="97" name="classifier-residual-label">
            <a:extLst xmlns:a="http://schemas.openxmlformats.org/drawingml/2006/main">
              <a:ext uri="{FF2B5EF4-FFF2-40B4-BE49-F238E27FC236}">
                <a16:creationId xmlns:a16="http://schemas.microsoft.com/office/drawing/2014/main" id="{E813F6C9-F9FA-4D34-9B22-EF895C5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classifier-xhat-symbol">
            <a:extLst xmlns:a="http://schemas.openxmlformats.org/drawingml/2006/main">
              <a:ext uri="{FF2B5EF4-FFF2-40B4-BE49-F238E27FC236}">
                <a16:creationId xmlns:a16="http://schemas.microsoft.com/office/drawing/2014/main" id="{8EFD9CDE-B01C-473B-908A-ED48E6D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95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E73"/>
                </a:solidFill>
              </a:defRPr>
            </a:pPr>
            <a:r>
              <a:rPr sz="1200" b="1">
                <a:solidFill>
                  <a:srgbClr val="009E73"/>
                </a:solidFill>
              </a:rPr>
              <a:t>x̂</a:t>
            </a:r>
          </a:p>
        </p:txBody>
      </p:sp>
      <p:sp>
        <p:nvSpPr>
          <p:cNvPr id="99" name="classifier-hhat-symbol">
            <a:extLst xmlns:a="http://schemas.openxmlformats.org/drawingml/2006/main">
              <a:ext uri="{FF2B5EF4-FFF2-40B4-BE49-F238E27FC236}">
                <a16:creationId xmlns:a16="http://schemas.microsoft.com/office/drawing/2014/main" id="{85FEFE46-12BA-41DE-A95A-E04954DC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933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9F00"/>
                </a:solidFill>
              </a:defRPr>
            </a:pPr>
            <a:r>
              <a:rPr sz="1200" b="1">
                <a:solidFill>
                  <a:srgbClr val="E69F00"/>
                </a:solidFill>
              </a:rPr>
              <a:t>ĥ</a:t>
            </a:r>
          </a:p>
        </p:txBody>
      </p:sp>
      <p:sp>
        <p:nvSpPr>
          <p:cNvPr id="100" name="classifier-residual-symbol">
            <a:extLst xmlns:a="http://schemas.openxmlformats.org/drawingml/2006/main">
              <a:ext uri="{FF2B5EF4-FFF2-40B4-BE49-F238E27FC236}">
                <a16:creationId xmlns:a16="http://schemas.microsoft.com/office/drawing/2014/main" id="{74AEC983-DC58-47CA-8957-86E3509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3530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5E00"/>
                </a:solidFill>
              </a:defRPr>
            </a:pPr>
            <a:r>
              <a:rPr sz="1200" b="1">
                <a:solidFill>
                  <a:srgbClr val="D55E00"/>
                </a:solidFill>
              </a:rPr>
              <a:t>r</a:t>
            </a:r>
          </a:p>
        </p:txBody>
      </p:sp>
      <p:sp>
        <p:nvSpPr>
          <p:cNvPr id="101" name="source-feature">
            <a:extLst xmlns:a="http://schemas.openxmlformats.org/drawingml/2006/main">
              <a:ext uri="{FF2B5EF4-FFF2-40B4-BE49-F238E27FC236}">
                <a16:creationId xmlns:a16="http://schemas.microsoft.com/office/drawing/2014/main" id="{83D8A507-AAFE-469A-85EE-6AF729C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57700"/>
            <a:ext cx="16764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14288">
            <a:solidFill>
              <a:srgbClr val="009E73"/>
            </a:solidFill>
            <a:prstDash val="solid"/>
          </a:ln>
        </p:spPr>
      </p:sp>
      <p:sp>
        <p:nvSpPr>
          <p:cNvPr id="102" name="source-feature-label">
            <a:extLst xmlns:a="http://schemas.openxmlformats.org/drawingml/2006/main">
              <a:ext uri="{FF2B5EF4-FFF2-40B4-BE49-F238E27FC236}">
                <a16:creationId xmlns:a16="http://schemas.microsoft.com/office/drawing/2014/main" id="{D288C113-74AA-4218-880B-5EEBDCDB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160020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85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Source feature encoder</a:t>
            </a:r>
          </a:p>
        </p:txBody>
      </p:sp>
      <p:sp>
        <p:nvSpPr>
          <p:cNvPr id="103" name="source-feature-sub">
            <a:extLst xmlns:a="http://schemas.openxmlformats.org/drawingml/2006/main">
              <a:ext uri="{FF2B5EF4-FFF2-40B4-BE49-F238E27FC236}">
                <a16:creationId xmlns:a16="http://schemas.microsoft.com/office/drawing/2014/main" id="{06C9FD86-0B9B-4367-B5A2-5BC788E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53153"/>
            <a:ext cx="1600200" cy="13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102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32-D</a:t>
            </a:r>
          </a:p>
        </p:txBody>
      </p:sp>
      <p:sp>
        <p:nvSpPr>
          <p:cNvPr id="104" name="response-feature">
            <a:extLst xmlns:a="http://schemas.openxmlformats.org/drawingml/2006/main">
              <a:ext uri="{FF2B5EF4-FFF2-40B4-BE49-F238E27FC236}">
                <a16:creationId xmlns:a16="http://schemas.microsoft.com/office/drawing/2014/main" id="{55673938-AE2D-4578-A479-CB62A64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16764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05" name="response-feature-label">
            <a:extLst xmlns:a="http://schemas.openxmlformats.org/drawingml/2006/main">
              <a:ext uri="{FF2B5EF4-FFF2-40B4-BE49-F238E27FC236}">
                <a16:creationId xmlns:a16="http://schemas.microsoft.com/office/drawing/2014/main" id="{B57E9775-A1C3-4568-B8E4-46B2D2B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160020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85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Response feature encoder</a:t>
            </a:r>
          </a:p>
        </p:txBody>
      </p:sp>
      <p:sp>
        <p:nvSpPr>
          <p:cNvPr id="106" name="response-feature-sub">
            <a:extLst xmlns:a="http://schemas.openxmlformats.org/drawingml/2006/main">
              <a:ext uri="{FF2B5EF4-FFF2-40B4-BE49-F238E27FC236}">
                <a16:creationId xmlns:a16="http://schemas.microsoft.com/office/drawing/2014/main" id="{5848DC09-C2AD-485A-A968-E699960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91303"/>
            <a:ext cx="1600200" cy="13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102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32-D</a:t>
            </a:r>
          </a:p>
        </p:txBody>
      </p:sp>
      <p:sp>
        <p:nvSpPr>
          <p:cNvPr id="107" name="residual-feature">
            <a:extLst xmlns:a="http://schemas.openxmlformats.org/drawingml/2006/main">
              <a:ext uri="{FF2B5EF4-FFF2-40B4-BE49-F238E27FC236}">
                <a16:creationId xmlns:a16="http://schemas.microsoft.com/office/drawing/2014/main" id="{0456C634-0275-4040-BE1A-BB305CB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16764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E4D8"/>
          </a:solidFill>
          <a:ln xmlns:a="http://schemas.openxmlformats.org/drawingml/2006/main" w="14288">
            <a:solidFill>
              <a:srgbClr val="D55E00"/>
            </a:solidFill>
            <a:prstDash val="solid"/>
          </a:ln>
        </p:spPr>
      </p:sp>
      <p:sp>
        <p:nvSpPr>
          <p:cNvPr id="108" name="residual-feature-label">
            <a:extLst xmlns:a="http://schemas.openxmlformats.org/drawingml/2006/main">
              <a:ext uri="{FF2B5EF4-FFF2-40B4-BE49-F238E27FC236}">
                <a16:creationId xmlns:a16="http://schemas.microsoft.com/office/drawing/2014/main" id="{B90E14B7-B619-4674-B2B1-E2F4C16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72100"/>
            <a:ext cx="160020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85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Residual feature encoder</a:t>
            </a:r>
          </a:p>
        </p:txBody>
      </p:sp>
      <p:sp>
        <p:nvSpPr>
          <p:cNvPr id="109" name="residual-feature-sub">
            <a:extLst xmlns:a="http://schemas.openxmlformats.org/drawingml/2006/main">
              <a:ext uri="{FF2B5EF4-FFF2-40B4-BE49-F238E27FC236}">
                <a16:creationId xmlns:a16="http://schemas.microsoft.com/office/drawing/2014/main" id="{0F49CA63-14B9-4FB4-8812-B0415D53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9453"/>
            <a:ext cx="1600200" cy="13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102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32-D</a:t>
            </a:r>
          </a:p>
        </p:txBody>
      </p:sp>
      <p:sp>
        <p:nvSpPr>
          <p:cNvPr id="110" name="concat">
            <a:extLst xmlns:a="http://schemas.openxmlformats.org/drawingml/2006/main">
              <a:ext uri="{FF2B5EF4-FFF2-40B4-BE49-F238E27FC236}">
                <a16:creationId xmlns:a16="http://schemas.microsoft.com/office/drawing/2014/main" id="{47D08AF1-BF66-4681-9BD2-7F6AD09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12192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EF9"/>
          </a:solidFill>
          <a:ln xmlns:a="http://schemas.openxmlformats.org/drawingml/2006/main" w="14288">
            <a:solidFill>
              <a:srgbClr val="0072B2"/>
            </a:solidFill>
            <a:prstDash val="solid"/>
          </a:ln>
        </p:spPr>
      </p:sp>
      <p:sp>
        <p:nvSpPr>
          <p:cNvPr id="111" name="concat-label">
            <a:extLst xmlns:a="http://schemas.openxmlformats.org/drawingml/2006/main">
              <a:ext uri="{FF2B5EF4-FFF2-40B4-BE49-F238E27FC236}">
                <a16:creationId xmlns:a16="http://schemas.microsoft.com/office/drawing/2014/main" id="{9585754F-959E-41D8-AD58-056F588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33925"/>
            <a:ext cx="11430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Concatenate</a:t>
            </a:r>
          </a:p>
        </p:txBody>
      </p:sp>
      <p:sp>
        <p:nvSpPr>
          <p:cNvPr id="112" name="concat-sub">
            <a:extLst xmlns:a="http://schemas.openxmlformats.org/drawingml/2006/main">
              <a:ext uri="{FF2B5EF4-FFF2-40B4-BE49-F238E27FC236}">
                <a16:creationId xmlns:a16="http://schemas.microsoft.com/office/drawing/2014/main" id="{3404B6E6-3106-4E84-A89D-394D5EA2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66157"/>
            <a:ext cx="114300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96-D</a:t>
            </a:r>
          </a:p>
        </p:txBody>
      </p:sp>
      <p:sp>
        <p:nvSpPr>
          <p:cNvPr id="113" name="mlp">
            <a:extLst xmlns:a="http://schemas.openxmlformats.org/drawingml/2006/main">
              <a:ext uri="{FF2B5EF4-FFF2-40B4-BE49-F238E27FC236}">
                <a16:creationId xmlns:a16="http://schemas.microsoft.com/office/drawing/2014/main" id="{B29FECFE-8507-4BDE-9EF8-5356EC38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95825"/>
            <a:ext cx="12001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6E6F0"/>
          </a:solidFill>
          <a:ln xmlns:a="http://schemas.openxmlformats.org/drawingml/2006/main" w="14288">
            <a:solidFill>
              <a:srgbClr val="CC79A7"/>
            </a:solidFill>
            <a:prstDash val="solid"/>
          </a:ln>
        </p:spPr>
      </p:sp>
      <p:sp>
        <p:nvSpPr>
          <p:cNvPr id="114" name="mlp-label">
            <a:extLst xmlns:a="http://schemas.openxmlformats.org/drawingml/2006/main">
              <a:ext uri="{FF2B5EF4-FFF2-40B4-BE49-F238E27FC236}">
                <a16:creationId xmlns:a16="http://schemas.microsoft.com/office/drawing/2014/main" id="{214BB834-7BA5-45F6-BC33-F6147837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33925"/>
            <a:ext cx="11239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MLP</a:t>
            </a:r>
          </a:p>
        </p:txBody>
      </p:sp>
      <p:sp>
        <p:nvSpPr>
          <p:cNvPr id="115" name="mlp-sub">
            <a:extLst xmlns:a="http://schemas.openxmlformats.org/drawingml/2006/main">
              <a:ext uri="{FF2B5EF4-FFF2-40B4-BE49-F238E27FC236}">
                <a16:creationId xmlns:a16="http://schemas.microsoft.com/office/drawing/2014/main" id="{2C36083D-F092-442C-958D-DE52B24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66157"/>
            <a:ext cx="112395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96 → 64 → 1</a:t>
            </a:r>
          </a:p>
        </p:txBody>
      </p:sp>
      <p:sp>
        <p:nvSpPr>
          <p:cNvPr id="116" name="logit">
            <a:extLst xmlns:a="http://schemas.openxmlformats.org/drawingml/2006/main">
              <a:ext uri="{FF2B5EF4-FFF2-40B4-BE49-F238E27FC236}">
                <a16:creationId xmlns:a16="http://schemas.microsoft.com/office/drawing/2014/main" id="{2D37AE8C-66AD-46B7-8CF5-60E2FE8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12001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79A7"/>
            </a:solidFill>
            <a:prstDash val="solid"/>
          </a:ln>
        </p:spPr>
      </p:sp>
      <p:sp>
        <p:nvSpPr>
          <p:cNvPr id="117" name="logit-label">
            <a:extLst xmlns:a="http://schemas.openxmlformats.org/drawingml/2006/main">
              <a:ext uri="{FF2B5EF4-FFF2-40B4-BE49-F238E27FC236}">
                <a16:creationId xmlns:a16="http://schemas.microsoft.com/office/drawing/2014/main" id="{FB362E1B-B32D-48F2-A5D6-5B85121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838700"/>
            <a:ext cx="11239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22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Logit s</a:t>
            </a:r>
          </a:p>
        </p:txBody>
      </p:sp>
      <p:sp>
        <p:nvSpPr>
          <p:cNvPr id="118" name="logit-sub">
            <a:extLst xmlns:a="http://schemas.openxmlformats.org/drawingml/2006/main">
              <a:ext uri="{FF2B5EF4-FFF2-40B4-BE49-F238E27FC236}">
                <a16:creationId xmlns:a16="http://schemas.microsoft.com/office/drawing/2014/main" id="{F69858AA-4801-4378-8ADE-25F85AD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25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no sigmoid</a:t>
            </a:r>
          </a:p>
        </p:txBody>
      </p:sp>
      <p:cxnSp>
        <p:nvCxnSpPr>
          <p:cNvPr id="267" name=""/>
          <p:cNvCxnSpPr>
            <a:stCxn xmlns:a="http://schemas.openxmlformats.org/drawingml/2006/main" id="8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524000" y="4619625"/>
            <a:ext cx="4572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E73"/>
            </a:solidFill>
            <a:prstDash val="solid"/>
            <a:tailEnd type="arrow" w="med" len="med"/>
          </a:ln>
        </p:spPr>
      </p:cxnSp>
      <p:cxnSp>
        <p:nvCxnSpPr>
          <p:cNvPr id="268" name=""/>
          <p:cNvCxnSpPr>
            <a:stCxn xmlns:a="http://schemas.openxmlformats.org/drawingml/2006/main" id="84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1524000" y="5057775"/>
            <a:ext cx="4572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9F00"/>
            </a:solidFill>
            <a:prstDash val="solid"/>
            <a:tailEnd type="arrow" w="med" len="med"/>
          </a:ln>
        </p:spPr>
      </p:cxnSp>
      <p:cxnSp>
        <p:nvCxnSpPr>
          <p:cNvPr id="269" name=""/>
          <p:cNvCxnSpPr>
            <a:stCxn xmlns:a="http://schemas.openxmlformats.org/drawingml/2006/main" id="94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1524000" y="5476875"/>
            <a:ext cx="4572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5E00"/>
            </a:solidFill>
            <a:prstDash val="solid"/>
            <a:tailEnd type="arrow" w="med" len="med"/>
          </a:ln>
        </p:spPr>
      </p:cxnSp>
      <p:cxnSp>
        <p:nvCxnSpPr>
          <p:cNvPr id="270" name=""/>
          <p:cNvCxnSpPr>
            <a:stCxn xmlns:a="http://schemas.openxmlformats.org/drawingml/2006/main" id="101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3657600" y="4638675"/>
            <a:ext cx="771525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9E73"/>
            </a:solidFill>
            <a:prstDash val="solid"/>
            <a:tailEnd type="arrow" w="med" len="med"/>
          </a:ln>
        </p:spPr>
      </p:cxnSp>
      <p:cxnSp>
        <p:nvCxnSpPr>
          <p:cNvPr id="271" name=""/>
          <p:cNvCxnSpPr>
            <a:stCxn xmlns:a="http://schemas.openxmlformats.org/drawingml/2006/main" id="104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 flipV="1">
            <a:off x="3657600" y="5038725"/>
            <a:ext cx="7715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9F00"/>
            </a:solidFill>
            <a:prstDash val="solid"/>
            <a:tailEnd type="arrow" w="med" len="med"/>
          </a:ln>
        </p:spPr>
      </p:cxnSp>
      <p:cxnSp>
        <p:nvCxnSpPr>
          <p:cNvPr id="272" name=""/>
          <p:cNvCxnSpPr>
            <a:stCxn xmlns:a="http://schemas.openxmlformats.org/drawingml/2006/main" id="107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 flipV="1">
            <a:off x="3657600" y="5038725"/>
            <a:ext cx="77152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55E00"/>
            </a:solidFill>
            <a:prstDash val="solid"/>
            <a:tailEnd type="arrow" w="med" len="med"/>
          </a:ln>
        </p:spPr>
      </p:cxnSp>
      <p:cxnSp>
        <p:nvCxnSpPr>
          <p:cNvPr id="273" name=""/>
          <p:cNvCxnSpPr>
            <a:stCxn xmlns:a="http://schemas.openxmlformats.org/drawingml/2006/main" id="110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5648325" y="50387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2B2"/>
            </a:solidFill>
            <a:prstDash val="solid"/>
            <a:tailEnd type="arrow" w="med" len="med"/>
          </a:ln>
        </p:spPr>
      </p:cxnSp>
      <p:cxnSp>
        <p:nvCxnSpPr>
          <p:cNvPr id="274" name=""/>
          <p:cNvCxnSpPr>
            <a:stCxn xmlns:a="http://schemas.openxmlformats.org/drawingml/2006/main" id="113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7543800" y="503872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C79A7"/>
            </a:solidFill>
            <a:prstDash val="solid"/>
            <a:tailEnd type="arrow" w="med" len="med"/>
          </a:ln>
        </p:spPr>
      </p:cxnSp>
      <p:sp>
        <p:nvSpPr>
          <p:cNvPr id="127" name="gradient-note">
            <a:extLst xmlns:a="http://schemas.openxmlformats.org/drawingml/2006/main">
              <a:ext uri="{FF2B5EF4-FFF2-40B4-BE49-F238E27FC236}">
                <a16:creationId xmlns:a16="http://schemas.microsoft.com/office/drawing/2014/main" id="{D4DC6118-EA3C-401A-8F3A-B3158DF1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010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BCE gradients must pass</a:t>
            </a:r>
          </a:p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through both decoders</a:t>
            </a:r>
          </a:p>
          <a:p xmlns:a="http://schemas.openxmlformats.org/drawingml/2006/main">
            <a:pPr algn="l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(no encoder shortcut)</a:t>
            </a:r>
          </a:p>
        </p:txBody>
      </p:sp>
      <p:sp>
        <p:nvSpPr>
          <p:cNvPr id="128" name="panel-c">
            <a:extLst xmlns:a="http://schemas.openxmlformats.org/drawingml/2006/main">
              <a:ext uri="{FF2B5EF4-FFF2-40B4-BE49-F238E27FC236}">
                <a16:creationId xmlns:a16="http://schemas.microsoft.com/office/drawing/2014/main" id="{1126B2A6-6D4D-431B-BE6B-F69FEDC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810250"/>
            <a:ext cx="118872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29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A2C7BDD8-0B9C-4A0F-BD8A-6FBFEBF2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674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(c) Joint training objective</a:t>
            </a:r>
          </a:p>
        </p:txBody>
      </p:sp>
      <p:sp>
        <p:nvSpPr>
          <p:cNvPr id="130" name="recon-loss">
            <a:extLst xmlns:a="http://schemas.openxmlformats.org/drawingml/2006/main">
              <a:ext uri="{FF2B5EF4-FFF2-40B4-BE49-F238E27FC236}">
                <a16:creationId xmlns:a16="http://schemas.microsoft.com/office/drawing/2014/main" id="{33284758-02D0-4CA5-9B87-FB350C3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01980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6E6F0"/>
          </a:solidFill>
          <a:ln xmlns:a="http://schemas.openxmlformats.org/drawingml/2006/main" w="14288">
            <a:solidFill>
              <a:srgbClr val="CC79A7"/>
            </a:solidFill>
            <a:prstDash val="solid"/>
          </a:ln>
        </p:spPr>
      </p:sp>
      <p:sp>
        <p:nvSpPr>
          <p:cNvPr id="131" name="recon-loss-label">
            <a:extLst xmlns:a="http://schemas.openxmlformats.org/drawingml/2006/main">
              <a:ext uri="{FF2B5EF4-FFF2-40B4-BE49-F238E27FC236}">
                <a16:creationId xmlns:a16="http://schemas.microsoft.com/office/drawing/2014/main" id="{3CC162A7-EC3E-4DD1-B77A-C3E89798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57900"/>
            <a:ext cx="14859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Reconstruction loss</a:t>
            </a:r>
          </a:p>
        </p:txBody>
      </p:sp>
      <p:sp>
        <p:nvSpPr>
          <p:cNvPr id="132" name="recon-loss-sub">
            <a:extLst xmlns:a="http://schemas.openxmlformats.org/drawingml/2006/main">
              <a:ext uri="{FF2B5EF4-FFF2-40B4-BE49-F238E27FC236}">
                <a16:creationId xmlns:a16="http://schemas.microsoft.com/office/drawing/2014/main" id="{B789218F-F660-4913-A91E-9E853B61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266688"/>
            <a:ext cx="1485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538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y, ŷ</a:t>
            </a:r>
          </a:p>
        </p:txBody>
      </p:sp>
      <p:sp>
        <p:nvSpPr>
          <p:cNvPr id="133" name="physics-loss">
            <a:extLst xmlns:a="http://schemas.openxmlformats.org/drawingml/2006/main">
              <a:ext uri="{FF2B5EF4-FFF2-40B4-BE49-F238E27FC236}">
                <a16:creationId xmlns:a16="http://schemas.microsoft.com/office/drawing/2014/main" id="{7B1ECE08-D03A-47CB-A101-9B6F5D12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1980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4" name="physics-loss-label">
            <a:extLst xmlns:a="http://schemas.openxmlformats.org/drawingml/2006/main">
              <a:ext uri="{FF2B5EF4-FFF2-40B4-BE49-F238E27FC236}">
                <a16:creationId xmlns:a16="http://schemas.microsoft.com/office/drawing/2014/main" id="{3C9D0290-7F39-40E6-9C35-344947C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57900"/>
            <a:ext cx="13525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Physics loss</a:t>
            </a:r>
          </a:p>
        </p:txBody>
      </p:sp>
      <p:sp>
        <p:nvSpPr>
          <p:cNvPr id="135" name="physics-loss-sub">
            <a:extLst xmlns:a="http://schemas.openxmlformats.org/drawingml/2006/main">
              <a:ext uri="{FF2B5EF4-FFF2-40B4-BE49-F238E27FC236}">
                <a16:creationId xmlns:a16="http://schemas.microsoft.com/office/drawing/2014/main" id="{3BD2F5CB-F604-4D90-9BEB-45C6BD62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66688"/>
            <a:ext cx="135255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538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ĥ tail prior</a:t>
            </a:r>
          </a:p>
        </p:txBody>
      </p:sp>
      <p:sp>
        <p:nvSpPr>
          <p:cNvPr id="136" name="bce-loss">
            <a:extLst xmlns:a="http://schemas.openxmlformats.org/drawingml/2006/main">
              <a:ext uri="{FF2B5EF4-FFF2-40B4-BE49-F238E27FC236}">
                <a16:creationId xmlns:a16="http://schemas.microsoft.com/office/drawing/2014/main" id="{B3DDB6AF-8EC9-45AD-AFD6-D2325BF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19800"/>
            <a:ext cx="12763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9E4D8"/>
          </a:solidFill>
          <a:ln xmlns:a="http://schemas.openxmlformats.org/drawingml/2006/main" w="14288">
            <a:solidFill>
              <a:srgbClr val="D55E00"/>
            </a:solidFill>
            <a:prstDash val="solid"/>
          </a:ln>
        </p:spPr>
      </p:sp>
      <p:sp>
        <p:nvSpPr>
          <p:cNvPr id="137" name="bce-loss-label">
            <a:extLst xmlns:a="http://schemas.openxmlformats.org/drawingml/2006/main">
              <a:ext uri="{FF2B5EF4-FFF2-40B4-BE49-F238E27FC236}">
                <a16:creationId xmlns:a16="http://schemas.microsoft.com/office/drawing/2014/main" id="{AC2312EC-B636-4A15-B620-66BF16A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057900"/>
            <a:ext cx="12001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BCE loss</a:t>
            </a:r>
          </a:p>
        </p:txBody>
      </p:sp>
      <p:sp>
        <p:nvSpPr>
          <p:cNvPr id="138" name="bce-loss-sub">
            <a:extLst xmlns:a="http://schemas.openxmlformats.org/drawingml/2006/main">
              <a:ext uri="{FF2B5EF4-FFF2-40B4-BE49-F238E27FC236}">
                <a16:creationId xmlns:a16="http://schemas.microsoft.com/office/drawing/2014/main" id="{FAAC2EE4-E0A5-4485-9A79-1773137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266688"/>
            <a:ext cx="120015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538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s, c</a:t>
            </a:r>
          </a:p>
        </p:txBody>
      </p:sp>
      <p:sp>
        <p:nvSpPr>
          <p:cNvPr id="139" name="total-loss">
            <a:extLst xmlns:a="http://schemas.openxmlformats.org/drawingml/2006/main">
              <a:ext uri="{FF2B5EF4-FFF2-40B4-BE49-F238E27FC236}">
                <a16:creationId xmlns:a16="http://schemas.microsoft.com/office/drawing/2014/main" id="{8C47C424-3BEF-475E-B25D-C83CED35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62650"/>
            <a:ext cx="352425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9EEF9"/>
          </a:solidFill>
          <a:ln xmlns:a="http://schemas.openxmlformats.org/drawingml/2006/main" w="14288">
            <a:solidFill>
              <a:srgbClr val="0072B2"/>
            </a:solidFill>
            <a:prstDash val="solid"/>
          </a:ln>
        </p:spPr>
      </p:sp>
      <p:sp>
        <p:nvSpPr>
          <p:cNvPr id="140" name="total-loss-label">
            <a:extLst xmlns:a="http://schemas.openxmlformats.org/drawingml/2006/main">
              <a:ext uri="{FF2B5EF4-FFF2-40B4-BE49-F238E27FC236}">
                <a16:creationId xmlns:a16="http://schemas.microsoft.com/office/drawing/2014/main" id="{E8A3EEFA-E8BA-4DCA-91C3-D67232A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000750"/>
            <a:ext cx="3448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Total loss</a:t>
            </a:r>
          </a:p>
        </p:txBody>
      </p:sp>
      <p:sp>
        <p:nvSpPr>
          <p:cNvPr id="141" name="total-loss-sub">
            <a:extLst xmlns:a="http://schemas.openxmlformats.org/drawingml/2006/main">
              <a:ext uri="{FF2B5EF4-FFF2-40B4-BE49-F238E27FC236}">
                <a16:creationId xmlns:a16="http://schemas.microsoft.com/office/drawing/2014/main" id="{DF73C9EA-EE3F-4142-84A0-AEC04A79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271260"/>
            <a:ext cx="34480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L = L_Recon + βL_Physics + λL_BCE</a:t>
            </a:r>
          </a:p>
        </p:txBody>
      </p:sp>
      <p:sp>
        <p:nvSpPr>
          <p:cNvPr id="142" name="loss-plus-1">
            <a:extLst xmlns:a="http://schemas.openxmlformats.org/drawingml/2006/main">
              <a:ext uri="{FF2B5EF4-FFF2-40B4-BE49-F238E27FC236}">
                <a16:creationId xmlns:a16="http://schemas.microsoft.com/office/drawing/2014/main" id="{06E41456-5E22-4A9D-807B-CDE288D3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09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143" name="loss-plus-2">
            <a:extLst xmlns:a="http://schemas.openxmlformats.org/drawingml/2006/main">
              <a:ext uri="{FF2B5EF4-FFF2-40B4-BE49-F238E27FC236}">
                <a16:creationId xmlns:a16="http://schemas.microsoft.com/office/drawing/2014/main" id="{2976F355-6D6F-4409-92B9-76F8BABF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960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144" name="loss-arrow">
            <a:extLst xmlns:a="http://schemas.openxmlformats.org/drawingml/2006/main">
              <a:ext uri="{FF2B5EF4-FFF2-40B4-BE49-F238E27FC236}">
                <a16:creationId xmlns:a16="http://schemas.microsoft.com/office/drawing/2014/main" id="{257AA39A-7243-4CFE-B0C3-D1975D0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0960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→</a:t>
            </a:r>
          </a:p>
        </p:txBody>
      </p:sp>
      <p:sp>
        <p:nvSpPr>
          <p:cNvPr id="145" name="legend-solid">
            <a:extLst xmlns:a="http://schemas.openxmlformats.org/drawingml/2006/main">
              <a:ext uri="{FF2B5EF4-FFF2-40B4-BE49-F238E27FC236}">
                <a16:creationId xmlns:a16="http://schemas.microsoft.com/office/drawing/2014/main" id="{EF722788-9561-495E-9617-A1CCDDE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tensor/data flow</a:t>
            </a:r>
          </a:p>
        </p:txBody>
      </p:sp>
      <p:sp>
        <p:nvSpPr>
          <p:cNvPr id="146" name="legend-dashed">
            <a:extLst xmlns:a="http://schemas.openxmlformats.org/drawingml/2006/main">
              <a:ext uri="{FF2B5EF4-FFF2-40B4-BE49-F238E27FC236}">
                <a16:creationId xmlns:a16="http://schemas.microsoft.com/office/drawing/2014/main" id="{BF976517-9948-4A51-88D2-EC94EF23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training-only supervision</a:t>
            </a:r>
          </a:p>
        </p:txBody>
      </p:sp>
      <p:sp>
        <p:nvSpPr>
          <p:cNvPr id="147" name="legend-solid-line">
            <a:extLst xmlns:a="http://schemas.openxmlformats.org/drawingml/2006/main">
              <a:ext uri="{FF2B5EF4-FFF2-40B4-BE49-F238E27FC236}">
                <a16:creationId xmlns:a16="http://schemas.microsoft.com/office/drawing/2014/main" id="{47BD4480-C16D-4A37-AB7D-08409ADF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484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148" name="legend-dashed-line">
            <a:extLst xmlns:a="http://schemas.openxmlformats.org/drawingml/2006/main">
              <a:ext uri="{FF2B5EF4-FFF2-40B4-BE49-F238E27FC236}">
                <a16:creationId xmlns:a16="http://schemas.microsoft.com/office/drawing/2014/main" id="{D44DDA63-D9CE-4DF0-A373-D68E6B4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674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46560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2026-08-29T06:36:23.7880000Z</dcterms:created>
  <dcterms:modified xsi:type="dcterms:W3CDTF">2026-08-29T06:36:23.7880000Z</dcterms:modified>
</coreProperties>
</file>