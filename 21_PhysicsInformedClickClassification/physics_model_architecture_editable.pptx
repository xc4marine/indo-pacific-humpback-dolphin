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f631bfc1574311" /><Relationship Type="http://schemas.openxmlformats.org/officeDocument/2006/relationships/extended-properties" Target="/docProps/app.xml" Id="R7d4c1717988e454d" /><Relationship Type="http://schemas.openxmlformats.org/officeDocument/2006/relationships/officeDocument" Target="/ppt/presentation.xml" Id="R84a38179d61a44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0215b0f17a4b3f"/>
  </p:sldMasterIdLst>
  <p:notesMasterIdLst>
    <p:notesMasterId xmlns:r="http://schemas.openxmlformats.org/officeDocument/2006/relationships" r:id="Rf080ae45c48b4b2a"/>
  </p:notesMasterIdLst>
  <p:sldIdLst>
    <p:sldId xmlns:r="http://schemas.openxmlformats.org/officeDocument/2006/relationships" id="256" r:id="Rd3c2f62df9534feb"/>
  </p:sldIdLst>
  <p:sldSz cx="14544675" cy="77533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6d39a93984a85" /><Relationship Type="http://schemas.openxmlformats.org/officeDocument/2006/relationships/slideMaster" Target="/ppt/slideMasters/slideMaster1.xml" Id="R220215b0f17a4b3f" /><Relationship Type="http://schemas.openxmlformats.org/officeDocument/2006/relationships/notesMaster" Target="/ppt/notesMasters/notesMaster1.xml" Id="Rf080ae45c48b4b2a" /><Relationship Type="http://schemas.openxmlformats.org/officeDocument/2006/relationships/presProps" Target="/ppt/presProps.xml" Id="R25efd4bea1bf4936" /><Relationship Type="http://schemas.openxmlformats.org/officeDocument/2006/relationships/tableStyles" Target="/ppt/tableStyles.xml" Id="R7025246e8e4341b8" /><Relationship Type="http://schemas.openxmlformats.org/officeDocument/2006/relationships/slide" Target="/ppt/slides/slide1.xml" Id="Rd3c2f62df9534f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465a2e458947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95c00bd45c4c5b" /><Relationship Type="http://schemas.openxmlformats.org/officeDocument/2006/relationships/notesMaster" Target="/ppt/notesMasters/notesMaster1.xml" Id="R94f0bf8cc39d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reference image supplied in the task; used only as a visual reconstruction reference and not embedded in the slide.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Editability: all visible content is native PowerPoint text, shapes, lines, or custom vector paths. The duplicated Concatenate 96-D modules and all training-only dashed links are preserved from the supplied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9256ea9e0d4e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a76603a79848d2" /><Relationship Type="http://schemas.openxmlformats.org/officeDocument/2006/relationships/slideLayout" Target="/ppt/slideLayouts/slideLayout1.xml" Id="R550f10e98f924b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0f10e98f924b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41eafeeda4d67" /><Relationship Type="http://schemas.openxmlformats.org/officeDocument/2006/relationships/notesSlide" Target="/ppt/notesSlides/notesSlide1.xml" Id="R3fe0b69887d24b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3" name="input-to-encoder-segment-1">
            <a:extLst xmlns:a="http://schemas.openxmlformats.org/drawingml/2006/main">
              <a:ext uri="{FF2B5EF4-FFF2-40B4-BE49-F238E27FC236}">
                <a16:creationId xmlns:a16="http://schemas.microsoft.com/office/drawing/2014/main" id="{5F8C0973-72C1-4D7B-B6E4-5F3C949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95550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2" name="input-to-encoder-head">
            <a:extLst xmlns:a="http://schemas.openxmlformats.org/drawingml/2006/main">
              <a:ext uri="{FF2B5EF4-FFF2-40B4-BE49-F238E27FC236}">
                <a16:creationId xmlns:a16="http://schemas.microsoft.com/office/drawing/2014/main" id="{366B231F-3DB1-426F-80CA-8636D3A6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3" name="input-bypass-to-subtract-segment-1">
            <a:extLst xmlns:a="http://schemas.openxmlformats.org/drawingml/2006/main">
              <a:ext uri="{FF2B5EF4-FFF2-40B4-BE49-F238E27FC236}">
                <a16:creationId xmlns:a16="http://schemas.microsoft.com/office/drawing/2014/main" id="{962E70E1-8B7D-492B-8073-A111E3FA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"/>
            <a:ext cx="9525" cy="2181225"/>
          </a:xfrm>
          <a:custGeom xmlns:a="http://schemas.openxmlformats.org/drawingml/2006/main">
            <a:pathLst>
              <a:path w="9525" h="2181225">
                <a:moveTo>
                  <a:pt x="0" y="21812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4" name="input-bypass-to-subtract-segment-2">
            <a:extLst xmlns:a="http://schemas.openxmlformats.org/drawingml/2006/main">
              <a:ext uri="{FF2B5EF4-FFF2-40B4-BE49-F238E27FC236}">
                <a16:creationId xmlns:a16="http://schemas.microsoft.com/office/drawing/2014/main" id="{DF889F7E-C7C9-41F4-830C-C7E66978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4325"/>
            <a:ext cx="10610850" cy="9525"/>
          </a:xfrm>
          <a:custGeom xmlns:a="http://schemas.openxmlformats.org/drawingml/2006/main">
            <a:pathLst>
              <a:path w="10610850" h="9525">
                <a:moveTo>
                  <a:pt x="0" y="0"/>
                </a:moveTo>
                <a:lnTo>
                  <a:pt x="10610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5" name="input-bypass-to-subtract-segment-3">
            <a:extLst xmlns:a="http://schemas.openxmlformats.org/drawingml/2006/main">
              <a:ext uri="{FF2B5EF4-FFF2-40B4-BE49-F238E27FC236}">
                <a16:creationId xmlns:a16="http://schemas.microsoft.com/office/drawing/2014/main" id="{A7374EF7-CCD3-4133-9B6D-1EBEBB8C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14325"/>
            <a:ext cx="9525" cy="1952625"/>
          </a:xfrm>
          <a:custGeom xmlns:a="http://schemas.openxmlformats.org/drawingml/2006/main">
            <a:pathLst>
              <a:path w="9525" h="1952625">
                <a:moveTo>
                  <a:pt x="0" y="0"/>
                </a:move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6" name="input-bypass-to-subtract-head">
            <a:extLst xmlns:a="http://schemas.openxmlformats.org/drawingml/2006/main">
              <a:ext uri="{FF2B5EF4-FFF2-40B4-BE49-F238E27FC236}">
                <a16:creationId xmlns:a16="http://schemas.microsoft.com/office/drawing/2014/main" id="{6EBFB35D-9707-459E-80AF-D1432155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9175" y="21717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7" name="encoder-1-2-segment-1">
            <a:extLst xmlns:a="http://schemas.openxmlformats.org/drawingml/2006/main">
              <a:ext uri="{FF2B5EF4-FFF2-40B4-BE49-F238E27FC236}">
                <a16:creationId xmlns:a16="http://schemas.microsoft.com/office/drawing/2014/main" id="{0149B971-8144-4A75-92E9-BDA288BB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495550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8" name="encoder-1-2-head">
            <a:extLst xmlns:a="http://schemas.openxmlformats.org/drawingml/2006/main">
              <a:ext uri="{FF2B5EF4-FFF2-40B4-BE49-F238E27FC236}">
                <a16:creationId xmlns:a16="http://schemas.microsoft.com/office/drawing/2014/main" id="{4568BD90-2BF6-4794-AC87-4AC6A124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479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9" name="encoder-2-3-segment-1">
            <a:extLst xmlns:a="http://schemas.openxmlformats.org/drawingml/2006/main">
              <a:ext uri="{FF2B5EF4-FFF2-40B4-BE49-F238E27FC236}">
                <a16:creationId xmlns:a16="http://schemas.microsoft.com/office/drawing/2014/main" id="{6E714718-EA50-4DE6-94AA-E5C6D74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495550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0" name="encoder-2-3-head">
            <a:extLst xmlns:a="http://schemas.openxmlformats.org/drawingml/2006/main">
              <a:ext uri="{FF2B5EF4-FFF2-40B4-BE49-F238E27FC236}">
                <a16:creationId xmlns:a16="http://schemas.microsoft.com/office/drawing/2014/main" id="{63B5B729-4FA7-42FB-8677-5DAB0A9C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479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1" name="encoder-3-4-segment-1">
            <a:extLst xmlns:a="http://schemas.openxmlformats.org/drawingml/2006/main">
              <a:ext uri="{FF2B5EF4-FFF2-40B4-BE49-F238E27FC236}">
                <a16:creationId xmlns:a16="http://schemas.microsoft.com/office/drawing/2014/main" id="{79A4F69F-8F82-463F-AE19-BE69C20A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00325"/>
            <a:ext cx="200025" cy="9525"/>
          </a:xfrm>
          <a:custGeom xmlns:a="http://schemas.openxmlformats.org/drawingml/2006/main">
            <a:pathLst>
              <a:path w="200025" h="952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2" name="encoder-3-4-head">
            <a:extLst xmlns:a="http://schemas.openxmlformats.org/drawingml/2006/main">
              <a:ext uri="{FF2B5EF4-FFF2-40B4-BE49-F238E27FC236}">
                <a16:creationId xmlns:a16="http://schemas.microsoft.com/office/drawing/2014/main" id="{74CD3C99-F363-48A6-82D6-EB0D543D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527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3" name="encoder-4-5-segment-1">
            <a:extLst xmlns:a="http://schemas.openxmlformats.org/drawingml/2006/main">
              <a:ext uri="{FF2B5EF4-FFF2-40B4-BE49-F238E27FC236}">
                <a16:creationId xmlns:a16="http://schemas.microsoft.com/office/drawing/2014/main" id="{AAD86423-90FB-4325-B5C5-B974005D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00325"/>
            <a:ext cx="200025" cy="9525"/>
          </a:xfrm>
          <a:custGeom xmlns:a="http://schemas.openxmlformats.org/drawingml/2006/main">
            <a:pathLst>
              <a:path w="200025" h="952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4" name="encoder-4-5-head">
            <a:extLst xmlns:a="http://schemas.openxmlformats.org/drawingml/2006/main">
              <a:ext uri="{FF2B5EF4-FFF2-40B4-BE49-F238E27FC236}">
                <a16:creationId xmlns:a16="http://schemas.microsoft.com/office/drawing/2014/main" id="{E18B4324-A5CC-496B-974D-D7219D2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527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5" name="encoder-5-latent-segment-1">
            <a:extLst xmlns:a="http://schemas.openxmlformats.org/drawingml/2006/main">
              <a:ext uri="{FF2B5EF4-FFF2-40B4-BE49-F238E27FC236}">
                <a16:creationId xmlns:a16="http://schemas.microsoft.com/office/drawing/2014/main" id="{99DD9F1A-73E9-4AA5-9B14-C906C871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6003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6" name="encoder-5-latent-head">
            <a:extLst xmlns:a="http://schemas.openxmlformats.org/drawingml/2006/main">
              <a:ext uri="{FF2B5EF4-FFF2-40B4-BE49-F238E27FC236}">
                <a16:creationId xmlns:a16="http://schemas.microsoft.com/office/drawing/2014/main" id="{EBDFD11F-0EC3-4B95-867E-A6A0953E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5527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7" name="latent-to-branch-segment-1">
            <a:extLst xmlns:a="http://schemas.openxmlformats.org/drawingml/2006/main">
              <a:ext uri="{FF2B5EF4-FFF2-40B4-BE49-F238E27FC236}">
                <a16:creationId xmlns:a16="http://schemas.microsoft.com/office/drawing/2014/main" id="{55140F4B-5D59-4DA4-807D-6BFD8E3B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600325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8" name="latent-to-branch-head">
            <a:extLst xmlns:a="http://schemas.openxmlformats.org/drawingml/2006/main">
              <a:ext uri="{FF2B5EF4-FFF2-40B4-BE49-F238E27FC236}">
                <a16:creationId xmlns:a16="http://schemas.microsoft.com/office/drawing/2014/main" id="{6ECE884C-8A50-41B2-BE99-0C6B6399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527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19" name="branch-to-source-segment-1">
            <a:extLst xmlns:a="http://schemas.openxmlformats.org/drawingml/2006/main">
              <a:ext uri="{FF2B5EF4-FFF2-40B4-BE49-F238E27FC236}">
                <a16:creationId xmlns:a16="http://schemas.microsoft.com/office/drawing/2014/main" id="{688DA320-ABCA-4902-8BF5-0BBE921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71725"/>
            <a:ext cx="352425" cy="228600"/>
          </a:xfrm>
          <a:custGeom xmlns:a="http://schemas.openxmlformats.org/drawingml/2006/main">
            <a:pathLst>
              <a:path w="352425" h="228600">
                <a:moveTo>
                  <a:pt x="0" y="22860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0" name="branch-to-source-segment-2">
            <a:extLst xmlns:a="http://schemas.openxmlformats.org/drawingml/2006/main">
              <a:ext uri="{FF2B5EF4-FFF2-40B4-BE49-F238E27FC236}">
                <a16:creationId xmlns:a16="http://schemas.microsoft.com/office/drawing/2014/main" id="{057474D0-E7F2-4AE0-8B07-14CC5FFC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43025"/>
            <a:ext cx="9525" cy="1028700"/>
          </a:xfrm>
          <a:custGeom xmlns:a="http://schemas.openxmlformats.org/drawingml/2006/main">
            <a:pathLst>
              <a:path w="9525" h="1028700">
                <a:moveTo>
                  <a:pt x="0" y="10287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1" name="branch-to-source-segment-3">
            <a:extLst xmlns:a="http://schemas.openxmlformats.org/drawingml/2006/main">
              <a:ext uri="{FF2B5EF4-FFF2-40B4-BE49-F238E27FC236}">
                <a16:creationId xmlns:a16="http://schemas.microsoft.com/office/drawing/2014/main" id="{479DBB08-FC50-44C4-B21F-6C4904B7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43025"/>
            <a:ext cx="238125" cy="9525"/>
          </a:xfrm>
          <a:custGeom xmlns:a="http://schemas.openxmlformats.org/drawingml/2006/main">
            <a:pathLst>
              <a:path w="238125" h="9525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2" name="branch-to-source-head">
            <a:extLst xmlns:a="http://schemas.openxmlformats.org/drawingml/2006/main">
              <a:ext uri="{FF2B5EF4-FFF2-40B4-BE49-F238E27FC236}">
                <a16:creationId xmlns:a16="http://schemas.microsoft.com/office/drawing/2014/main" id="{7C173A39-2F61-451F-84D7-91B3861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2954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3" name="branch-to-response-segment-1">
            <a:extLst xmlns:a="http://schemas.openxmlformats.org/drawingml/2006/main">
              <a:ext uri="{FF2B5EF4-FFF2-40B4-BE49-F238E27FC236}">
                <a16:creationId xmlns:a16="http://schemas.microsoft.com/office/drawing/2014/main" id="{4014D8B6-548A-43A7-8F0A-8C79DA0E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00325"/>
            <a:ext cx="352425" cy="238125"/>
          </a:xfrm>
          <a:custGeom xmlns:a="http://schemas.openxmlformats.org/drawingml/2006/main">
            <a:pathLst>
              <a:path w="352425" h="238125">
                <a:moveTo>
                  <a:pt x="0" y="0"/>
                </a:moveTo>
                <a:lnTo>
                  <a:pt x="352425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4" name="branch-to-response-segment-2">
            <a:extLst xmlns:a="http://schemas.openxmlformats.org/drawingml/2006/main">
              <a:ext uri="{FF2B5EF4-FFF2-40B4-BE49-F238E27FC236}">
                <a16:creationId xmlns:a16="http://schemas.microsoft.com/office/drawing/2014/main" id="{5EB72ADF-FDE3-432E-B628-F1C6064E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38450"/>
            <a:ext cx="9525" cy="1047750"/>
          </a:xfrm>
          <a:custGeom xmlns:a="http://schemas.openxmlformats.org/drawingml/2006/main">
            <a:pathLst>
              <a:path w="9525" h="1047750">
                <a:moveTo>
                  <a:pt x="0" y="0"/>
                </a:moveTo>
                <a:lnTo>
                  <a:pt x="0" y="10477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5" name="branch-to-response-segment-3">
            <a:extLst xmlns:a="http://schemas.openxmlformats.org/drawingml/2006/main">
              <a:ext uri="{FF2B5EF4-FFF2-40B4-BE49-F238E27FC236}">
                <a16:creationId xmlns:a16="http://schemas.microsoft.com/office/drawing/2014/main" id="{E959ABD3-ACF2-4B6D-8ACC-461C953B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86200"/>
            <a:ext cx="219075" cy="9525"/>
          </a:xfrm>
          <a:custGeom xmlns:a="http://schemas.openxmlformats.org/drawingml/2006/main">
            <a:pathLst>
              <a:path w="219075" h="9525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6" name="branch-to-response-head">
            <a:extLst xmlns:a="http://schemas.openxmlformats.org/drawingml/2006/main">
              <a:ext uri="{FF2B5EF4-FFF2-40B4-BE49-F238E27FC236}">
                <a16:creationId xmlns:a16="http://schemas.microsoft.com/office/drawing/2014/main" id="{FC4EC69D-9E6D-4F0C-8B85-2B928A29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385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7" name="source-dec-1-2-segment-1">
            <a:extLst xmlns:a="http://schemas.openxmlformats.org/drawingml/2006/main">
              <a:ext uri="{FF2B5EF4-FFF2-40B4-BE49-F238E27FC236}">
                <a16:creationId xmlns:a16="http://schemas.microsoft.com/office/drawing/2014/main" id="{AC859CD7-FE64-4B68-8DBD-E10F207B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33350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28" name="source-dec-1-2-head">
            <a:extLst xmlns:a="http://schemas.openxmlformats.org/drawingml/2006/main">
              <a:ext uri="{FF2B5EF4-FFF2-40B4-BE49-F238E27FC236}">
                <a16:creationId xmlns:a16="http://schemas.microsoft.com/office/drawing/2014/main" id="{E88BE2A8-B72B-47C8-B361-B1D0BFC3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2858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9" name="source-dec-2-3-segment-1">
            <a:extLst xmlns:a="http://schemas.openxmlformats.org/drawingml/2006/main">
              <a:ext uri="{FF2B5EF4-FFF2-40B4-BE49-F238E27FC236}">
                <a16:creationId xmlns:a16="http://schemas.microsoft.com/office/drawing/2014/main" id="{D215D732-EA41-4013-B1E3-B8E61B9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0" name="source-dec-2-3-head">
            <a:extLst xmlns:a="http://schemas.openxmlformats.org/drawingml/2006/main">
              <a:ext uri="{FF2B5EF4-FFF2-40B4-BE49-F238E27FC236}">
                <a16:creationId xmlns:a16="http://schemas.microsoft.com/office/drawing/2014/main" id="{C491A5BF-E514-4B50-979E-B94441E8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335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31" name="source-dec-3-4-segment-1">
            <a:extLst xmlns:a="http://schemas.openxmlformats.org/drawingml/2006/main">
              <a:ext uri="{FF2B5EF4-FFF2-40B4-BE49-F238E27FC236}">
                <a16:creationId xmlns:a16="http://schemas.microsoft.com/office/drawing/2014/main" id="{28352839-9AF4-4D6A-918A-2185E7D5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381125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2" name="source-dec-3-4-head">
            <a:extLst xmlns:a="http://schemas.openxmlformats.org/drawingml/2006/main">
              <a:ext uri="{FF2B5EF4-FFF2-40B4-BE49-F238E27FC236}">
                <a16:creationId xmlns:a16="http://schemas.microsoft.com/office/drawing/2014/main" id="{BE96AC0D-75D3-4BF4-8EAE-2B04F416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33" name="source-dec-4-5-segment-1">
            <a:extLst xmlns:a="http://schemas.openxmlformats.org/drawingml/2006/main">
              <a:ext uri="{FF2B5EF4-FFF2-40B4-BE49-F238E27FC236}">
                <a16:creationId xmlns:a16="http://schemas.microsoft.com/office/drawing/2014/main" id="{57677B8C-860A-4060-9C5D-F62A9A5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81125"/>
            <a:ext cx="257175" cy="9525"/>
          </a:xfrm>
          <a:custGeom xmlns:a="http://schemas.openxmlformats.org/drawingml/2006/main">
            <a:pathLst>
              <a:path w="257175" h="9525">
                <a:moveTo>
                  <a:pt x="0" y="0"/>
                </a:moveTo>
                <a:lnTo>
                  <a:pt x="257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4" name="source-dec-4-5-head">
            <a:extLst xmlns:a="http://schemas.openxmlformats.org/drawingml/2006/main">
              <a:ext uri="{FF2B5EF4-FFF2-40B4-BE49-F238E27FC236}">
                <a16:creationId xmlns:a16="http://schemas.microsoft.com/office/drawing/2014/main" id="{CBF20EFE-7064-4559-B08C-7448612B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3350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35" name="source-dec-to-waveform-segment-1">
            <a:extLst xmlns:a="http://schemas.openxmlformats.org/drawingml/2006/main">
              <a:ext uri="{FF2B5EF4-FFF2-40B4-BE49-F238E27FC236}">
                <a16:creationId xmlns:a16="http://schemas.microsoft.com/office/drawing/2014/main" id="{5D61A089-E278-4CF7-91ED-A6464641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00150"/>
            <a:ext cx="409575" cy="9525"/>
          </a:xfrm>
          <a:custGeom xmlns:a="http://schemas.openxmlformats.org/drawingml/2006/main"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37A2D"/>
            </a:solidFill>
            <a:prstDash val="solid"/>
          </a:ln>
        </p:spPr>
      </p:sp>
      <p:sp>
        <p:nvSpPr>
          <p:cNvPr id="36" name="source-dec-to-waveform-head">
            <a:extLst xmlns:a="http://schemas.openxmlformats.org/drawingml/2006/main">
              <a:ext uri="{FF2B5EF4-FFF2-40B4-BE49-F238E27FC236}">
                <a16:creationId xmlns:a16="http://schemas.microsoft.com/office/drawing/2014/main" id="{67A4F48F-0B72-46A9-A8F4-0277FF33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525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37A2D"/>
          </a:solidFill>
          <a:ln xmlns:a="http://schemas.openxmlformats.org/drawingml/2006/main" w="4763">
            <a:solidFill>
              <a:srgbClr val="137A2D"/>
            </a:solidFill>
            <a:prstDash val="solid"/>
          </a:ln>
        </p:spPr>
      </p:sp>
      <p:sp>
        <p:nvSpPr>
          <p:cNvPr id="37" name="response-dec-1-2-segment-1">
            <a:extLst xmlns:a="http://schemas.openxmlformats.org/drawingml/2006/main">
              <a:ext uri="{FF2B5EF4-FFF2-40B4-BE49-F238E27FC236}">
                <a16:creationId xmlns:a16="http://schemas.microsoft.com/office/drawing/2014/main" id="{A69A1167-8590-49BF-9C4A-88E367D3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905250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38" name="response-dec-1-2-head">
            <a:extLst xmlns:a="http://schemas.openxmlformats.org/drawingml/2006/main">
              <a:ext uri="{FF2B5EF4-FFF2-40B4-BE49-F238E27FC236}">
                <a16:creationId xmlns:a16="http://schemas.microsoft.com/office/drawing/2014/main" id="{6D549AD0-CD17-4F93-AEB1-94931263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8576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39" name="response-dec-2-3-segment-1">
            <a:extLst xmlns:a="http://schemas.openxmlformats.org/drawingml/2006/main">
              <a:ext uri="{FF2B5EF4-FFF2-40B4-BE49-F238E27FC236}">
                <a16:creationId xmlns:a16="http://schemas.microsoft.com/office/drawing/2014/main" id="{57C6E94F-3799-4FC3-B31F-F1C6D92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05250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40" name="response-dec-2-3-head">
            <a:extLst xmlns:a="http://schemas.openxmlformats.org/drawingml/2006/main">
              <a:ext uri="{FF2B5EF4-FFF2-40B4-BE49-F238E27FC236}">
                <a16:creationId xmlns:a16="http://schemas.microsoft.com/office/drawing/2014/main" id="{A291F07C-C395-4E93-926D-869750B2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576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41" name="response-dec-3-4-segment-1">
            <a:extLst xmlns:a="http://schemas.openxmlformats.org/drawingml/2006/main">
              <a:ext uri="{FF2B5EF4-FFF2-40B4-BE49-F238E27FC236}">
                <a16:creationId xmlns:a16="http://schemas.microsoft.com/office/drawing/2014/main" id="{071290F2-6F3B-431F-8AE0-10BF69A8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09550" cy="9525"/>
          </a:xfrm>
          <a:custGeom xmlns:a="http://schemas.openxmlformats.org/drawingml/2006/main">
            <a:pathLst>
              <a:path w="209550" h="9525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42" name="response-dec-3-4-head">
            <a:extLst xmlns:a="http://schemas.openxmlformats.org/drawingml/2006/main">
              <a:ext uri="{FF2B5EF4-FFF2-40B4-BE49-F238E27FC236}">
                <a16:creationId xmlns:a16="http://schemas.microsoft.com/office/drawing/2014/main" id="{6AAA68AC-D101-4266-A089-96ACD750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576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43" name="response-dec-to-waveform-segment-1">
            <a:extLst xmlns:a="http://schemas.openxmlformats.org/drawingml/2006/main">
              <a:ext uri="{FF2B5EF4-FFF2-40B4-BE49-F238E27FC236}">
                <a16:creationId xmlns:a16="http://schemas.microsoft.com/office/drawing/2014/main" id="{A0868F53-B2C1-4997-842A-166A7F90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8145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44" name="response-dec-to-waveform-head">
            <a:extLst xmlns:a="http://schemas.openxmlformats.org/drawingml/2006/main">
              <a:ext uri="{FF2B5EF4-FFF2-40B4-BE49-F238E27FC236}">
                <a16:creationId xmlns:a16="http://schemas.microsoft.com/office/drawing/2014/main" id="{2452DE43-FAA2-4B4B-917D-8C35E97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9338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45" name="source-to-fft-segment-1">
            <a:extLst xmlns:a="http://schemas.openxmlformats.org/drawingml/2006/main">
              <a:ext uri="{FF2B5EF4-FFF2-40B4-BE49-F238E27FC236}">
                <a16:creationId xmlns:a16="http://schemas.microsoft.com/office/drawing/2014/main" id="{AD482273-88D7-462E-91D4-6E9F51F9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00150"/>
            <a:ext cx="838200" cy="9525"/>
          </a:xfrm>
          <a:custGeom xmlns:a="http://schemas.openxmlformats.org/drawingml/2006/main">
            <a:pathLst>
              <a:path w="838200" h="952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37A2D"/>
            </a:solidFill>
            <a:prstDash val="solid"/>
          </a:ln>
        </p:spPr>
      </p:sp>
      <p:sp>
        <p:nvSpPr>
          <p:cNvPr id="46" name="source-to-fft-segment-2">
            <a:extLst xmlns:a="http://schemas.openxmlformats.org/drawingml/2006/main">
              <a:ext uri="{FF2B5EF4-FFF2-40B4-BE49-F238E27FC236}">
                <a16:creationId xmlns:a16="http://schemas.microsoft.com/office/drawing/2014/main" id="{53CC3F59-036F-4B2B-9636-131A611F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200150"/>
            <a:ext cx="9525" cy="1066800"/>
          </a:xfrm>
          <a:custGeom xmlns:a="http://schemas.openxmlformats.org/drawingml/2006/main">
            <a:pathLst>
              <a:path w="9525" h="1066800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37A2D"/>
            </a:solidFill>
            <a:prstDash val="solid"/>
          </a:ln>
        </p:spPr>
      </p:sp>
      <p:sp>
        <p:nvSpPr>
          <p:cNvPr id="47" name="source-to-fft-segment-3">
            <a:extLst xmlns:a="http://schemas.openxmlformats.org/drawingml/2006/main">
              <a:ext uri="{FF2B5EF4-FFF2-40B4-BE49-F238E27FC236}">
                <a16:creationId xmlns:a16="http://schemas.microsoft.com/office/drawing/2014/main" id="{D27E30A2-AA55-4093-9D32-A1B13BF9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66950"/>
            <a:ext cx="76200" cy="9525"/>
          </a:xfrm>
          <a:custGeom xmlns:a="http://schemas.openxmlformats.org/drawingml/2006/main">
            <a:pathLst>
              <a:path w="76200" h="9525">
                <a:moveTo>
                  <a:pt x="762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137A2D"/>
            </a:solidFill>
            <a:prstDash val="solid"/>
          </a:ln>
        </p:spPr>
      </p:sp>
      <p:sp>
        <p:nvSpPr>
          <p:cNvPr id="48" name="source-to-fft-head">
            <a:extLst xmlns:a="http://schemas.openxmlformats.org/drawingml/2006/main">
              <a:ext uri="{FF2B5EF4-FFF2-40B4-BE49-F238E27FC236}">
                <a16:creationId xmlns:a16="http://schemas.microsoft.com/office/drawing/2014/main" id="{93CFC654-E445-4E08-B4A8-CB9E6BA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19325"/>
            <a:ext cx="95250" cy="95250"/>
          </a:xfrm>
          <a:custGeom xmlns:a="http://schemas.openxmlformats.org/drawingml/2006/main">
            <a:pathLst>
              <a:path w="95250" h="95250">
                <a:moveTo>
                  <a:pt x="95250" y="0"/>
                </a:moveTo>
                <a:lnTo>
                  <a:pt x="95250" y="95250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137A2D"/>
          </a:solidFill>
          <a:ln xmlns:a="http://schemas.openxmlformats.org/drawingml/2006/main" w="4763">
            <a:solidFill>
              <a:srgbClr val="137A2D"/>
            </a:solidFill>
            <a:prstDash val="solid"/>
          </a:ln>
        </p:spPr>
      </p:sp>
      <p:sp>
        <p:nvSpPr>
          <p:cNvPr id="49" name="response-to-fft-segment-1">
            <a:extLst xmlns:a="http://schemas.openxmlformats.org/drawingml/2006/main">
              <a:ext uri="{FF2B5EF4-FFF2-40B4-BE49-F238E27FC236}">
                <a16:creationId xmlns:a16="http://schemas.microsoft.com/office/drawing/2014/main" id="{16EB1A05-7FD8-40CC-BBCC-233E12E4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90975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05A00"/>
            </a:solidFill>
            <a:prstDash val="solid"/>
          </a:ln>
        </p:spPr>
      </p:sp>
      <p:sp>
        <p:nvSpPr>
          <p:cNvPr id="50" name="response-to-fft-segment-2">
            <a:extLst xmlns:a="http://schemas.openxmlformats.org/drawingml/2006/main">
              <a:ext uri="{FF2B5EF4-FFF2-40B4-BE49-F238E27FC236}">
                <a16:creationId xmlns:a16="http://schemas.microsoft.com/office/drawing/2014/main" id="{9823E7AE-DE0A-4586-88BA-EA079399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19350"/>
            <a:ext cx="9525" cy="1571625"/>
          </a:xfrm>
          <a:custGeom xmlns:a="http://schemas.openxmlformats.org/drawingml/2006/main">
            <a:pathLst>
              <a:path w="9525" h="1571625">
                <a:moveTo>
                  <a:pt x="0" y="1571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05A00"/>
            </a:solidFill>
            <a:prstDash val="solid"/>
          </a:ln>
        </p:spPr>
      </p:sp>
      <p:sp>
        <p:nvSpPr>
          <p:cNvPr id="51" name="response-to-fft-segment-3">
            <a:extLst xmlns:a="http://schemas.openxmlformats.org/drawingml/2006/main">
              <a:ext uri="{FF2B5EF4-FFF2-40B4-BE49-F238E27FC236}">
                <a16:creationId xmlns:a16="http://schemas.microsoft.com/office/drawing/2014/main" id="{A8CFDE19-FD2E-4D23-BBF2-CCBD3E1F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19350"/>
            <a:ext cx="180975" cy="9525"/>
          </a:xfrm>
          <a:custGeom xmlns:a="http://schemas.openxmlformats.org/drawingml/2006/main">
            <a:pathLst>
              <a:path w="180975" h="9525">
                <a:moveTo>
                  <a:pt x="0" y="0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F05A00"/>
            </a:solidFill>
            <a:prstDash val="solid"/>
          </a:ln>
        </p:spPr>
      </p:sp>
      <p:sp>
        <p:nvSpPr>
          <p:cNvPr id="52" name="response-to-fft-head">
            <a:extLst xmlns:a="http://schemas.openxmlformats.org/drawingml/2006/main">
              <a:ext uri="{FF2B5EF4-FFF2-40B4-BE49-F238E27FC236}">
                <a16:creationId xmlns:a16="http://schemas.microsoft.com/office/drawing/2014/main" id="{3106B2A3-CAC5-4E54-94F7-A1DDF09F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717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F05A00"/>
          </a:solidFill>
          <a:ln xmlns:a="http://schemas.openxmlformats.org/drawingml/2006/main" w="4763">
            <a:solidFill>
              <a:srgbClr val="F05A00"/>
            </a:solidFill>
            <a:prstDash val="solid"/>
          </a:ln>
        </p:spPr>
      </p:sp>
      <p:sp>
        <p:nvSpPr>
          <p:cNvPr id="53" name="fft-to-reconstruction-segment-1">
            <a:extLst xmlns:a="http://schemas.openxmlformats.org/drawingml/2006/main">
              <a:ext uri="{FF2B5EF4-FFF2-40B4-BE49-F238E27FC236}">
                <a16:creationId xmlns:a16="http://schemas.microsoft.com/office/drawing/2014/main" id="{74E82A7F-3670-469F-BF6B-34533E93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19350"/>
            <a:ext cx="752475" cy="9525"/>
          </a:xfrm>
          <a:custGeom xmlns:a="http://schemas.openxmlformats.org/drawingml/2006/main">
            <a:pathLst>
              <a:path w="752475" h="9525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6F1DB5"/>
            </a:solidFill>
            <a:prstDash val="solid"/>
          </a:ln>
        </p:spPr>
      </p:sp>
      <p:sp>
        <p:nvSpPr>
          <p:cNvPr id="54" name="fft-to-reconstruction-head">
            <a:extLst xmlns:a="http://schemas.openxmlformats.org/drawingml/2006/main">
              <a:ext uri="{FF2B5EF4-FFF2-40B4-BE49-F238E27FC236}">
                <a16:creationId xmlns:a16="http://schemas.microsoft.com/office/drawing/2014/main" id="{82D39FFF-A227-4C64-8504-692DAEB2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23717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6F1DB5"/>
          </a:solidFill>
          <a:ln xmlns:a="http://schemas.openxmlformats.org/drawingml/2006/main" w="4763">
            <a:solidFill>
              <a:srgbClr val="6F1DB5"/>
            </a:solidFill>
            <a:prstDash val="solid"/>
          </a:ln>
        </p:spPr>
      </p:sp>
      <p:sp>
        <p:nvSpPr>
          <p:cNvPr id="55" name="reconstruction-to-subtract-segment-1">
            <a:extLst xmlns:a="http://schemas.openxmlformats.org/drawingml/2006/main">
              <a:ext uri="{FF2B5EF4-FFF2-40B4-BE49-F238E27FC236}">
                <a16:creationId xmlns:a16="http://schemas.microsoft.com/office/drawing/2014/main" id="{F5A3EEEE-0A56-4CFD-8EB9-CD4D9AAD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2466975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6F1DB5"/>
            </a:solidFill>
            <a:prstDash val="solid"/>
          </a:ln>
        </p:spPr>
      </p:sp>
      <p:sp>
        <p:nvSpPr>
          <p:cNvPr id="56" name="reconstruction-to-subtract-head">
            <a:extLst xmlns:a="http://schemas.openxmlformats.org/drawingml/2006/main">
              <a:ext uri="{FF2B5EF4-FFF2-40B4-BE49-F238E27FC236}">
                <a16:creationId xmlns:a16="http://schemas.microsoft.com/office/drawing/2014/main" id="{1FFD1DCB-0899-416A-AE77-42062176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1525" y="24193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6F1DB5"/>
          </a:solidFill>
          <a:ln xmlns:a="http://schemas.openxmlformats.org/drawingml/2006/main" w="4763">
            <a:solidFill>
              <a:srgbClr val="6F1DB5"/>
            </a:solidFill>
            <a:prstDash val="solid"/>
          </a:ln>
        </p:spPr>
      </p:sp>
      <p:sp>
        <p:nvSpPr>
          <p:cNvPr id="57" name="subtract-to-residual-segment-1">
            <a:extLst xmlns:a="http://schemas.openxmlformats.org/drawingml/2006/main">
              <a:ext uri="{FF2B5EF4-FFF2-40B4-BE49-F238E27FC236}">
                <a16:creationId xmlns:a16="http://schemas.microsoft.com/office/drawing/2014/main" id="{3CA38A22-2810-4004-A24C-A5D727A1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775" y="246697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  <a:prstDash val="solid"/>
          </a:ln>
        </p:spPr>
      </p:sp>
      <p:sp>
        <p:nvSpPr>
          <p:cNvPr id="58" name="subtract-to-residual-head">
            <a:extLst xmlns:a="http://schemas.openxmlformats.org/drawingml/2006/main">
              <a:ext uri="{FF2B5EF4-FFF2-40B4-BE49-F238E27FC236}">
                <a16:creationId xmlns:a16="http://schemas.microsoft.com/office/drawing/2014/main" id="{FDAFE892-C9AE-45FA-983A-EF88FAAB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24193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59" name="source-to-feature-segment-1">
            <a:extLst xmlns:a="http://schemas.openxmlformats.org/drawingml/2006/main">
              <a:ext uri="{FF2B5EF4-FFF2-40B4-BE49-F238E27FC236}">
                <a16:creationId xmlns:a16="http://schemas.microsoft.com/office/drawing/2014/main" id="{33A45528-CD94-4FE1-93DC-9F2A741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20015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7A2D"/>
            </a:solidFill>
            <a:prstDash val="solid"/>
          </a:ln>
        </p:spPr>
      </p:sp>
      <p:sp>
        <p:nvSpPr>
          <p:cNvPr id="60" name="source-to-feature-segment-2">
            <a:extLst xmlns:a="http://schemas.openxmlformats.org/drawingml/2006/main">
              <a:ext uri="{FF2B5EF4-FFF2-40B4-BE49-F238E27FC236}">
                <a16:creationId xmlns:a16="http://schemas.microsoft.com/office/drawing/2014/main" id="{C81693B0-AC3D-4D61-8A58-E5B92918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200150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7A2D"/>
            </a:solidFill>
            <a:prstDash val="solid"/>
          </a:ln>
        </p:spPr>
      </p:sp>
      <p:sp>
        <p:nvSpPr>
          <p:cNvPr id="61" name="source-to-feature-head">
            <a:extLst xmlns:a="http://schemas.openxmlformats.org/drawingml/2006/main">
              <a:ext uri="{FF2B5EF4-FFF2-40B4-BE49-F238E27FC236}">
                <a16:creationId xmlns:a16="http://schemas.microsoft.com/office/drawing/2014/main" id="{93D6C3E8-EBD3-47F7-A2AA-D07246D4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2956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95250"/>
                </a:lnTo>
                <a:close/>
              </a:path>
            </a:pathLst>
          </a:custGeom>
          <a:solidFill xmlns:a="http://schemas.openxmlformats.org/drawingml/2006/main">
            <a:srgbClr val="137A2D"/>
          </a:solidFill>
          <a:ln xmlns:a="http://schemas.openxmlformats.org/drawingml/2006/main" w="4763">
            <a:solidFill>
              <a:srgbClr val="137A2D"/>
            </a:solidFill>
            <a:prstDash val="solid"/>
          </a:ln>
        </p:spPr>
      </p:sp>
      <p:sp>
        <p:nvSpPr>
          <p:cNvPr id="62" name="response-to-feature-segment-1">
            <a:extLst xmlns:a="http://schemas.openxmlformats.org/drawingml/2006/main">
              <a:ext uri="{FF2B5EF4-FFF2-40B4-BE49-F238E27FC236}">
                <a16:creationId xmlns:a16="http://schemas.microsoft.com/office/drawing/2014/main" id="{D0AD6760-B125-4F9F-907B-0CD63977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90975"/>
            <a:ext cx="371475" cy="9525"/>
          </a:xfrm>
          <a:custGeom xmlns:a="http://schemas.openxmlformats.org/drawingml/2006/main">
            <a:pathLst>
              <a:path w="371475" h="952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A00"/>
            </a:solidFill>
            <a:prstDash val="solid"/>
          </a:ln>
        </p:spPr>
      </p:sp>
      <p:sp>
        <p:nvSpPr>
          <p:cNvPr id="63" name="response-to-feature-segment-2">
            <a:extLst xmlns:a="http://schemas.openxmlformats.org/drawingml/2006/main">
              <a:ext uri="{FF2B5EF4-FFF2-40B4-BE49-F238E27FC236}">
                <a16:creationId xmlns:a16="http://schemas.microsoft.com/office/drawing/2014/main" id="{F423FBD2-19CD-4925-8FBD-DB2739C4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90975"/>
            <a:ext cx="9525" cy="447675"/>
          </a:xfrm>
          <a:custGeom xmlns:a="http://schemas.openxmlformats.org/drawingml/2006/main">
            <a:pathLst>
              <a:path w="9525" h="447675">
                <a:moveTo>
                  <a:pt x="0" y="0"/>
                </a:moveTo>
                <a:lnTo>
                  <a:pt x="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A00"/>
            </a:solidFill>
            <a:prstDash val="solid"/>
          </a:ln>
        </p:spPr>
      </p:sp>
      <p:sp>
        <p:nvSpPr>
          <p:cNvPr id="64" name="response-to-feature-segment-3">
            <a:extLst xmlns:a="http://schemas.openxmlformats.org/drawingml/2006/main">
              <a:ext uri="{FF2B5EF4-FFF2-40B4-BE49-F238E27FC236}">
                <a16:creationId xmlns:a16="http://schemas.microsoft.com/office/drawing/2014/main" id="{4892C609-6CC8-448F-868E-3112D623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38650"/>
            <a:ext cx="457200" cy="9525"/>
          </a:xfrm>
          <a:custGeom xmlns:a="http://schemas.openxmlformats.org/drawingml/2006/main"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F05A00"/>
            </a:solidFill>
            <a:prstDash val="solid"/>
          </a:ln>
        </p:spPr>
      </p:sp>
      <p:sp>
        <p:nvSpPr>
          <p:cNvPr id="65" name="response-to-feature-head">
            <a:extLst xmlns:a="http://schemas.openxmlformats.org/drawingml/2006/main">
              <a:ext uri="{FF2B5EF4-FFF2-40B4-BE49-F238E27FC236}">
                <a16:creationId xmlns:a16="http://schemas.microsoft.com/office/drawing/2014/main" id="{1DF204FF-C283-4C05-8C0D-A46972D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91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F05A00"/>
          </a:solidFill>
          <a:ln xmlns:a="http://schemas.openxmlformats.org/drawingml/2006/main" w="4763">
            <a:solidFill>
              <a:srgbClr val="F05A00"/>
            </a:solidFill>
            <a:prstDash val="solid"/>
          </a:ln>
        </p:spPr>
      </p:sp>
      <p:sp>
        <p:nvSpPr>
          <p:cNvPr id="66" name="residual-to-feature-segment-1">
            <a:extLst xmlns:a="http://schemas.openxmlformats.org/drawingml/2006/main">
              <a:ext uri="{FF2B5EF4-FFF2-40B4-BE49-F238E27FC236}">
                <a16:creationId xmlns:a16="http://schemas.microsoft.com/office/drawing/2014/main" id="{89545300-D319-422F-A85E-3625A93D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2867025"/>
            <a:ext cx="9525" cy="295275"/>
          </a:xfrm>
          <a:custGeom xmlns:a="http://schemas.openxmlformats.org/drawingml/2006/main">
            <a:pathLst>
              <a:path w="9525" h="295275">
                <a:moveTo>
                  <a:pt x="0" y="0"/>
                </a:moveTo>
                <a:lnTo>
                  <a:pt x="0" y="2952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67" name="residual-to-feature-segment-2">
            <a:extLst xmlns:a="http://schemas.openxmlformats.org/drawingml/2006/main">
              <a:ext uri="{FF2B5EF4-FFF2-40B4-BE49-F238E27FC236}">
                <a16:creationId xmlns:a16="http://schemas.microsoft.com/office/drawing/2014/main" id="{652BB3CA-8C76-4210-9ABF-EF99480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162300"/>
            <a:ext cx="752475" cy="9525"/>
          </a:xfrm>
          <a:custGeom xmlns:a="http://schemas.openxmlformats.org/drawingml/2006/main">
            <a:pathLst>
              <a:path w="752475" h="9525">
                <a:moveTo>
                  <a:pt x="7524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68" name="residual-to-feature-segment-3">
            <a:extLst xmlns:a="http://schemas.openxmlformats.org/drawingml/2006/main">
              <a:ext uri="{FF2B5EF4-FFF2-40B4-BE49-F238E27FC236}">
                <a16:creationId xmlns:a16="http://schemas.microsoft.com/office/drawing/2014/main" id="{D8994195-9938-47EC-B6C8-4B69936A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162300"/>
            <a:ext cx="9525" cy="885825"/>
          </a:xfrm>
          <a:custGeom xmlns:a="http://schemas.openxmlformats.org/drawingml/2006/main">
            <a:pathLst>
              <a:path w="9525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69" name="residual-to-feature-head">
            <a:extLst xmlns:a="http://schemas.openxmlformats.org/drawingml/2006/main">
              <a:ext uri="{FF2B5EF4-FFF2-40B4-BE49-F238E27FC236}">
                <a16:creationId xmlns:a16="http://schemas.microsoft.com/office/drawing/2014/main" id="{6E8BE683-CD75-4B7F-85CC-EA8D09D2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0" y="39528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95250" y="0"/>
                </a:lnTo>
                <a:lnTo>
                  <a:pt x="47625" y="9525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70" name="source-feature-to-concat-upper-segment-1">
            <a:extLst xmlns:a="http://schemas.openxmlformats.org/drawingml/2006/main">
              <a:ext uri="{FF2B5EF4-FFF2-40B4-BE49-F238E27FC236}">
                <a16:creationId xmlns:a16="http://schemas.microsoft.com/office/drawing/2014/main" id="{BD185382-61E6-44F6-BE85-44136C2D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3657600"/>
            <a:ext cx="581025" cy="9525"/>
          </a:xfrm>
          <a:custGeom xmlns:a="http://schemas.openxmlformats.org/drawingml/2006/main">
            <a:pathLst>
              <a:path w="581025" h="9525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1" name="source-feature-to-concat-upper-segment-2">
            <a:extLst xmlns:a="http://schemas.openxmlformats.org/drawingml/2006/main">
              <a:ext uri="{FF2B5EF4-FFF2-40B4-BE49-F238E27FC236}">
                <a16:creationId xmlns:a16="http://schemas.microsoft.com/office/drawing/2014/main" id="{30FB4D86-4749-4602-B91B-8C1C725C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57600"/>
            <a:ext cx="9525" cy="590550"/>
          </a:xfrm>
          <a:custGeom xmlns:a="http://schemas.openxmlformats.org/drawingml/2006/main">
            <a:pathLst>
              <a:path w="9525" h="590550">
                <a:moveTo>
                  <a:pt x="0" y="0"/>
                </a:moveTo>
                <a:lnTo>
                  <a:pt x="0" y="5905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2" name="source-feature-to-concat-upper-segment-3">
            <a:extLst xmlns:a="http://schemas.openxmlformats.org/drawingml/2006/main">
              <a:ext uri="{FF2B5EF4-FFF2-40B4-BE49-F238E27FC236}">
                <a16:creationId xmlns:a16="http://schemas.microsoft.com/office/drawing/2014/main" id="{053F9635-0380-43A4-8BA9-BE84A761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248150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3" name="source-feature-to-concat-upper-head">
            <a:extLst xmlns:a="http://schemas.openxmlformats.org/drawingml/2006/main">
              <a:ext uri="{FF2B5EF4-FFF2-40B4-BE49-F238E27FC236}">
                <a16:creationId xmlns:a16="http://schemas.microsoft.com/office/drawing/2014/main" id="{8CADEB28-442D-4177-8570-64AAFB23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2005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74" name="response-feature-to-concat-upper-segment-1">
            <a:extLst xmlns:a="http://schemas.openxmlformats.org/drawingml/2006/main">
              <a:ext uri="{FF2B5EF4-FFF2-40B4-BE49-F238E27FC236}">
                <a16:creationId xmlns:a16="http://schemas.microsoft.com/office/drawing/2014/main" id="{04F6F314-EC7C-4AE4-B0F1-F56A7272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438650"/>
            <a:ext cx="876300" cy="9525"/>
          </a:xfrm>
          <a:custGeom xmlns:a="http://schemas.openxmlformats.org/drawingml/2006/main"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F05A00"/>
            </a:solidFill>
            <a:prstDash val="solid"/>
          </a:ln>
        </p:spPr>
      </p:sp>
      <p:sp>
        <p:nvSpPr>
          <p:cNvPr id="75" name="response-feature-to-concat-upper-head">
            <a:extLst xmlns:a="http://schemas.openxmlformats.org/drawingml/2006/main">
              <a:ext uri="{FF2B5EF4-FFF2-40B4-BE49-F238E27FC236}">
                <a16:creationId xmlns:a16="http://schemas.microsoft.com/office/drawing/2014/main" id="{F87D424B-1803-4939-ACE6-4B2BC410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391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F05A00"/>
          </a:solidFill>
          <a:ln xmlns:a="http://schemas.openxmlformats.org/drawingml/2006/main" w="4763">
            <a:solidFill>
              <a:srgbClr val="F05A00"/>
            </a:solidFill>
            <a:prstDash val="solid"/>
          </a:ln>
        </p:spPr>
      </p:sp>
      <p:sp>
        <p:nvSpPr>
          <p:cNvPr id="76" name="concat-upper-to-residual-feature-segment-1">
            <a:extLst xmlns:a="http://schemas.openxmlformats.org/drawingml/2006/main">
              <a:ext uri="{FF2B5EF4-FFF2-40B4-BE49-F238E27FC236}">
                <a16:creationId xmlns:a16="http://schemas.microsoft.com/office/drawing/2014/main" id="{9B05776A-FB00-4A2A-A351-34D2E659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4438650"/>
            <a:ext cx="85725" cy="9525"/>
          </a:xfrm>
          <a:custGeom xmlns:a="http://schemas.openxmlformats.org/drawingml/2006/main"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40062"/>
            </a:solidFill>
            <a:prstDash val="solid"/>
          </a:ln>
        </p:spPr>
      </p:sp>
      <p:sp>
        <p:nvSpPr>
          <p:cNvPr id="77" name="concat-upper-to-residual-feature-head">
            <a:extLst xmlns:a="http://schemas.openxmlformats.org/drawingml/2006/main">
              <a:ext uri="{FF2B5EF4-FFF2-40B4-BE49-F238E27FC236}">
                <a16:creationId xmlns:a16="http://schemas.microsoft.com/office/drawing/2014/main" id="{D31A5A20-7DDB-4908-BEFD-12BF1729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4405313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0" y="66675"/>
                </a:lnTo>
                <a:lnTo>
                  <a:pt x="66675" y="33338"/>
                </a:lnTo>
                <a:close/>
              </a:path>
            </a:pathLst>
          </a:custGeom>
          <a:solidFill xmlns:a="http://schemas.openxmlformats.org/drawingml/2006/main">
            <a:srgbClr val="E40062"/>
          </a:solidFill>
          <a:ln xmlns:a="http://schemas.openxmlformats.org/drawingml/2006/main" w="4763">
            <a:solidFill>
              <a:srgbClr val="E40062"/>
            </a:solidFill>
            <a:prstDash val="solid"/>
          </a:ln>
        </p:spPr>
      </p:sp>
      <p:sp>
        <p:nvSpPr>
          <p:cNvPr id="78" name="residual-feature-output-segment-1">
            <a:extLst xmlns:a="http://schemas.openxmlformats.org/drawingml/2006/main">
              <a:ext uri="{FF2B5EF4-FFF2-40B4-BE49-F238E27FC236}">
                <a16:creationId xmlns:a16="http://schemas.microsoft.com/office/drawing/2014/main" id="{193AAF21-F00D-4945-AD35-1A0E994E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438650"/>
            <a:ext cx="542925" cy="9525"/>
          </a:xfrm>
          <a:custGeom xmlns:a="http://schemas.openxmlformats.org/drawingml/2006/main">
            <a:pathLst>
              <a:path w="542925" h="952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79" name="residual-feature-output-head">
            <a:extLst xmlns:a="http://schemas.openxmlformats.org/drawingml/2006/main">
              <a:ext uri="{FF2B5EF4-FFF2-40B4-BE49-F238E27FC236}">
                <a16:creationId xmlns:a16="http://schemas.microsoft.com/office/drawing/2014/main" id="{4C30ECB4-8415-4C67-AD9B-C61D4DF5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4391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80" name="features-to-concat-lower-segment-1">
            <a:extLst xmlns:a="http://schemas.openxmlformats.org/drawingml/2006/main">
              <a:ext uri="{FF2B5EF4-FFF2-40B4-BE49-F238E27FC236}">
                <a16:creationId xmlns:a16="http://schemas.microsoft.com/office/drawing/2014/main" id="{E29794DB-2F5A-4E41-BAEA-3953342E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57600"/>
            <a:ext cx="9525" cy="2038350"/>
          </a:xfrm>
          <a:custGeom xmlns:a="http://schemas.openxmlformats.org/drawingml/2006/main">
            <a:pathLst>
              <a:path w="9525" h="2038350">
                <a:moveTo>
                  <a:pt x="0" y="0"/>
                </a:moveTo>
                <a:lnTo>
                  <a:pt x="0" y="20383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1" name="features-to-concat-lower-segment-2">
            <a:extLst xmlns:a="http://schemas.openxmlformats.org/drawingml/2006/main">
              <a:ext uri="{FF2B5EF4-FFF2-40B4-BE49-F238E27FC236}">
                <a16:creationId xmlns:a16="http://schemas.microsoft.com/office/drawing/2014/main" id="{31789E21-CC42-462F-8736-F340A7F8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95950"/>
            <a:ext cx="323850" cy="9525"/>
          </a:xfrm>
          <a:custGeom xmlns:a="http://schemas.openxmlformats.org/drawingml/2006/main">
            <a:pathLst>
              <a:path w="323850" h="9525">
                <a:moveTo>
                  <a:pt x="0" y="0"/>
                </a:moveTo>
                <a:lnTo>
                  <a:pt x="323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2" name="features-to-concat-lower-head">
            <a:extLst xmlns:a="http://schemas.openxmlformats.org/drawingml/2006/main">
              <a:ext uri="{FF2B5EF4-FFF2-40B4-BE49-F238E27FC236}">
                <a16:creationId xmlns:a16="http://schemas.microsoft.com/office/drawing/2014/main" id="{C8AC0834-B079-4ACA-A407-601D3EE5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6483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83" name="concat-lower-to-mlp-segment-1">
            <a:extLst xmlns:a="http://schemas.openxmlformats.org/drawingml/2006/main">
              <a:ext uri="{FF2B5EF4-FFF2-40B4-BE49-F238E27FC236}">
                <a16:creationId xmlns:a16="http://schemas.microsoft.com/office/drawing/2014/main" id="{1594C7BE-DD02-4AFA-B16A-2FB6D787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025" y="5695950"/>
            <a:ext cx="85725" cy="9525"/>
          </a:xfrm>
          <a:custGeom xmlns:a="http://schemas.openxmlformats.org/drawingml/2006/main">
            <a:pathLst>
              <a:path w="85725" h="9525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40062"/>
            </a:solidFill>
            <a:prstDash val="solid"/>
          </a:ln>
        </p:spPr>
      </p:sp>
      <p:sp>
        <p:nvSpPr>
          <p:cNvPr id="84" name="concat-lower-to-mlp-head">
            <a:extLst xmlns:a="http://schemas.openxmlformats.org/drawingml/2006/main">
              <a:ext uri="{FF2B5EF4-FFF2-40B4-BE49-F238E27FC236}">
                <a16:creationId xmlns:a16="http://schemas.microsoft.com/office/drawing/2014/main" id="{2F2C69AF-255C-4123-82EA-6FE1992D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5662613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0" y="66675"/>
                </a:lnTo>
                <a:lnTo>
                  <a:pt x="66675" y="33338"/>
                </a:lnTo>
                <a:close/>
              </a:path>
            </a:pathLst>
          </a:custGeom>
          <a:solidFill xmlns:a="http://schemas.openxmlformats.org/drawingml/2006/main">
            <a:srgbClr val="E40062"/>
          </a:solidFill>
          <a:ln xmlns:a="http://schemas.openxmlformats.org/drawingml/2006/main" w="4763">
            <a:solidFill>
              <a:srgbClr val="E40062"/>
            </a:solidFill>
            <a:prstDash val="solid"/>
          </a:ln>
        </p:spPr>
      </p:sp>
      <p:sp>
        <p:nvSpPr>
          <p:cNvPr id="85" name="mlp-to-logit-segment-1">
            <a:extLst xmlns:a="http://schemas.openxmlformats.org/drawingml/2006/main">
              <a:ext uri="{FF2B5EF4-FFF2-40B4-BE49-F238E27FC236}">
                <a16:creationId xmlns:a16="http://schemas.microsoft.com/office/drawing/2014/main" id="{C207755B-08C1-41F4-BC54-4592517C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5695950"/>
            <a:ext cx="171450" cy="9525"/>
          </a:xfrm>
          <a:custGeom xmlns:a="http://schemas.openxmlformats.org/drawingml/2006/main"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E40062"/>
            </a:solidFill>
            <a:prstDash val="solid"/>
          </a:ln>
        </p:spPr>
      </p:sp>
      <p:sp>
        <p:nvSpPr>
          <p:cNvPr id="86" name="mlp-to-logit-head">
            <a:extLst xmlns:a="http://schemas.openxmlformats.org/drawingml/2006/main">
              <a:ext uri="{FF2B5EF4-FFF2-40B4-BE49-F238E27FC236}">
                <a16:creationId xmlns:a16="http://schemas.microsoft.com/office/drawing/2014/main" id="{DCF2C892-3DC5-4C91-BA2B-88C23BDA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56483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0" y="95250"/>
                </a:lnTo>
                <a:lnTo>
                  <a:pt x="95250" y="47625"/>
                </a:lnTo>
                <a:close/>
              </a:path>
            </a:pathLst>
          </a:custGeom>
          <a:solidFill xmlns:a="http://schemas.openxmlformats.org/drawingml/2006/main">
            <a:srgbClr val="E40062"/>
          </a:solidFill>
          <a:ln xmlns:a="http://schemas.openxmlformats.org/drawingml/2006/main" w="4763">
            <a:solidFill>
              <a:srgbClr val="E40062"/>
            </a:solidFill>
            <a:prstDash val="solid"/>
          </a:ln>
        </p:spPr>
      </p:sp>
      <p:sp>
        <p:nvSpPr>
          <p:cNvPr id="87" name="input-to-reconstruction-loss-segment-1">
            <a:extLst xmlns:a="http://schemas.openxmlformats.org/drawingml/2006/main">
              <a:ext uri="{FF2B5EF4-FFF2-40B4-BE49-F238E27FC236}">
                <a16:creationId xmlns:a16="http://schemas.microsoft.com/office/drawing/2014/main" id="{27510F8E-2F8A-4EDD-B39D-D92AA67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990850"/>
            <a:ext cx="9525" cy="2857500"/>
          </a:xfrm>
          <a:custGeom xmlns:a="http://schemas.openxmlformats.org/drawingml/2006/main"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88" name="input-to-reconstruction-loss-segment-2">
            <a:extLst xmlns:a="http://schemas.openxmlformats.org/drawingml/2006/main">
              <a:ext uri="{FF2B5EF4-FFF2-40B4-BE49-F238E27FC236}">
                <a16:creationId xmlns:a16="http://schemas.microsoft.com/office/drawing/2014/main" id="{449FF874-9F1F-481D-8D5F-E8A5B017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48350"/>
            <a:ext cx="2219325" cy="9525"/>
          </a:xfrm>
          <a:custGeom xmlns:a="http://schemas.openxmlformats.org/drawingml/2006/main">
            <a:pathLst>
              <a:path w="2219325" h="9525">
                <a:moveTo>
                  <a:pt x="0" y="0"/>
                </a:moveTo>
                <a:lnTo>
                  <a:pt x="2219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89" name="input-to-reconstruction-loss-head">
            <a:extLst xmlns:a="http://schemas.openxmlformats.org/drawingml/2006/main">
              <a:ext uri="{FF2B5EF4-FFF2-40B4-BE49-F238E27FC236}">
                <a16:creationId xmlns:a16="http://schemas.microsoft.com/office/drawing/2014/main" id="{DC4D90A8-88DB-4417-9505-DCC83AE4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05488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3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4763">
            <a:solidFill>
              <a:srgbClr val="3B3B3B"/>
            </a:solidFill>
            <a:prstDash val="solid"/>
          </a:ln>
        </p:spPr>
      </p:sp>
      <p:sp>
        <p:nvSpPr>
          <p:cNvPr id="90" name="response-to-physics-loss-segment-1">
            <a:extLst xmlns:a="http://schemas.openxmlformats.org/drawingml/2006/main">
              <a:ext uri="{FF2B5EF4-FFF2-40B4-BE49-F238E27FC236}">
                <a16:creationId xmlns:a16="http://schemas.microsoft.com/office/drawing/2014/main" id="{7DB0D364-F77C-461E-8ADC-7EEB4984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62450"/>
            <a:ext cx="9525" cy="1295400"/>
          </a:xfrm>
          <a:custGeom xmlns:a="http://schemas.openxmlformats.org/drawingml/2006/main">
            <a:pathLst>
              <a:path w="9525" h="1295400">
                <a:moveTo>
                  <a:pt x="0" y="0"/>
                </a:moveTo>
                <a:lnTo>
                  <a:pt x="0" y="12954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F05A00"/>
            </a:solidFill>
            <a:prstDash val="dash"/>
          </a:ln>
        </p:spPr>
      </p:sp>
      <p:sp>
        <p:nvSpPr>
          <p:cNvPr id="91" name="response-to-physics-loss-head">
            <a:extLst xmlns:a="http://schemas.openxmlformats.org/drawingml/2006/main">
              <a:ext uri="{FF2B5EF4-FFF2-40B4-BE49-F238E27FC236}">
                <a16:creationId xmlns:a16="http://schemas.microsoft.com/office/drawing/2014/main" id="{6237BD22-070A-4E27-82DF-42A23B4D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5038" y="557212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42863" y="85725"/>
                </a:lnTo>
                <a:close/>
              </a:path>
            </a:pathLst>
          </a:custGeom>
          <a:solidFill xmlns:a="http://schemas.openxmlformats.org/drawingml/2006/main">
            <a:srgbClr val="F05A00"/>
          </a:solidFill>
          <a:ln xmlns:a="http://schemas.openxmlformats.org/drawingml/2006/main" w="4763">
            <a:solidFill>
              <a:srgbClr val="F05A00"/>
            </a:solidFill>
            <a:prstDash val="solid"/>
          </a:ln>
        </p:spPr>
      </p:sp>
      <p:sp>
        <p:nvSpPr>
          <p:cNvPr id="92" name="logit-to-label-segment-1">
            <a:extLst xmlns:a="http://schemas.openxmlformats.org/drawingml/2006/main">
              <a:ext uri="{FF2B5EF4-FFF2-40B4-BE49-F238E27FC236}">
                <a16:creationId xmlns:a16="http://schemas.microsoft.com/office/drawing/2014/main" id="{A193148E-10A8-4513-890D-AF9FD389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5943600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40062"/>
            </a:solidFill>
            <a:prstDash val="dash"/>
          </a:ln>
        </p:spPr>
      </p:sp>
      <p:sp>
        <p:nvSpPr>
          <p:cNvPr id="93" name="logit-to-label-segment-2">
            <a:extLst xmlns:a="http://schemas.openxmlformats.org/drawingml/2006/main">
              <a:ext uri="{FF2B5EF4-FFF2-40B4-BE49-F238E27FC236}">
                <a16:creationId xmlns:a16="http://schemas.microsoft.com/office/drawing/2014/main" id="{8F4E3E8B-3E4C-4275-8147-37CA0189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800850"/>
            <a:ext cx="628650" cy="9525"/>
          </a:xfrm>
          <a:custGeom xmlns:a="http://schemas.openxmlformats.org/drawingml/2006/main">
            <a:pathLst>
              <a:path w="628650" h="952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40062"/>
            </a:solidFill>
            <a:prstDash val="dash"/>
          </a:ln>
        </p:spPr>
      </p:sp>
      <p:sp>
        <p:nvSpPr>
          <p:cNvPr id="94" name="logit-to-label-head">
            <a:extLst xmlns:a="http://schemas.openxmlformats.org/drawingml/2006/main">
              <a:ext uri="{FF2B5EF4-FFF2-40B4-BE49-F238E27FC236}">
                <a16:creationId xmlns:a16="http://schemas.microsoft.com/office/drawing/2014/main" id="{4DA01219-8D95-4174-A06A-5A54490E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75" y="6757988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0"/>
                </a:moveTo>
                <a:lnTo>
                  <a:pt x="85725" y="85725"/>
                </a:lnTo>
                <a:lnTo>
                  <a:pt x="0" y="42863"/>
                </a:lnTo>
                <a:close/>
              </a:path>
            </a:pathLst>
          </a:custGeom>
          <a:solidFill xmlns:a="http://schemas.openxmlformats.org/drawingml/2006/main">
            <a:srgbClr val="E40062"/>
          </a:solidFill>
          <a:ln xmlns:a="http://schemas.openxmlformats.org/drawingml/2006/main" w="4763">
            <a:solidFill>
              <a:srgbClr val="E40062"/>
            </a:solidFill>
            <a:prstDash val="solid"/>
          </a:ln>
        </p:spPr>
      </p:sp>
      <p:sp>
        <p:nvSpPr>
          <p:cNvPr id="95" name="label-to-bce-segment-1">
            <a:extLst xmlns:a="http://schemas.openxmlformats.org/drawingml/2006/main">
              <a:ext uri="{FF2B5EF4-FFF2-40B4-BE49-F238E27FC236}">
                <a16:creationId xmlns:a16="http://schemas.microsoft.com/office/drawing/2014/main" id="{B7906332-F79C-4850-89F9-7BD169F5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800850"/>
            <a:ext cx="1714500" cy="9525"/>
          </a:xfrm>
          <a:custGeom xmlns:a="http://schemas.openxmlformats.org/drawingml/2006/main">
            <a:pathLst>
              <a:path w="1714500" h="9525">
                <a:moveTo>
                  <a:pt x="17145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40062"/>
            </a:solidFill>
            <a:prstDash val="dash"/>
          </a:ln>
        </p:spPr>
      </p:sp>
      <p:sp>
        <p:nvSpPr>
          <p:cNvPr id="96" name="label-to-bce-segment-2">
            <a:extLst xmlns:a="http://schemas.openxmlformats.org/drawingml/2006/main">
              <a:ext uri="{FF2B5EF4-FFF2-40B4-BE49-F238E27FC236}">
                <a16:creationId xmlns:a16="http://schemas.microsoft.com/office/drawing/2014/main" id="{7EA10B0B-DE03-4FBB-AD52-C648923C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5905500"/>
            <a:ext cx="9525" cy="895350"/>
          </a:xfrm>
          <a:custGeom xmlns:a="http://schemas.openxmlformats.org/drawingml/2006/main">
            <a:pathLst>
              <a:path w="9525" h="895350">
                <a:moveTo>
                  <a:pt x="0" y="8953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40062"/>
            </a:solidFill>
            <a:prstDash val="dash"/>
          </a:ln>
        </p:spPr>
      </p:sp>
      <p:sp>
        <p:nvSpPr>
          <p:cNvPr id="97" name="label-to-bce-segment-3">
            <a:extLst xmlns:a="http://schemas.openxmlformats.org/drawingml/2006/main">
              <a:ext uri="{FF2B5EF4-FFF2-40B4-BE49-F238E27FC236}">
                <a16:creationId xmlns:a16="http://schemas.microsoft.com/office/drawing/2014/main" id="{B7A9341A-6251-4CA1-8AD0-521DE6C1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905500"/>
            <a:ext cx="409575" cy="9525"/>
          </a:xfrm>
          <a:custGeom xmlns:a="http://schemas.openxmlformats.org/drawingml/2006/main">
            <a:pathLst>
              <a:path w="409575" h="9525">
                <a:moveTo>
                  <a:pt x="409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E40062"/>
            </a:solidFill>
            <a:prstDash val="dash"/>
          </a:ln>
        </p:spPr>
      </p:sp>
      <p:sp>
        <p:nvSpPr>
          <p:cNvPr id="98" name="label-to-bce-head">
            <a:extLst xmlns:a="http://schemas.openxmlformats.org/drawingml/2006/main">
              <a:ext uri="{FF2B5EF4-FFF2-40B4-BE49-F238E27FC236}">
                <a16:creationId xmlns:a16="http://schemas.microsoft.com/office/drawing/2014/main" id="{EA2F21AD-79BC-4499-83A2-890B0C6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862638"/>
            <a:ext cx="85725" cy="85725"/>
          </a:xfrm>
          <a:custGeom xmlns:a="http://schemas.openxmlformats.org/drawingml/2006/main">
            <a:pathLst>
              <a:path w="85725" h="85725">
                <a:moveTo>
                  <a:pt x="85725" y="0"/>
                </a:moveTo>
                <a:lnTo>
                  <a:pt x="85725" y="85725"/>
                </a:lnTo>
                <a:lnTo>
                  <a:pt x="0" y="42863"/>
                </a:lnTo>
                <a:close/>
              </a:path>
            </a:pathLst>
          </a:custGeom>
          <a:solidFill xmlns:a="http://schemas.openxmlformats.org/drawingml/2006/main">
            <a:srgbClr val="E40062"/>
          </a:solidFill>
          <a:ln xmlns:a="http://schemas.openxmlformats.org/drawingml/2006/main" w="4763">
            <a:solidFill>
              <a:srgbClr val="E40062"/>
            </a:solidFill>
            <a:prstDash val="solid"/>
          </a:ln>
        </p:spPr>
      </p:sp>
      <p:sp>
        <p:nvSpPr>
          <p:cNvPr id="99" name="recon-loss-to-total-segment-1">
            <a:extLst xmlns:a="http://schemas.openxmlformats.org/drawingml/2006/main">
              <a:ext uri="{FF2B5EF4-FFF2-40B4-BE49-F238E27FC236}">
                <a16:creationId xmlns:a16="http://schemas.microsoft.com/office/drawing/2014/main" id="{B599C972-1C32-4A58-83FE-5F8920CA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0552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0" name="recon-loss-to-total-segment-2">
            <a:extLst xmlns:a="http://schemas.openxmlformats.org/drawingml/2006/main">
              <a:ext uri="{FF2B5EF4-FFF2-40B4-BE49-F238E27FC236}">
                <a16:creationId xmlns:a16="http://schemas.microsoft.com/office/drawing/2014/main" id="{1EA8350F-1AFA-4405-B3AB-05BABE0B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438900"/>
            <a:ext cx="3152775" cy="9525"/>
          </a:xfrm>
          <a:custGeom xmlns:a="http://schemas.openxmlformats.org/drawingml/2006/main">
            <a:pathLst>
              <a:path w="3152775" h="9525">
                <a:moveTo>
                  <a:pt x="0" y="0"/>
                </a:moveTo>
                <a:lnTo>
                  <a:pt x="3152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1" name="recon-loss-to-total-segment-3">
            <a:extLst xmlns:a="http://schemas.openxmlformats.org/drawingml/2006/main">
              <a:ext uri="{FF2B5EF4-FFF2-40B4-BE49-F238E27FC236}">
                <a16:creationId xmlns:a16="http://schemas.microsoft.com/office/drawing/2014/main" id="{02F202ED-71BE-4E16-BE8B-456F9C9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43890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2" name="recon-loss-to-total-head">
            <a:extLst xmlns:a="http://schemas.openxmlformats.org/drawingml/2006/main">
              <a:ext uri="{FF2B5EF4-FFF2-40B4-BE49-F238E27FC236}">
                <a16:creationId xmlns:a16="http://schemas.microsoft.com/office/drawing/2014/main" id="{45150E29-52E7-4349-9E4F-AB6212F6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663892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42863" y="85725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4763">
            <a:solidFill>
              <a:srgbClr val="3B3B3B"/>
            </a:solidFill>
            <a:prstDash val="solid"/>
          </a:ln>
        </p:spPr>
      </p:sp>
      <p:sp>
        <p:nvSpPr>
          <p:cNvPr id="103" name="physics-loss-to-total-segment-1">
            <a:extLst xmlns:a="http://schemas.openxmlformats.org/drawingml/2006/main">
              <a:ext uri="{FF2B5EF4-FFF2-40B4-BE49-F238E27FC236}">
                <a16:creationId xmlns:a16="http://schemas.microsoft.com/office/drawing/2014/main" id="{97EF624F-B71D-4EED-A50F-F8D3BE27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0552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4" name="physics-loss-to-total-segment-2">
            <a:extLst xmlns:a="http://schemas.openxmlformats.org/drawingml/2006/main">
              <a:ext uri="{FF2B5EF4-FFF2-40B4-BE49-F238E27FC236}">
                <a16:creationId xmlns:a16="http://schemas.microsoft.com/office/drawing/2014/main" id="{0692664F-BE09-419D-BD70-B6F9239F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438900"/>
            <a:ext cx="523875" cy="9525"/>
          </a:xfrm>
          <a:custGeom xmlns:a="http://schemas.openxmlformats.org/drawingml/2006/main">
            <a:pathLst>
              <a:path w="523875" h="9525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5" name="physics-loss-to-total-segment-3">
            <a:extLst xmlns:a="http://schemas.openxmlformats.org/drawingml/2006/main">
              <a:ext uri="{FF2B5EF4-FFF2-40B4-BE49-F238E27FC236}">
                <a16:creationId xmlns:a16="http://schemas.microsoft.com/office/drawing/2014/main" id="{8F823AC7-24F6-4DA4-91A7-F0E1031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43890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6" name="physics-loss-to-total-head">
            <a:extLst xmlns:a="http://schemas.openxmlformats.org/drawingml/2006/main">
              <a:ext uri="{FF2B5EF4-FFF2-40B4-BE49-F238E27FC236}">
                <a16:creationId xmlns:a16="http://schemas.microsoft.com/office/drawing/2014/main" id="{3FCAA74D-577E-4673-8A7C-362E899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663892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42863" y="85725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4763">
            <a:solidFill>
              <a:srgbClr val="3B3B3B"/>
            </a:solidFill>
            <a:prstDash val="solid"/>
          </a:ln>
        </p:spPr>
      </p:sp>
      <p:sp>
        <p:nvSpPr>
          <p:cNvPr id="107" name="bce-loss-to-total-segment-1">
            <a:extLst xmlns:a="http://schemas.openxmlformats.org/drawingml/2006/main">
              <a:ext uri="{FF2B5EF4-FFF2-40B4-BE49-F238E27FC236}">
                <a16:creationId xmlns:a16="http://schemas.microsoft.com/office/drawing/2014/main" id="{B338BAD2-C2E1-4911-851A-8F7622A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05525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8" name="bce-loss-to-total-segment-2">
            <a:extLst xmlns:a="http://schemas.openxmlformats.org/drawingml/2006/main">
              <a:ext uri="{FF2B5EF4-FFF2-40B4-BE49-F238E27FC236}">
                <a16:creationId xmlns:a16="http://schemas.microsoft.com/office/drawing/2014/main" id="{8FE54EC3-DCE4-4D25-BA99-773984B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438900"/>
            <a:ext cx="3171825" cy="9525"/>
          </a:xfrm>
          <a:custGeom xmlns:a="http://schemas.openxmlformats.org/drawingml/2006/main">
            <a:pathLst>
              <a:path w="3171825" h="9525">
                <a:moveTo>
                  <a:pt x="3171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09" name="bce-loss-to-total-segment-3">
            <a:extLst xmlns:a="http://schemas.openxmlformats.org/drawingml/2006/main">
              <a:ext uri="{FF2B5EF4-FFF2-40B4-BE49-F238E27FC236}">
                <a16:creationId xmlns:a16="http://schemas.microsoft.com/office/drawing/2014/main" id="{80F856B9-964F-4BF5-8E88-C2A850D4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6438900"/>
            <a:ext cx="9525" cy="285750"/>
          </a:xfrm>
          <a:custGeom xmlns:a="http://schemas.openxmlformats.org/drawingml/2006/main"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110" name="bce-loss-to-total-head">
            <a:extLst xmlns:a="http://schemas.openxmlformats.org/drawingml/2006/main">
              <a:ext uri="{FF2B5EF4-FFF2-40B4-BE49-F238E27FC236}">
                <a16:creationId xmlns:a16="http://schemas.microsoft.com/office/drawing/2014/main" id="{6E751F82-4949-4F84-8888-80E966D5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6638925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85725" y="0"/>
                </a:lnTo>
                <a:lnTo>
                  <a:pt x="42863" y="85725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4763">
            <a:solidFill>
              <a:srgbClr val="3B3B3B"/>
            </a:solidFill>
            <a:prstDash val="solid"/>
          </a:ln>
        </p:spPr>
      </p:sp>
      <p:sp>
        <p:nvSpPr>
          <p:cNvPr id="111" name="input-waveform-frame">
            <a:extLst xmlns:a="http://schemas.openxmlformats.org/drawingml/2006/main">
              <a:ext uri="{FF2B5EF4-FFF2-40B4-BE49-F238E27FC236}">
                <a16:creationId xmlns:a16="http://schemas.microsoft.com/office/drawing/2014/main" id="{77B51981-1B10-4BA3-8A65-06B0A539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" y="2009775"/>
            <a:ext cx="15621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12" name="input-waveform-editable-waveform">
            <a:extLst xmlns:a="http://schemas.openxmlformats.org/drawingml/2006/main">
              <a:ext uri="{FF2B5EF4-FFF2-40B4-BE49-F238E27FC236}">
                <a16:creationId xmlns:a16="http://schemas.microsoft.com/office/drawing/2014/main" id="{A35E9B6B-AE4A-40F0-A3A9-9A34375A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009775"/>
            <a:ext cx="1562100" cy="981075"/>
          </a:xfrm>
          <a:custGeom xmlns:a="http://schemas.openxmlformats.org/drawingml/2006/main">
            <a:pathLst>
              <a:path w="1562100" h="981075">
                <a:moveTo>
                  <a:pt x="57150" y="428494"/>
                </a:moveTo>
                <a:lnTo>
                  <a:pt x="66867" y="259033"/>
                </a:lnTo>
                <a:lnTo>
                  <a:pt x="76584" y="510755"/>
                </a:lnTo>
                <a:lnTo>
                  <a:pt x="86300" y="565490"/>
                </a:lnTo>
                <a:lnTo>
                  <a:pt x="96017" y="649798"/>
                </a:lnTo>
                <a:lnTo>
                  <a:pt x="105734" y="418806"/>
                </a:lnTo>
                <a:lnTo>
                  <a:pt x="115451" y="247854"/>
                </a:lnTo>
                <a:lnTo>
                  <a:pt x="125167" y="615656"/>
                </a:lnTo>
                <a:lnTo>
                  <a:pt x="134884" y="642015"/>
                </a:lnTo>
                <a:lnTo>
                  <a:pt x="144601" y="444843"/>
                </a:lnTo>
                <a:lnTo>
                  <a:pt x="154318" y="419439"/>
                </a:lnTo>
                <a:lnTo>
                  <a:pt x="164035" y="382668"/>
                </a:lnTo>
                <a:lnTo>
                  <a:pt x="173751" y="601497"/>
                </a:lnTo>
                <a:lnTo>
                  <a:pt x="183468" y="639195"/>
                </a:lnTo>
                <a:lnTo>
                  <a:pt x="193185" y="349190"/>
                </a:lnTo>
                <a:lnTo>
                  <a:pt x="202902" y="409869"/>
                </a:lnTo>
                <a:lnTo>
                  <a:pt x="212618" y="542391"/>
                </a:lnTo>
                <a:lnTo>
                  <a:pt x="222335" y="550723"/>
                </a:lnTo>
                <a:lnTo>
                  <a:pt x="232052" y="550071"/>
                </a:lnTo>
                <a:lnTo>
                  <a:pt x="241769" y="374528"/>
                </a:lnTo>
                <a:lnTo>
                  <a:pt x="251486" y="420574"/>
                </a:lnTo>
                <a:lnTo>
                  <a:pt x="261202" y="616367"/>
                </a:lnTo>
                <a:lnTo>
                  <a:pt x="270919" y="519888"/>
                </a:lnTo>
                <a:lnTo>
                  <a:pt x="280636" y="444220"/>
                </a:lnTo>
                <a:lnTo>
                  <a:pt x="290353" y="444301"/>
                </a:lnTo>
                <a:lnTo>
                  <a:pt x="300069" y="468396"/>
                </a:lnTo>
                <a:lnTo>
                  <a:pt x="309786" y="590189"/>
                </a:lnTo>
                <a:lnTo>
                  <a:pt x="319503" y="506289"/>
                </a:lnTo>
                <a:lnTo>
                  <a:pt x="329220" y="394566"/>
                </a:lnTo>
                <a:lnTo>
                  <a:pt x="338937" y="491908"/>
                </a:lnTo>
                <a:lnTo>
                  <a:pt x="348653" y="526679"/>
                </a:lnTo>
                <a:lnTo>
                  <a:pt x="358370" y="523121"/>
                </a:lnTo>
                <a:lnTo>
                  <a:pt x="368087" y="488410"/>
                </a:lnTo>
                <a:lnTo>
                  <a:pt x="377804" y="415545"/>
                </a:lnTo>
                <a:lnTo>
                  <a:pt x="387520" y="505637"/>
                </a:lnTo>
                <a:lnTo>
                  <a:pt x="397237" y="555583"/>
                </a:lnTo>
                <a:lnTo>
                  <a:pt x="406954" y="474379"/>
                </a:lnTo>
                <a:lnTo>
                  <a:pt x="416671" y="464547"/>
                </a:lnTo>
                <a:lnTo>
                  <a:pt x="426388" y="469356"/>
                </a:lnTo>
                <a:lnTo>
                  <a:pt x="436104" y="505949"/>
                </a:lnTo>
                <a:lnTo>
                  <a:pt x="445821" y="541574"/>
                </a:lnTo>
                <a:lnTo>
                  <a:pt x="455538" y="461301"/>
                </a:lnTo>
                <a:lnTo>
                  <a:pt x="465255" y="450817"/>
                </a:lnTo>
                <a:lnTo>
                  <a:pt x="474971" y="511831"/>
                </a:lnTo>
                <a:lnTo>
                  <a:pt x="484688" y="508447"/>
                </a:lnTo>
                <a:lnTo>
                  <a:pt x="494405" y="503059"/>
                </a:lnTo>
                <a:lnTo>
                  <a:pt x="504122" y="468988"/>
                </a:lnTo>
                <a:lnTo>
                  <a:pt x="513839" y="458992"/>
                </a:lnTo>
                <a:lnTo>
                  <a:pt x="523555" y="524417"/>
                </a:lnTo>
                <a:lnTo>
                  <a:pt x="533272" y="511707"/>
                </a:lnTo>
                <a:lnTo>
                  <a:pt x="542989" y="468786"/>
                </a:lnTo>
                <a:lnTo>
                  <a:pt x="552706" y="478436"/>
                </a:lnTo>
                <a:lnTo>
                  <a:pt x="562422" y="484458"/>
                </a:lnTo>
                <a:lnTo>
                  <a:pt x="572139" y="514362"/>
                </a:lnTo>
                <a:lnTo>
                  <a:pt x="581856" y="507059"/>
                </a:lnTo>
                <a:lnTo>
                  <a:pt x="591573" y="456644"/>
                </a:lnTo>
                <a:lnTo>
                  <a:pt x="601290" y="482695"/>
                </a:lnTo>
                <a:lnTo>
                  <a:pt x="611006" y="510779"/>
                </a:lnTo>
                <a:lnTo>
                  <a:pt x="620723" y="498483"/>
                </a:lnTo>
                <a:lnTo>
                  <a:pt x="630440" y="491551"/>
                </a:lnTo>
                <a:lnTo>
                  <a:pt x="640157" y="466592"/>
                </a:lnTo>
                <a:lnTo>
                  <a:pt x="649873" y="485932"/>
                </a:lnTo>
                <a:lnTo>
                  <a:pt x="659590" y="521882"/>
                </a:lnTo>
                <a:lnTo>
                  <a:pt x="669307" y="488488"/>
                </a:lnTo>
                <a:lnTo>
                  <a:pt x="679024" y="472840"/>
                </a:lnTo>
                <a:lnTo>
                  <a:pt x="688741" y="485786"/>
                </a:lnTo>
                <a:lnTo>
                  <a:pt x="698457" y="493786"/>
                </a:lnTo>
                <a:lnTo>
                  <a:pt x="708174" y="512822"/>
                </a:lnTo>
                <a:lnTo>
                  <a:pt x="717891" y="485420"/>
                </a:lnTo>
                <a:lnTo>
                  <a:pt x="727608" y="463884"/>
                </a:lnTo>
                <a:lnTo>
                  <a:pt x="737324" y="499874"/>
                </a:lnTo>
                <a:lnTo>
                  <a:pt x="747041" y="504837"/>
                </a:lnTo>
                <a:lnTo>
                  <a:pt x="756758" y="492645"/>
                </a:lnTo>
                <a:lnTo>
                  <a:pt x="766475" y="483770"/>
                </a:lnTo>
                <a:lnTo>
                  <a:pt x="776192" y="471783"/>
                </a:lnTo>
                <a:lnTo>
                  <a:pt x="785908" y="503102"/>
                </a:lnTo>
                <a:lnTo>
                  <a:pt x="795625" y="510565"/>
                </a:lnTo>
                <a:lnTo>
                  <a:pt x="805342" y="476561"/>
                </a:lnTo>
                <a:lnTo>
                  <a:pt x="815059" y="480277"/>
                </a:lnTo>
                <a:lnTo>
                  <a:pt x="824776" y="490637"/>
                </a:lnTo>
                <a:lnTo>
                  <a:pt x="834492" y="499767"/>
                </a:lnTo>
                <a:lnTo>
                  <a:pt x="844209" y="504127"/>
                </a:lnTo>
                <a:lnTo>
                  <a:pt x="853926" y="473439"/>
                </a:lnTo>
                <a:lnTo>
                  <a:pt x="863643" y="478278"/>
                </a:lnTo>
                <a:lnTo>
                  <a:pt x="873359" y="506279"/>
                </a:lnTo>
                <a:lnTo>
                  <a:pt x="883076" y="496619"/>
                </a:lnTo>
                <a:lnTo>
                  <a:pt x="892793" y="488727"/>
                </a:lnTo>
                <a:lnTo>
                  <a:pt x="902510" y="480261"/>
                </a:lnTo>
                <a:lnTo>
                  <a:pt x="912227" y="482928"/>
                </a:lnTo>
                <a:lnTo>
                  <a:pt x="921943" y="508851"/>
                </a:lnTo>
                <a:lnTo>
                  <a:pt x="931660" y="495222"/>
                </a:lnTo>
                <a:lnTo>
                  <a:pt x="941377" y="475717"/>
                </a:lnTo>
                <a:lnTo>
                  <a:pt x="951094" y="488138"/>
                </a:lnTo>
                <a:lnTo>
                  <a:pt x="960810" y="493473"/>
                </a:lnTo>
                <a:lnTo>
                  <a:pt x="970527" y="500358"/>
                </a:lnTo>
                <a:lnTo>
                  <a:pt x="980244" y="492509"/>
                </a:lnTo>
                <a:lnTo>
                  <a:pt x="989961" y="474008"/>
                </a:lnTo>
                <a:lnTo>
                  <a:pt x="999678" y="491906"/>
                </a:lnTo>
                <a:lnTo>
                  <a:pt x="1009394" y="502511"/>
                </a:lnTo>
                <a:lnTo>
                  <a:pt x="1019111" y="490238"/>
                </a:lnTo>
                <a:lnTo>
                  <a:pt x="1028828" y="487091"/>
                </a:lnTo>
                <a:lnTo>
                  <a:pt x="1038545" y="482387"/>
                </a:lnTo>
                <a:lnTo>
                  <a:pt x="1048261" y="492853"/>
                </a:lnTo>
                <a:lnTo>
                  <a:pt x="1057978" y="503305"/>
                </a:lnTo>
                <a:lnTo>
                  <a:pt x="1067695" y="485423"/>
                </a:lnTo>
                <a:lnTo>
                  <a:pt x="1077412" y="482250"/>
                </a:lnTo>
                <a:lnTo>
                  <a:pt x="1087129" y="492386"/>
                </a:lnTo>
                <a:lnTo>
                  <a:pt x="1096845" y="493955"/>
                </a:lnTo>
                <a:lnTo>
                  <a:pt x="1106562" y="496369"/>
                </a:lnTo>
                <a:lnTo>
                  <a:pt x="1116279" y="485778"/>
                </a:lnTo>
                <a:lnTo>
                  <a:pt x="1125996" y="482196"/>
                </a:lnTo>
                <a:lnTo>
                  <a:pt x="1135712" y="497074"/>
                </a:lnTo>
                <a:lnTo>
                  <a:pt x="1145429" y="495307"/>
                </a:lnTo>
                <a:lnTo>
                  <a:pt x="1155146" y="488139"/>
                </a:lnTo>
                <a:lnTo>
                  <a:pt x="1164863" y="487540"/>
                </a:lnTo>
                <a:lnTo>
                  <a:pt x="1174580" y="487058"/>
                </a:lnTo>
                <a:lnTo>
                  <a:pt x="1184296" y="496006"/>
                </a:lnTo>
                <a:lnTo>
                  <a:pt x="1194013" y="494901"/>
                </a:lnTo>
                <a:lnTo>
                  <a:pt x="1203730" y="484323"/>
                </a:lnTo>
                <a:lnTo>
                  <a:pt x="1213447" y="488485"/>
                </a:lnTo>
                <a:lnTo>
                  <a:pt x="1223163" y="492819"/>
                </a:lnTo>
                <a:lnTo>
                  <a:pt x="1232880" y="492913"/>
                </a:lnTo>
                <a:lnTo>
                  <a:pt x="1242597" y="492081"/>
                </a:lnTo>
                <a:lnTo>
                  <a:pt x="1252314" y="485572"/>
                </a:lnTo>
                <a:lnTo>
                  <a:pt x="1262031" y="489093"/>
                </a:lnTo>
                <a:lnTo>
                  <a:pt x="1271747" y="495501"/>
                </a:lnTo>
                <a:lnTo>
                  <a:pt x="1281464" y="490854"/>
                </a:lnTo>
                <a:lnTo>
                  <a:pt x="1291181" y="488688"/>
                </a:lnTo>
                <a:lnTo>
                  <a:pt x="1300898" y="488817"/>
                </a:lnTo>
                <a:lnTo>
                  <a:pt x="1310614" y="490324"/>
                </a:lnTo>
                <a:lnTo>
                  <a:pt x="1320331" y="494425"/>
                </a:lnTo>
                <a:lnTo>
                  <a:pt x="1330048" y="490209"/>
                </a:lnTo>
                <a:lnTo>
                  <a:pt x="1339765" y="487048"/>
                </a:lnTo>
                <a:lnTo>
                  <a:pt x="1349482" y="491125"/>
                </a:lnTo>
                <a:lnTo>
                  <a:pt x="1359198" y="491897"/>
                </a:lnTo>
                <a:lnTo>
                  <a:pt x="1368915" y="491687"/>
                </a:lnTo>
                <a:lnTo>
                  <a:pt x="1378632" y="489980"/>
                </a:lnTo>
                <a:lnTo>
                  <a:pt x="1388349" y="487808"/>
                </a:lnTo>
                <a:lnTo>
                  <a:pt x="1398065" y="491744"/>
                </a:lnTo>
                <a:lnTo>
                  <a:pt x="1407782" y="492744"/>
                </a:lnTo>
                <a:lnTo>
                  <a:pt x="1417499" y="489592"/>
                </a:lnTo>
                <a:lnTo>
                  <a:pt x="1427216" y="489590"/>
                </a:lnTo>
                <a:lnTo>
                  <a:pt x="1436933" y="489833"/>
                </a:lnTo>
                <a:lnTo>
                  <a:pt x="1446649" y="491472"/>
                </a:lnTo>
                <a:lnTo>
                  <a:pt x="1456366" y="492284"/>
                </a:lnTo>
                <a:lnTo>
                  <a:pt x="1466083" y="488999"/>
                </a:lnTo>
                <a:lnTo>
                  <a:pt x="1475800" y="489295"/>
                </a:lnTo>
                <a:lnTo>
                  <a:pt x="1485516" y="491558"/>
                </a:lnTo>
                <a:lnTo>
                  <a:pt x="1495233" y="491181"/>
                </a:lnTo>
                <a:lnTo>
                  <a:pt x="1504950" y="490912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0057D9"/>
            </a:solidFill>
            <a:prstDash val="solid"/>
          </a:ln>
        </p:spPr>
      </p:sp>
      <p:sp>
        <p:nvSpPr>
          <p:cNvPr id="113" name="input-title">
            <a:extLst xmlns:a="http://schemas.openxmlformats.org/drawingml/2006/main">
              <a:ext uri="{FF2B5EF4-FFF2-40B4-BE49-F238E27FC236}">
                <a16:creationId xmlns:a16="http://schemas.microsoft.com/office/drawing/2014/main" id="{C846B0B8-8A04-42D9-9CD6-3C7E9F3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1495425"/>
            <a:ext cx="1685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Input waveform y</a:t>
            </a:r>
          </a:p>
        </p:txBody>
      </p:sp>
      <p:sp>
        <p:nvSpPr>
          <p:cNvPr id="114" name="input-subtitle">
            <a:extLst xmlns:a="http://schemas.openxmlformats.org/drawingml/2006/main">
              <a:ext uri="{FF2B5EF4-FFF2-40B4-BE49-F238E27FC236}">
                <a16:creationId xmlns:a16="http://schemas.microsoft.com/office/drawing/2014/main" id="{187B30B8-AE76-4846-967F-4EE19BA4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" y="1704975"/>
            <a:ext cx="1743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5761 samples, 576 kHz</a:t>
            </a:r>
          </a:p>
        </p:txBody>
      </p:sp>
      <p:sp>
        <p:nvSpPr>
          <p:cNvPr id="115" name="input-tick-0">
            <a:extLst xmlns:a="http://schemas.openxmlformats.org/drawingml/2006/main">
              <a:ext uri="{FF2B5EF4-FFF2-40B4-BE49-F238E27FC236}">
                <a16:creationId xmlns:a16="http://schemas.microsoft.com/office/drawing/2014/main" id="{6BD5A8F7-0734-4ED5-9899-24A9F0F9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" y="30099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16" name="input-axis">
            <a:extLst xmlns:a="http://schemas.openxmlformats.org/drawingml/2006/main">
              <a:ext uri="{FF2B5EF4-FFF2-40B4-BE49-F238E27FC236}">
                <a16:creationId xmlns:a16="http://schemas.microsoft.com/office/drawing/2014/main" id="{DFEA2F90-FDC6-4FD1-8E92-96351DB9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038475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Sample index</a:t>
            </a:r>
          </a:p>
        </p:txBody>
      </p:sp>
      <p:sp>
        <p:nvSpPr>
          <p:cNvPr id="117" name="input-tick-end">
            <a:extLst xmlns:a="http://schemas.openxmlformats.org/drawingml/2006/main">
              <a:ext uri="{FF2B5EF4-FFF2-40B4-BE49-F238E27FC236}">
                <a16:creationId xmlns:a16="http://schemas.microsoft.com/office/drawing/2014/main" id="{86F284ED-F300-472D-BEDA-AC9193F5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009900"/>
            <a:ext cx="504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5760</a:t>
            </a:r>
          </a:p>
        </p:txBody>
      </p:sp>
      <p:sp>
        <p:nvSpPr>
          <p:cNvPr id="118" name="encoder-block-1-front">
            <a:extLst xmlns:a="http://schemas.openxmlformats.org/drawingml/2006/main">
              <a:ext uri="{FF2B5EF4-FFF2-40B4-BE49-F238E27FC236}">
                <a16:creationId xmlns:a16="http://schemas.microsoft.com/office/drawing/2014/main" id="{455613FE-BD6E-497D-8286-9C7731B1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1914525"/>
            <a:ext cx="1619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FF"/>
          </a:solidFill>
          <a:ln xmlns:a="http://schemas.openxmlformats.org/drawingml/2006/main" w="15240">
            <a:solidFill>
              <a:srgbClr val="0057D9"/>
            </a:solidFill>
            <a:prstDash val="solid"/>
          </a:ln>
        </p:spPr>
      </p:sp>
      <p:sp>
        <p:nvSpPr>
          <p:cNvPr id="119" name="encoder-block-1-side">
            <a:extLst xmlns:a="http://schemas.openxmlformats.org/drawingml/2006/main">
              <a:ext uri="{FF2B5EF4-FFF2-40B4-BE49-F238E27FC236}">
                <a16:creationId xmlns:a16="http://schemas.microsoft.com/office/drawing/2014/main" id="{AD9C5E91-18F7-468A-973B-86116E6B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838325"/>
            <a:ext cx="76200" cy="1457325"/>
          </a:xfrm>
          <a:custGeom xmlns:a="http://schemas.openxmlformats.org/drawingml/2006/main">
            <a:pathLst>
              <a:path w="76200" h="1457325">
                <a:moveTo>
                  <a:pt x="0" y="76200"/>
                </a:moveTo>
                <a:lnTo>
                  <a:pt x="76200" y="0"/>
                </a:lnTo>
                <a:lnTo>
                  <a:pt x="76200" y="1381125"/>
                </a:lnTo>
                <a:lnTo>
                  <a:pt x="0" y="1457325"/>
                </a:lnTo>
                <a:close/>
              </a:path>
            </a:pathLst>
          </a:custGeom>
          <a:solidFill xmlns:a="http://schemas.openxmlformats.org/drawingml/2006/main">
            <a:srgbClr val="7FB2F2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0" name="encoder-block-1-top">
            <a:extLst xmlns:a="http://schemas.openxmlformats.org/drawingml/2006/main">
              <a:ext uri="{FF2B5EF4-FFF2-40B4-BE49-F238E27FC236}">
                <a16:creationId xmlns:a16="http://schemas.microsoft.com/office/drawing/2014/main" id="{9FF4F4CB-49A2-4597-A83C-87D732E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838325"/>
            <a:ext cx="238125" cy="76200"/>
          </a:xfrm>
          <a:custGeom xmlns:a="http://schemas.openxmlformats.org/drawingml/2006/main">
            <a:pathLst>
              <a:path w="238125" h="76200">
                <a:moveTo>
                  <a:pt x="0" y="76200"/>
                </a:moveTo>
                <a:lnTo>
                  <a:pt x="76200" y="0"/>
                </a:lnTo>
                <a:lnTo>
                  <a:pt x="238125" y="0"/>
                </a:lnTo>
                <a:lnTo>
                  <a:pt x="161925" y="76200"/>
                </a:lnTo>
                <a:close/>
              </a:path>
            </a:pathLst>
          </a:custGeom>
          <a:solidFill xmlns:a="http://schemas.openxmlformats.org/drawingml/2006/main">
            <a:srgbClr val="DCEB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1" name="encoder-block-2-front">
            <a:extLst xmlns:a="http://schemas.openxmlformats.org/drawingml/2006/main">
              <a:ext uri="{FF2B5EF4-FFF2-40B4-BE49-F238E27FC236}">
                <a16:creationId xmlns:a16="http://schemas.microsoft.com/office/drawing/2014/main" id="{BEA395FC-3333-4A17-A134-52AB78A9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2114550"/>
            <a:ext cx="1809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FF"/>
          </a:solidFill>
          <a:ln xmlns:a="http://schemas.openxmlformats.org/drawingml/2006/main" w="15240">
            <a:solidFill>
              <a:srgbClr val="0057D9"/>
            </a:solidFill>
            <a:prstDash val="solid"/>
          </a:ln>
        </p:spPr>
      </p:sp>
      <p:sp>
        <p:nvSpPr>
          <p:cNvPr id="122" name="encoder-block-2-side">
            <a:extLst xmlns:a="http://schemas.openxmlformats.org/drawingml/2006/main">
              <a:ext uri="{FF2B5EF4-FFF2-40B4-BE49-F238E27FC236}">
                <a16:creationId xmlns:a16="http://schemas.microsoft.com/office/drawing/2014/main" id="{7B1A2B21-C751-4126-8A2E-816D9B75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38350"/>
            <a:ext cx="76200" cy="1247775"/>
          </a:xfrm>
          <a:custGeom xmlns:a="http://schemas.openxmlformats.org/drawingml/2006/main">
            <a:pathLst>
              <a:path w="76200" h="1247775">
                <a:moveTo>
                  <a:pt x="0" y="76200"/>
                </a:moveTo>
                <a:lnTo>
                  <a:pt x="76200" y="0"/>
                </a:lnTo>
                <a:lnTo>
                  <a:pt x="76200" y="1171575"/>
                </a:lnTo>
                <a:lnTo>
                  <a:pt x="0" y="1247775"/>
                </a:lnTo>
                <a:close/>
              </a:path>
            </a:pathLst>
          </a:custGeom>
          <a:solidFill xmlns:a="http://schemas.openxmlformats.org/drawingml/2006/main">
            <a:srgbClr val="7FB2F2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3" name="encoder-block-2-top">
            <a:extLst xmlns:a="http://schemas.openxmlformats.org/drawingml/2006/main">
              <a:ext uri="{FF2B5EF4-FFF2-40B4-BE49-F238E27FC236}">
                <a16:creationId xmlns:a16="http://schemas.microsoft.com/office/drawing/2014/main" id="{C33C354F-5A5B-40B0-9FF1-51EF0644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38350"/>
            <a:ext cx="257175" cy="76200"/>
          </a:xfrm>
          <a:custGeom xmlns:a="http://schemas.openxmlformats.org/drawingml/2006/main">
            <a:pathLst>
              <a:path w="257175" h="76200">
                <a:moveTo>
                  <a:pt x="0" y="76200"/>
                </a:moveTo>
                <a:lnTo>
                  <a:pt x="76200" y="0"/>
                </a:lnTo>
                <a:lnTo>
                  <a:pt x="257175" y="0"/>
                </a:lnTo>
                <a:lnTo>
                  <a:pt x="180975" y="76200"/>
                </a:lnTo>
                <a:close/>
              </a:path>
            </a:pathLst>
          </a:custGeom>
          <a:solidFill xmlns:a="http://schemas.openxmlformats.org/drawingml/2006/main">
            <a:srgbClr val="DCEB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4" name="encoder-block-3-front">
            <a:extLst xmlns:a="http://schemas.openxmlformats.org/drawingml/2006/main">
              <a:ext uri="{FF2B5EF4-FFF2-40B4-BE49-F238E27FC236}">
                <a16:creationId xmlns:a16="http://schemas.microsoft.com/office/drawing/2014/main" id="{C159A104-83C9-416D-B734-356FD456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19425" y="2286000"/>
            <a:ext cx="1714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FF"/>
          </a:solidFill>
          <a:ln xmlns:a="http://schemas.openxmlformats.org/drawingml/2006/main" w="15240">
            <a:solidFill>
              <a:srgbClr val="0057D9"/>
            </a:solidFill>
            <a:prstDash val="solid"/>
          </a:ln>
        </p:spPr>
      </p:sp>
      <p:sp>
        <p:nvSpPr>
          <p:cNvPr id="125" name="encoder-block-3-side">
            <a:extLst xmlns:a="http://schemas.openxmlformats.org/drawingml/2006/main">
              <a:ext uri="{FF2B5EF4-FFF2-40B4-BE49-F238E27FC236}">
                <a16:creationId xmlns:a16="http://schemas.microsoft.com/office/drawing/2014/main" id="{231BB7A4-8015-4340-8240-6BFCB169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09800"/>
            <a:ext cx="76200" cy="762000"/>
          </a:xfrm>
          <a:custGeom xmlns:a="http://schemas.openxmlformats.org/drawingml/2006/main">
            <a:pathLst>
              <a:path w="76200" h="762000">
                <a:moveTo>
                  <a:pt x="0" y="76200"/>
                </a:moveTo>
                <a:lnTo>
                  <a:pt x="76200" y="0"/>
                </a:lnTo>
                <a:lnTo>
                  <a:pt x="76200" y="685800"/>
                </a:lnTo>
                <a:lnTo>
                  <a:pt x="0" y="762000"/>
                </a:lnTo>
                <a:close/>
              </a:path>
            </a:pathLst>
          </a:custGeom>
          <a:solidFill xmlns:a="http://schemas.openxmlformats.org/drawingml/2006/main">
            <a:srgbClr val="7FB2F2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6" name="encoder-block-3-top">
            <a:extLst xmlns:a="http://schemas.openxmlformats.org/drawingml/2006/main">
              <a:ext uri="{FF2B5EF4-FFF2-40B4-BE49-F238E27FC236}">
                <a16:creationId xmlns:a16="http://schemas.microsoft.com/office/drawing/2014/main" id="{960C0BB8-2490-4636-89F1-F827F25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209800"/>
            <a:ext cx="247650" cy="76200"/>
          </a:xfrm>
          <a:custGeom xmlns:a="http://schemas.openxmlformats.org/drawingml/2006/main">
            <a:pathLst>
              <a:path w="247650" h="76200">
                <a:moveTo>
                  <a:pt x="0" y="76200"/>
                </a:moveTo>
                <a:lnTo>
                  <a:pt x="76200" y="0"/>
                </a:lnTo>
                <a:lnTo>
                  <a:pt x="247650" y="0"/>
                </a:lnTo>
                <a:lnTo>
                  <a:pt x="171450" y="76200"/>
                </a:lnTo>
                <a:close/>
              </a:path>
            </a:pathLst>
          </a:custGeom>
          <a:solidFill xmlns:a="http://schemas.openxmlformats.org/drawingml/2006/main">
            <a:srgbClr val="DCEB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7" name="encoder-block-4-front">
            <a:extLst xmlns:a="http://schemas.openxmlformats.org/drawingml/2006/main">
              <a:ext uri="{FF2B5EF4-FFF2-40B4-BE49-F238E27FC236}">
                <a16:creationId xmlns:a16="http://schemas.microsoft.com/office/drawing/2014/main" id="{7DA67A8D-7626-4E14-BA58-B5B97E4E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7575" y="2381250"/>
            <a:ext cx="1619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FF"/>
          </a:solidFill>
          <a:ln xmlns:a="http://schemas.openxmlformats.org/drawingml/2006/main" w="15240">
            <a:solidFill>
              <a:srgbClr val="0057D9"/>
            </a:solidFill>
            <a:prstDash val="solid"/>
          </a:ln>
        </p:spPr>
      </p:sp>
      <p:sp>
        <p:nvSpPr>
          <p:cNvPr id="128" name="encoder-block-4-side">
            <a:extLst xmlns:a="http://schemas.openxmlformats.org/drawingml/2006/main">
              <a:ext uri="{FF2B5EF4-FFF2-40B4-BE49-F238E27FC236}">
                <a16:creationId xmlns:a16="http://schemas.microsoft.com/office/drawing/2014/main" id="{7FC333BF-5479-41E9-B552-6C7F98BD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76200" cy="628650"/>
          </a:xfrm>
          <a:custGeom xmlns:a="http://schemas.openxmlformats.org/drawingml/2006/main">
            <a:pathLst>
              <a:path w="76200" h="628650">
                <a:moveTo>
                  <a:pt x="0" y="76200"/>
                </a:moveTo>
                <a:lnTo>
                  <a:pt x="76200" y="0"/>
                </a:lnTo>
                <a:lnTo>
                  <a:pt x="76200" y="552450"/>
                </a:lnTo>
                <a:lnTo>
                  <a:pt x="0" y="628650"/>
                </a:lnTo>
                <a:close/>
              </a:path>
            </a:pathLst>
          </a:custGeom>
          <a:solidFill xmlns:a="http://schemas.openxmlformats.org/drawingml/2006/main">
            <a:srgbClr val="7FB2F2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29" name="encoder-block-4-top">
            <a:extLst xmlns:a="http://schemas.openxmlformats.org/drawingml/2006/main">
              <a:ext uri="{FF2B5EF4-FFF2-40B4-BE49-F238E27FC236}">
                <a16:creationId xmlns:a16="http://schemas.microsoft.com/office/drawing/2014/main" id="{CE157B3C-4DF8-4B48-96BC-F5D6D2AE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05050"/>
            <a:ext cx="238125" cy="76200"/>
          </a:xfrm>
          <a:custGeom xmlns:a="http://schemas.openxmlformats.org/drawingml/2006/main">
            <a:pathLst>
              <a:path w="238125" h="76200">
                <a:moveTo>
                  <a:pt x="0" y="76200"/>
                </a:moveTo>
                <a:lnTo>
                  <a:pt x="76200" y="0"/>
                </a:lnTo>
                <a:lnTo>
                  <a:pt x="238125" y="0"/>
                </a:lnTo>
                <a:lnTo>
                  <a:pt x="161925" y="76200"/>
                </a:lnTo>
                <a:close/>
              </a:path>
            </a:pathLst>
          </a:custGeom>
          <a:solidFill xmlns:a="http://schemas.openxmlformats.org/drawingml/2006/main">
            <a:srgbClr val="DCEB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30" name="encoder-block-5-front">
            <a:extLst xmlns:a="http://schemas.openxmlformats.org/drawingml/2006/main">
              <a:ext uri="{FF2B5EF4-FFF2-40B4-BE49-F238E27FC236}">
                <a16:creationId xmlns:a16="http://schemas.microsoft.com/office/drawing/2014/main" id="{D12B96C3-E19B-4616-9DEA-95D58B7D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505075"/>
            <a:ext cx="152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FF"/>
          </a:solidFill>
          <a:ln xmlns:a="http://schemas.openxmlformats.org/drawingml/2006/main" w="15240">
            <a:solidFill>
              <a:srgbClr val="0057D9"/>
            </a:solidFill>
            <a:prstDash val="solid"/>
          </a:ln>
        </p:spPr>
      </p:sp>
      <p:sp>
        <p:nvSpPr>
          <p:cNvPr id="131" name="encoder-block-5-side">
            <a:extLst xmlns:a="http://schemas.openxmlformats.org/drawingml/2006/main">
              <a:ext uri="{FF2B5EF4-FFF2-40B4-BE49-F238E27FC236}">
                <a16:creationId xmlns:a16="http://schemas.microsoft.com/office/drawing/2014/main" id="{C6AB96CB-1441-4633-A645-3C46E40E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28875"/>
            <a:ext cx="76200" cy="504825"/>
          </a:xfrm>
          <a:custGeom xmlns:a="http://schemas.openxmlformats.org/drawingml/2006/main">
            <a:pathLst>
              <a:path w="76200" h="504825">
                <a:moveTo>
                  <a:pt x="0" y="76200"/>
                </a:moveTo>
                <a:lnTo>
                  <a:pt x="76200" y="0"/>
                </a:lnTo>
                <a:lnTo>
                  <a:pt x="76200" y="428625"/>
                </a:lnTo>
                <a:lnTo>
                  <a:pt x="0" y="504825"/>
                </a:lnTo>
                <a:close/>
              </a:path>
            </a:pathLst>
          </a:custGeom>
          <a:solidFill xmlns:a="http://schemas.openxmlformats.org/drawingml/2006/main">
            <a:srgbClr val="7FB2F2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32" name="encoder-block-5-top">
            <a:extLst xmlns:a="http://schemas.openxmlformats.org/drawingml/2006/main">
              <a:ext uri="{FF2B5EF4-FFF2-40B4-BE49-F238E27FC236}">
                <a16:creationId xmlns:a16="http://schemas.microsoft.com/office/drawing/2014/main" id="{73CFDAED-1889-4047-BB18-6B860A01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28875"/>
            <a:ext cx="228600" cy="76200"/>
          </a:xfrm>
          <a:custGeom xmlns:a="http://schemas.openxmlformats.org/drawingml/2006/main">
            <a:pathLst>
              <a:path w="228600" h="76200">
                <a:moveTo>
                  <a:pt x="0" y="76200"/>
                </a:moveTo>
                <a:lnTo>
                  <a:pt x="76200" y="0"/>
                </a:lnTo>
                <a:lnTo>
                  <a:pt x="228600" y="0"/>
                </a:lnTo>
                <a:lnTo>
                  <a:pt x="152400" y="76200"/>
                </a:lnTo>
                <a:close/>
              </a:path>
            </a:pathLst>
          </a:custGeom>
          <a:solidFill xmlns:a="http://schemas.openxmlformats.org/drawingml/2006/main">
            <a:srgbClr val="DCEB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33" name="latent-vector-front">
            <a:extLst xmlns:a="http://schemas.openxmlformats.org/drawingml/2006/main">
              <a:ext uri="{FF2B5EF4-FFF2-40B4-BE49-F238E27FC236}">
                <a16:creationId xmlns:a16="http://schemas.microsoft.com/office/drawing/2014/main" id="{F7EAF55F-5EEB-4022-8DD2-947D47F6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2000250"/>
            <a:ext cx="95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6FF"/>
          </a:solidFill>
          <a:ln xmlns:a="http://schemas.openxmlformats.org/drawingml/2006/main" w="15240">
            <a:solidFill>
              <a:srgbClr val="0057D9"/>
            </a:solidFill>
            <a:prstDash val="solid"/>
          </a:ln>
        </p:spPr>
      </p:sp>
      <p:sp>
        <p:nvSpPr>
          <p:cNvPr id="134" name="latent-vector-side">
            <a:extLst xmlns:a="http://schemas.openxmlformats.org/drawingml/2006/main">
              <a:ext uri="{FF2B5EF4-FFF2-40B4-BE49-F238E27FC236}">
                <a16:creationId xmlns:a16="http://schemas.microsoft.com/office/drawing/2014/main" id="{91AAB1E9-8AA8-4BA5-BBF5-625021B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8100" cy="1228725"/>
          </a:xfrm>
          <a:custGeom xmlns:a="http://schemas.openxmlformats.org/drawingml/2006/main">
            <a:pathLst>
              <a:path w="38100" h="1228725">
                <a:moveTo>
                  <a:pt x="0" y="38100"/>
                </a:moveTo>
                <a:lnTo>
                  <a:pt x="38100" y="0"/>
                </a:lnTo>
                <a:lnTo>
                  <a:pt x="38100" y="1190625"/>
                </a:lnTo>
                <a:lnTo>
                  <a:pt x="0" y="1228725"/>
                </a:lnTo>
                <a:close/>
              </a:path>
            </a:pathLst>
          </a:custGeom>
          <a:solidFill xmlns:a="http://schemas.openxmlformats.org/drawingml/2006/main">
            <a:srgbClr val="7FB2F2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35" name="latent-vector-top">
            <a:extLst xmlns:a="http://schemas.openxmlformats.org/drawingml/2006/main">
              <a:ext uri="{FF2B5EF4-FFF2-40B4-BE49-F238E27FC236}">
                <a16:creationId xmlns:a16="http://schemas.microsoft.com/office/drawing/2014/main" id="{31C13373-DC4C-470B-8ABA-8693E01F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133350" cy="38100"/>
          </a:xfrm>
          <a:custGeom xmlns:a="http://schemas.openxmlformats.org/drawingml/2006/main">
            <a:pathLst>
              <a:path w="133350" h="38100">
                <a:moveTo>
                  <a:pt x="0" y="38100"/>
                </a:moveTo>
                <a:lnTo>
                  <a:pt x="38100" y="0"/>
                </a:lnTo>
                <a:lnTo>
                  <a:pt x="133350" y="0"/>
                </a:lnTo>
                <a:lnTo>
                  <a:pt x="95250" y="38100"/>
                </a:lnTo>
                <a:close/>
              </a:path>
            </a:pathLst>
          </a:custGeom>
          <a:solidFill xmlns:a="http://schemas.openxmlformats.org/drawingml/2006/main">
            <a:srgbClr val="DCEBFF"/>
          </a:solidFill>
          <a:ln xmlns:a="http://schemas.openxmlformats.org/drawingml/2006/main" w="12383">
            <a:solidFill>
              <a:srgbClr val="0057D9"/>
            </a:solidFill>
            <a:prstDash val="solid"/>
          </a:ln>
        </p:spPr>
      </p:sp>
      <p:sp>
        <p:nvSpPr>
          <p:cNvPr id="136" name="encoder-title">
            <a:extLst xmlns:a="http://schemas.openxmlformats.org/drawingml/2006/main">
              <a:ext uri="{FF2B5EF4-FFF2-40B4-BE49-F238E27FC236}">
                <a16:creationId xmlns:a16="http://schemas.microsoft.com/office/drawing/2014/main" id="{7D78EECA-3DD9-44B8-8F0C-A734BACD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1295400"/>
            <a:ext cx="1866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57D9"/>
                </a:solidFill>
              </a:defRPr>
            </a:pPr>
            <a:r>
              <a:rPr sz="1425" b="1">
                <a:solidFill>
                  <a:srgbClr val="0057D9"/>
                </a:solidFill>
              </a:rPr>
              <a:t>Shared 1D</a:t>
            </a:r>
          </a:p>
          <a:p xmlns:a="http://schemas.openxmlformats.org/drawingml/2006/main">
            <a:pPr algn="ctr">
              <a:defRPr sz="1425" b="1">
                <a:solidFill>
                  <a:srgbClr val="0057D9"/>
                </a:solidFill>
              </a:defRPr>
            </a:pPr>
            <a:r>
              <a:rPr sz="1425" b="1">
                <a:solidFill>
                  <a:srgbClr val="0057D9"/>
                </a:solidFill>
              </a:rPr>
              <a:t>convolutional encoder E</a:t>
            </a:r>
          </a:p>
        </p:txBody>
      </p:sp>
      <p:sp>
        <p:nvSpPr>
          <p:cNvPr id="137" name="latent-title">
            <a:extLst xmlns:a="http://schemas.openxmlformats.org/drawingml/2006/main">
              <a:ext uri="{FF2B5EF4-FFF2-40B4-BE49-F238E27FC236}">
                <a16:creationId xmlns:a16="http://schemas.microsoft.com/office/drawing/2014/main" id="{3C0ABC88-2111-4E94-A355-87EC18F7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352550"/>
            <a:ext cx="133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57D9"/>
                </a:solidFill>
              </a:defRPr>
            </a:pPr>
            <a:r>
              <a:rPr sz="1050" b="1">
                <a:solidFill>
                  <a:srgbClr val="0057D9"/>
                </a:solidFill>
              </a:rPr>
              <a:t>Latent</a:t>
            </a:r>
          </a:p>
          <a:p xmlns:a="http://schemas.openxmlformats.org/drawingml/2006/main">
            <a:pPr algn="ctr">
              <a:defRPr sz="1050" b="1">
                <a:solidFill>
                  <a:srgbClr val="0057D9"/>
                </a:solidFill>
              </a:defRPr>
            </a:pPr>
            <a:r>
              <a:rPr sz="1050" b="1">
                <a:solidFill>
                  <a:srgbClr val="0057D9"/>
                </a:solidFill>
              </a:rPr>
              <a:t>representation z</a:t>
            </a:r>
          </a:p>
        </p:txBody>
      </p:sp>
      <p:sp>
        <p:nvSpPr>
          <p:cNvPr id="138" name="latent-label-pointer-segment-1">
            <a:extLst xmlns:a="http://schemas.openxmlformats.org/drawingml/2006/main">
              <a:ext uri="{FF2B5EF4-FFF2-40B4-BE49-F238E27FC236}">
                <a16:creationId xmlns:a16="http://schemas.microsoft.com/office/drawing/2014/main" id="{F3EE0DC5-2C1B-4128-860F-8B2923C6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24050"/>
            <a:ext cx="9525" cy="76200"/>
          </a:xfrm>
          <a:custGeom xmlns:a="http://schemas.openxmlformats.org/drawingml/2006/main">
            <a:pathLst>
              <a:path w="9525" h="76200">
                <a:moveTo>
                  <a:pt x="0" y="0"/>
                </a:move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57D9"/>
            </a:solidFill>
            <a:prstDash val="solid"/>
          </a:ln>
        </p:spPr>
      </p:sp>
      <p:sp>
        <p:nvSpPr>
          <p:cNvPr id="139" name="latent-label-pointer-head">
            <a:extLst xmlns:a="http://schemas.openxmlformats.org/drawingml/2006/main">
              <a:ext uri="{FF2B5EF4-FFF2-40B4-BE49-F238E27FC236}">
                <a16:creationId xmlns:a16="http://schemas.microsoft.com/office/drawing/2014/main" id="{DC40AA97-43AE-4DA8-A382-E7130F77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788" y="1933575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0"/>
                </a:moveTo>
                <a:lnTo>
                  <a:pt x="66675" y="0"/>
                </a:lnTo>
                <a:lnTo>
                  <a:pt x="33338" y="66675"/>
                </a:lnTo>
                <a:close/>
              </a:path>
            </a:pathLst>
          </a:custGeom>
          <a:solidFill xmlns:a="http://schemas.openxmlformats.org/drawingml/2006/main">
            <a:srgbClr val="0057D9"/>
          </a:solidFill>
          <a:ln xmlns:a="http://schemas.openxmlformats.org/drawingml/2006/main" w="4763">
            <a:solidFill>
              <a:srgbClr val="0057D9"/>
            </a:solidFill>
            <a:prstDash val="solid"/>
          </a:ln>
        </p:spPr>
      </p:sp>
      <p:sp>
        <p:nvSpPr>
          <p:cNvPr id="140" name="source-decoder-title">
            <a:extLst xmlns:a="http://schemas.openxmlformats.org/drawingml/2006/main">
              <a:ext uri="{FF2B5EF4-FFF2-40B4-BE49-F238E27FC236}">
                <a16:creationId xmlns:a16="http://schemas.microsoft.com/office/drawing/2014/main" id="{AFE4CDD3-5750-40A1-B1E8-D94A17E4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8700" y="400050"/>
            <a:ext cx="2895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7A2D"/>
                </a:solidFill>
              </a:defRPr>
            </a:pPr>
            <a:r>
              <a:rPr sz="1500" b="1">
                <a:solidFill>
                  <a:srgbClr val="137A2D"/>
                </a:solidFill>
              </a:rPr>
              <a:t>Full-length source decoder Dₓ</a:t>
            </a:r>
          </a:p>
        </p:txBody>
      </p:sp>
      <p:sp>
        <p:nvSpPr>
          <p:cNvPr id="141" name="source-decoder-block-1-front">
            <a:extLst xmlns:a="http://schemas.openxmlformats.org/drawingml/2006/main">
              <a:ext uri="{FF2B5EF4-FFF2-40B4-BE49-F238E27FC236}">
                <a16:creationId xmlns:a16="http://schemas.microsoft.com/office/drawing/2014/main" id="{E8D67CBF-3694-4EF6-B82C-69679775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8275" y="1181100"/>
            <a:ext cx="1619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6C6"/>
          </a:solidFill>
          <a:ln xmlns:a="http://schemas.openxmlformats.org/drawingml/2006/main" w="15240">
            <a:solidFill>
              <a:srgbClr val="137A2D"/>
            </a:solidFill>
            <a:prstDash val="solid"/>
          </a:ln>
        </p:spPr>
      </p:sp>
      <p:sp>
        <p:nvSpPr>
          <p:cNvPr id="142" name="source-decoder-block-1-side">
            <a:extLst xmlns:a="http://schemas.openxmlformats.org/drawingml/2006/main">
              <a:ext uri="{FF2B5EF4-FFF2-40B4-BE49-F238E27FC236}">
                <a16:creationId xmlns:a16="http://schemas.microsoft.com/office/drawing/2014/main" id="{CDDECDCC-2630-468C-86AC-1F40D9EC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114425"/>
            <a:ext cx="66675" cy="428625"/>
          </a:xfrm>
          <a:custGeom xmlns:a="http://schemas.openxmlformats.org/drawingml/2006/main">
            <a:pathLst>
              <a:path w="66675" h="428625">
                <a:moveTo>
                  <a:pt x="0" y="66675"/>
                </a:moveTo>
                <a:lnTo>
                  <a:pt x="66675" y="0"/>
                </a:lnTo>
                <a:lnTo>
                  <a:pt x="66675" y="361950"/>
                </a:lnTo>
                <a:lnTo>
                  <a:pt x="0" y="428625"/>
                </a:lnTo>
                <a:close/>
              </a:path>
            </a:pathLst>
          </a:custGeom>
          <a:solidFill xmlns:a="http://schemas.openxmlformats.org/drawingml/2006/main">
            <a:srgbClr val="7FC18D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43" name="source-decoder-block-1-top">
            <a:extLst xmlns:a="http://schemas.openxmlformats.org/drawingml/2006/main">
              <a:ext uri="{FF2B5EF4-FFF2-40B4-BE49-F238E27FC236}">
                <a16:creationId xmlns:a16="http://schemas.microsoft.com/office/drawing/2014/main" id="{71D2BF3C-BF48-4ED1-A56F-D394D0C2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114425"/>
            <a:ext cx="228600" cy="66675"/>
          </a:xfrm>
          <a:custGeom xmlns:a="http://schemas.openxmlformats.org/drawingml/2006/main">
            <a:pathLst>
              <a:path w="228600" h="66675">
                <a:moveTo>
                  <a:pt x="0" y="66675"/>
                </a:moveTo>
                <a:lnTo>
                  <a:pt x="66675" y="0"/>
                </a:lnTo>
                <a:lnTo>
                  <a:pt x="228600" y="0"/>
                </a:lnTo>
                <a:lnTo>
                  <a:pt x="161925" y="66675"/>
                </a:lnTo>
                <a:close/>
              </a:path>
            </a:pathLst>
          </a:custGeom>
          <a:solidFill xmlns:a="http://schemas.openxmlformats.org/drawingml/2006/main">
            <a:srgbClr val="DDF2E2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44" name="source-decoder-block-2-front">
            <a:extLst xmlns:a="http://schemas.openxmlformats.org/drawingml/2006/main">
              <a:ext uri="{FF2B5EF4-FFF2-40B4-BE49-F238E27FC236}">
                <a16:creationId xmlns:a16="http://schemas.microsoft.com/office/drawing/2014/main" id="{7BC571E6-6F0A-4F3A-B27A-4DB1CC5A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43575" y="1114425"/>
            <a:ext cx="180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6C6"/>
          </a:solidFill>
          <a:ln xmlns:a="http://schemas.openxmlformats.org/drawingml/2006/main" w="15240">
            <a:solidFill>
              <a:srgbClr val="137A2D"/>
            </a:solidFill>
            <a:prstDash val="solid"/>
          </a:ln>
        </p:spPr>
      </p:sp>
      <p:sp>
        <p:nvSpPr>
          <p:cNvPr id="145" name="source-decoder-block-2-side">
            <a:extLst xmlns:a="http://schemas.openxmlformats.org/drawingml/2006/main">
              <a:ext uri="{FF2B5EF4-FFF2-40B4-BE49-F238E27FC236}">
                <a16:creationId xmlns:a16="http://schemas.microsoft.com/office/drawing/2014/main" id="{F0B9FAE9-676D-464F-ADC9-6182EC0F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038225"/>
            <a:ext cx="76200" cy="685800"/>
          </a:xfrm>
          <a:custGeom xmlns:a="http://schemas.openxmlformats.org/drawingml/2006/main">
            <a:pathLst>
              <a:path w="76200" h="685800">
                <a:moveTo>
                  <a:pt x="0" y="7620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85800"/>
                </a:lnTo>
                <a:close/>
              </a:path>
            </a:pathLst>
          </a:custGeom>
          <a:solidFill xmlns:a="http://schemas.openxmlformats.org/drawingml/2006/main">
            <a:srgbClr val="7FC18D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46" name="source-decoder-block-2-top">
            <a:extLst xmlns:a="http://schemas.openxmlformats.org/drawingml/2006/main">
              <a:ext uri="{FF2B5EF4-FFF2-40B4-BE49-F238E27FC236}">
                <a16:creationId xmlns:a16="http://schemas.microsoft.com/office/drawing/2014/main" id="{19ABA40B-108A-4AB0-BCB4-2DB7D40D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038225"/>
            <a:ext cx="257175" cy="76200"/>
          </a:xfrm>
          <a:custGeom xmlns:a="http://schemas.openxmlformats.org/drawingml/2006/main">
            <a:pathLst>
              <a:path w="257175" h="76200">
                <a:moveTo>
                  <a:pt x="0" y="76200"/>
                </a:moveTo>
                <a:lnTo>
                  <a:pt x="76200" y="0"/>
                </a:lnTo>
                <a:lnTo>
                  <a:pt x="257175" y="0"/>
                </a:lnTo>
                <a:lnTo>
                  <a:pt x="180975" y="76200"/>
                </a:lnTo>
                <a:close/>
              </a:path>
            </a:pathLst>
          </a:custGeom>
          <a:solidFill xmlns:a="http://schemas.openxmlformats.org/drawingml/2006/main">
            <a:srgbClr val="DDF2E2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47" name="source-decoder-block-3-front">
            <a:extLst xmlns:a="http://schemas.openxmlformats.org/drawingml/2006/main">
              <a:ext uri="{FF2B5EF4-FFF2-40B4-BE49-F238E27FC236}">
                <a16:creationId xmlns:a16="http://schemas.microsoft.com/office/drawing/2014/main" id="{66F788AC-4D27-4408-9BDB-90FC17F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990600"/>
            <a:ext cx="190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6C6"/>
          </a:solidFill>
          <a:ln xmlns:a="http://schemas.openxmlformats.org/drawingml/2006/main" w="15240">
            <a:solidFill>
              <a:srgbClr val="137A2D"/>
            </a:solidFill>
            <a:prstDash val="solid"/>
          </a:ln>
        </p:spPr>
      </p:sp>
      <p:sp>
        <p:nvSpPr>
          <p:cNvPr id="148" name="source-decoder-block-3-side">
            <a:extLst xmlns:a="http://schemas.openxmlformats.org/drawingml/2006/main">
              <a:ext uri="{FF2B5EF4-FFF2-40B4-BE49-F238E27FC236}">
                <a16:creationId xmlns:a16="http://schemas.microsoft.com/office/drawing/2014/main" id="{B1597550-4E4C-4D99-9334-A48BB844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904875"/>
            <a:ext cx="85725" cy="876300"/>
          </a:xfrm>
          <a:custGeom xmlns:a="http://schemas.openxmlformats.org/drawingml/2006/main">
            <a:pathLst>
              <a:path w="85725" h="876300">
                <a:moveTo>
                  <a:pt x="0" y="85725"/>
                </a:moveTo>
                <a:lnTo>
                  <a:pt x="85725" y="0"/>
                </a:lnTo>
                <a:lnTo>
                  <a:pt x="85725" y="790575"/>
                </a:lnTo>
                <a:lnTo>
                  <a:pt x="0" y="876300"/>
                </a:lnTo>
                <a:close/>
              </a:path>
            </a:pathLst>
          </a:custGeom>
          <a:solidFill xmlns:a="http://schemas.openxmlformats.org/drawingml/2006/main">
            <a:srgbClr val="7FC18D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49" name="source-decoder-block-3-top">
            <a:extLst xmlns:a="http://schemas.openxmlformats.org/drawingml/2006/main">
              <a:ext uri="{FF2B5EF4-FFF2-40B4-BE49-F238E27FC236}">
                <a16:creationId xmlns:a16="http://schemas.microsoft.com/office/drawing/2014/main" id="{1258CC4B-8059-4888-B2D5-DB2D4B2C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04875"/>
            <a:ext cx="276225" cy="85725"/>
          </a:xfrm>
          <a:custGeom xmlns:a="http://schemas.openxmlformats.org/drawingml/2006/main">
            <a:pathLst>
              <a:path w="276225" h="85725">
                <a:moveTo>
                  <a:pt x="0" y="85725"/>
                </a:moveTo>
                <a:lnTo>
                  <a:pt x="85725" y="0"/>
                </a:lnTo>
                <a:lnTo>
                  <a:pt x="276225" y="0"/>
                </a:lnTo>
                <a:lnTo>
                  <a:pt x="190500" y="85725"/>
                </a:lnTo>
                <a:close/>
              </a:path>
            </a:pathLst>
          </a:custGeom>
          <a:solidFill xmlns:a="http://schemas.openxmlformats.org/drawingml/2006/main">
            <a:srgbClr val="DDF2E2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50" name="source-decoder-block-4-front">
            <a:extLst xmlns:a="http://schemas.openxmlformats.org/drawingml/2006/main">
              <a:ext uri="{FF2B5EF4-FFF2-40B4-BE49-F238E27FC236}">
                <a16:creationId xmlns:a16="http://schemas.microsoft.com/office/drawing/2014/main" id="{F764CD26-C130-4B1F-84E4-2C6FEF78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866775"/>
            <a:ext cx="2095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6C6"/>
          </a:solidFill>
          <a:ln xmlns:a="http://schemas.openxmlformats.org/drawingml/2006/main" w="15240">
            <a:solidFill>
              <a:srgbClr val="137A2D"/>
            </a:solidFill>
            <a:prstDash val="solid"/>
          </a:ln>
        </p:spPr>
      </p:sp>
      <p:sp>
        <p:nvSpPr>
          <p:cNvPr id="151" name="source-decoder-block-4-side">
            <a:extLst xmlns:a="http://schemas.openxmlformats.org/drawingml/2006/main">
              <a:ext uri="{FF2B5EF4-FFF2-40B4-BE49-F238E27FC236}">
                <a16:creationId xmlns:a16="http://schemas.microsoft.com/office/drawing/2014/main" id="{D1684F72-CA58-4594-83D1-4CAB7F57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781050"/>
            <a:ext cx="85725" cy="1123950"/>
          </a:xfrm>
          <a:custGeom xmlns:a="http://schemas.openxmlformats.org/drawingml/2006/main">
            <a:pathLst>
              <a:path w="85725" h="1123950">
                <a:moveTo>
                  <a:pt x="0" y="85725"/>
                </a:moveTo>
                <a:lnTo>
                  <a:pt x="85725" y="0"/>
                </a:lnTo>
                <a:lnTo>
                  <a:pt x="85725" y="1038225"/>
                </a:lnTo>
                <a:lnTo>
                  <a:pt x="0" y="1123950"/>
                </a:lnTo>
                <a:close/>
              </a:path>
            </a:pathLst>
          </a:custGeom>
          <a:solidFill xmlns:a="http://schemas.openxmlformats.org/drawingml/2006/main">
            <a:srgbClr val="7FC18D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52" name="source-decoder-block-4-top">
            <a:extLst xmlns:a="http://schemas.openxmlformats.org/drawingml/2006/main">
              <a:ext uri="{FF2B5EF4-FFF2-40B4-BE49-F238E27FC236}">
                <a16:creationId xmlns:a16="http://schemas.microsoft.com/office/drawing/2014/main" id="{F29BC788-E28C-40D4-8D8F-5BC65191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81050"/>
            <a:ext cx="295275" cy="85725"/>
          </a:xfrm>
          <a:custGeom xmlns:a="http://schemas.openxmlformats.org/drawingml/2006/main">
            <a:pathLst>
              <a:path w="295275" h="85725">
                <a:moveTo>
                  <a:pt x="0" y="85725"/>
                </a:moveTo>
                <a:lnTo>
                  <a:pt x="85725" y="0"/>
                </a:lnTo>
                <a:lnTo>
                  <a:pt x="295275" y="0"/>
                </a:lnTo>
                <a:lnTo>
                  <a:pt x="209550" y="85725"/>
                </a:lnTo>
                <a:close/>
              </a:path>
            </a:pathLst>
          </a:custGeom>
          <a:solidFill xmlns:a="http://schemas.openxmlformats.org/drawingml/2006/main">
            <a:srgbClr val="DDF2E2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53" name="source-decoder-block-5-front">
            <a:extLst xmlns:a="http://schemas.openxmlformats.org/drawingml/2006/main">
              <a:ext uri="{FF2B5EF4-FFF2-40B4-BE49-F238E27FC236}">
                <a16:creationId xmlns:a16="http://schemas.microsoft.com/office/drawing/2014/main" id="{89215FD5-14C1-496D-BA79-9056F47B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53300" y="666750"/>
            <a:ext cx="20002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E6C6"/>
          </a:solidFill>
          <a:ln xmlns:a="http://schemas.openxmlformats.org/drawingml/2006/main" w="15240">
            <a:solidFill>
              <a:srgbClr val="137A2D"/>
            </a:solidFill>
            <a:prstDash val="solid"/>
          </a:ln>
        </p:spPr>
      </p:sp>
      <p:sp>
        <p:nvSpPr>
          <p:cNvPr id="154" name="source-decoder-block-5-side">
            <a:extLst xmlns:a="http://schemas.openxmlformats.org/drawingml/2006/main">
              <a:ext uri="{FF2B5EF4-FFF2-40B4-BE49-F238E27FC236}">
                <a16:creationId xmlns:a16="http://schemas.microsoft.com/office/drawing/2014/main" id="{36296E71-1046-40A1-B344-F01C188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81025"/>
            <a:ext cx="85725" cy="1409700"/>
          </a:xfrm>
          <a:custGeom xmlns:a="http://schemas.openxmlformats.org/drawingml/2006/main">
            <a:pathLst>
              <a:path w="85725" h="1409700">
                <a:moveTo>
                  <a:pt x="0" y="85725"/>
                </a:moveTo>
                <a:lnTo>
                  <a:pt x="85725" y="0"/>
                </a:lnTo>
                <a:lnTo>
                  <a:pt x="85725" y="1323975"/>
                </a:lnTo>
                <a:lnTo>
                  <a:pt x="0" y="1409700"/>
                </a:lnTo>
                <a:close/>
              </a:path>
            </a:pathLst>
          </a:custGeom>
          <a:solidFill xmlns:a="http://schemas.openxmlformats.org/drawingml/2006/main">
            <a:srgbClr val="7FC18D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55" name="source-decoder-block-5-top">
            <a:extLst xmlns:a="http://schemas.openxmlformats.org/drawingml/2006/main">
              <a:ext uri="{FF2B5EF4-FFF2-40B4-BE49-F238E27FC236}">
                <a16:creationId xmlns:a16="http://schemas.microsoft.com/office/drawing/2014/main" id="{BD27D7FE-F80D-4543-AE05-9C4100DB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1025"/>
            <a:ext cx="285750" cy="85725"/>
          </a:xfrm>
          <a:custGeom xmlns:a="http://schemas.openxmlformats.org/drawingml/2006/main">
            <a:pathLst>
              <a:path w="285750" h="85725">
                <a:moveTo>
                  <a:pt x="0" y="85725"/>
                </a:moveTo>
                <a:lnTo>
                  <a:pt x="85725" y="0"/>
                </a:lnTo>
                <a:lnTo>
                  <a:pt x="285750" y="0"/>
                </a:lnTo>
                <a:lnTo>
                  <a:pt x="200025" y="85725"/>
                </a:lnTo>
                <a:close/>
              </a:path>
            </a:pathLst>
          </a:custGeom>
          <a:solidFill xmlns:a="http://schemas.openxmlformats.org/drawingml/2006/main">
            <a:srgbClr val="DDF2E2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56" name="response-decoder-title">
            <a:extLst xmlns:a="http://schemas.openxmlformats.org/drawingml/2006/main">
              <a:ext uri="{FF2B5EF4-FFF2-40B4-BE49-F238E27FC236}">
                <a16:creationId xmlns:a16="http://schemas.microsoft.com/office/drawing/2014/main" id="{F10F71B4-5147-4EE0-90AB-FF6419EC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0956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05A00"/>
                </a:solidFill>
              </a:defRPr>
            </a:pPr>
            <a:r>
              <a:rPr sz="1500" b="1">
                <a:solidFill>
                  <a:srgbClr val="F05A00"/>
                </a:solidFill>
              </a:rPr>
              <a:t>Causal response decoder Dₕ</a:t>
            </a:r>
          </a:p>
        </p:txBody>
      </p:sp>
      <p:sp>
        <p:nvSpPr>
          <p:cNvPr id="157" name="response-decoder-block-1-front">
            <a:extLst xmlns:a="http://schemas.openxmlformats.org/drawingml/2006/main">
              <a:ext uri="{FF2B5EF4-FFF2-40B4-BE49-F238E27FC236}">
                <a16:creationId xmlns:a16="http://schemas.microsoft.com/office/drawing/2014/main" id="{99415588-0D5F-4559-B83A-02CDAE11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29225" y="3552825"/>
            <a:ext cx="171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B0"/>
          </a:solidFill>
          <a:ln xmlns:a="http://schemas.openxmlformats.org/drawingml/2006/main" w="15240">
            <a:solidFill>
              <a:srgbClr val="F05A00"/>
            </a:solidFill>
            <a:prstDash val="solid"/>
          </a:ln>
        </p:spPr>
      </p:sp>
      <p:sp>
        <p:nvSpPr>
          <p:cNvPr id="158" name="response-decoder-block-1-side">
            <a:extLst xmlns:a="http://schemas.openxmlformats.org/drawingml/2006/main">
              <a:ext uri="{FF2B5EF4-FFF2-40B4-BE49-F238E27FC236}">
                <a16:creationId xmlns:a16="http://schemas.microsoft.com/office/drawing/2014/main" id="{E02832B4-D562-49A2-9CC7-DE4BFC24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76625"/>
            <a:ext cx="76200" cy="857250"/>
          </a:xfrm>
          <a:custGeom xmlns:a="http://schemas.openxmlformats.org/drawingml/2006/main">
            <a:pathLst>
              <a:path w="76200" h="857250">
                <a:moveTo>
                  <a:pt x="0" y="76200"/>
                </a:moveTo>
                <a:lnTo>
                  <a:pt x="76200" y="0"/>
                </a:lnTo>
                <a:lnTo>
                  <a:pt x="76200" y="781050"/>
                </a:lnTo>
                <a:lnTo>
                  <a:pt x="0" y="857250"/>
                </a:lnTo>
                <a:close/>
              </a:path>
            </a:pathLst>
          </a:custGeom>
          <a:solidFill xmlns:a="http://schemas.openxmlformats.org/drawingml/2006/main">
            <a:srgbClr val="F6A16F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59" name="response-decoder-block-1-top">
            <a:extLst xmlns:a="http://schemas.openxmlformats.org/drawingml/2006/main">
              <a:ext uri="{FF2B5EF4-FFF2-40B4-BE49-F238E27FC236}">
                <a16:creationId xmlns:a16="http://schemas.microsoft.com/office/drawing/2014/main" id="{4CA0053D-3775-4EF8-A53F-A5B4AA16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476625"/>
            <a:ext cx="247650" cy="76200"/>
          </a:xfrm>
          <a:custGeom xmlns:a="http://schemas.openxmlformats.org/drawingml/2006/main">
            <a:pathLst>
              <a:path w="247650" h="76200">
                <a:moveTo>
                  <a:pt x="0" y="76200"/>
                </a:moveTo>
                <a:lnTo>
                  <a:pt x="76200" y="0"/>
                </a:lnTo>
                <a:lnTo>
                  <a:pt x="247650" y="0"/>
                </a:lnTo>
                <a:lnTo>
                  <a:pt x="171450" y="76200"/>
                </a:lnTo>
                <a:close/>
              </a:path>
            </a:pathLst>
          </a:custGeom>
          <a:solidFill xmlns:a="http://schemas.openxmlformats.org/drawingml/2006/main">
            <a:srgbClr val="FFE5D3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0" name="response-decoder-block-2-front">
            <a:extLst xmlns:a="http://schemas.openxmlformats.org/drawingml/2006/main">
              <a:ext uri="{FF2B5EF4-FFF2-40B4-BE49-F238E27FC236}">
                <a16:creationId xmlns:a16="http://schemas.microsoft.com/office/drawing/2014/main" id="{961AAC99-9364-4054-97F3-9BFF64E9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475" y="3638550"/>
            <a:ext cx="1809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B0"/>
          </a:solidFill>
          <a:ln xmlns:a="http://schemas.openxmlformats.org/drawingml/2006/main" w="15240">
            <a:solidFill>
              <a:srgbClr val="F05A00"/>
            </a:solidFill>
            <a:prstDash val="solid"/>
          </a:ln>
        </p:spPr>
      </p:sp>
      <p:sp>
        <p:nvSpPr>
          <p:cNvPr id="161" name="response-decoder-block-2-side">
            <a:extLst xmlns:a="http://schemas.openxmlformats.org/drawingml/2006/main">
              <a:ext uri="{FF2B5EF4-FFF2-40B4-BE49-F238E27FC236}">
                <a16:creationId xmlns:a16="http://schemas.microsoft.com/office/drawing/2014/main" id="{96E8DC67-A148-4965-9325-5DA4DE01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62350"/>
            <a:ext cx="76200" cy="685800"/>
          </a:xfrm>
          <a:custGeom xmlns:a="http://schemas.openxmlformats.org/drawingml/2006/main">
            <a:pathLst>
              <a:path w="76200" h="685800">
                <a:moveTo>
                  <a:pt x="0" y="76200"/>
                </a:moveTo>
                <a:lnTo>
                  <a:pt x="76200" y="0"/>
                </a:lnTo>
                <a:lnTo>
                  <a:pt x="76200" y="609600"/>
                </a:lnTo>
                <a:lnTo>
                  <a:pt x="0" y="685800"/>
                </a:lnTo>
                <a:close/>
              </a:path>
            </a:pathLst>
          </a:custGeom>
          <a:solidFill xmlns:a="http://schemas.openxmlformats.org/drawingml/2006/main">
            <a:srgbClr val="F6A16F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2" name="response-decoder-block-2-top">
            <a:extLst xmlns:a="http://schemas.openxmlformats.org/drawingml/2006/main">
              <a:ext uri="{FF2B5EF4-FFF2-40B4-BE49-F238E27FC236}">
                <a16:creationId xmlns:a16="http://schemas.microsoft.com/office/drawing/2014/main" id="{5294E61B-38D7-44F2-BF2A-96AAA1D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562350"/>
            <a:ext cx="257175" cy="76200"/>
          </a:xfrm>
          <a:custGeom xmlns:a="http://schemas.openxmlformats.org/drawingml/2006/main">
            <a:pathLst>
              <a:path w="257175" h="76200">
                <a:moveTo>
                  <a:pt x="0" y="76200"/>
                </a:moveTo>
                <a:lnTo>
                  <a:pt x="76200" y="0"/>
                </a:lnTo>
                <a:lnTo>
                  <a:pt x="257175" y="0"/>
                </a:lnTo>
                <a:lnTo>
                  <a:pt x="180975" y="76200"/>
                </a:lnTo>
                <a:close/>
              </a:path>
            </a:pathLst>
          </a:custGeom>
          <a:solidFill xmlns:a="http://schemas.openxmlformats.org/drawingml/2006/main">
            <a:srgbClr val="FFE5D3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3" name="response-decoder-block-3-front">
            <a:extLst xmlns:a="http://schemas.openxmlformats.org/drawingml/2006/main">
              <a:ext uri="{FF2B5EF4-FFF2-40B4-BE49-F238E27FC236}">
                <a16:creationId xmlns:a16="http://schemas.microsoft.com/office/drawing/2014/main" id="{C9D90459-CC10-4F26-B49F-97BC1C1E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695700"/>
            <a:ext cx="171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B0"/>
          </a:solidFill>
          <a:ln xmlns:a="http://schemas.openxmlformats.org/drawingml/2006/main" w="15240">
            <a:solidFill>
              <a:srgbClr val="F05A00"/>
            </a:solidFill>
            <a:prstDash val="solid"/>
          </a:ln>
        </p:spPr>
      </p:sp>
      <p:sp>
        <p:nvSpPr>
          <p:cNvPr id="164" name="response-decoder-block-3-side">
            <a:extLst xmlns:a="http://schemas.openxmlformats.org/drawingml/2006/main">
              <a:ext uri="{FF2B5EF4-FFF2-40B4-BE49-F238E27FC236}">
                <a16:creationId xmlns:a16="http://schemas.microsoft.com/office/drawing/2014/main" id="{B1A549F1-2A14-47AE-8C16-05378974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76200" cy="571500"/>
          </a:xfrm>
          <a:custGeom xmlns:a="http://schemas.openxmlformats.org/drawingml/2006/main">
            <a:pathLst>
              <a:path w="76200" h="571500">
                <a:moveTo>
                  <a:pt x="0" y="76200"/>
                </a:moveTo>
                <a:lnTo>
                  <a:pt x="76200" y="0"/>
                </a:lnTo>
                <a:lnTo>
                  <a:pt x="76200" y="4953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6A16F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5" name="response-decoder-block-3-top">
            <a:extLst xmlns:a="http://schemas.openxmlformats.org/drawingml/2006/main">
              <a:ext uri="{FF2B5EF4-FFF2-40B4-BE49-F238E27FC236}">
                <a16:creationId xmlns:a16="http://schemas.microsoft.com/office/drawing/2014/main" id="{5F2EA926-824B-43AB-ADB7-6F216ECB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19500"/>
            <a:ext cx="247650" cy="76200"/>
          </a:xfrm>
          <a:custGeom xmlns:a="http://schemas.openxmlformats.org/drawingml/2006/main">
            <a:pathLst>
              <a:path w="247650" h="76200">
                <a:moveTo>
                  <a:pt x="0" y="76200"/>
                </a:moveTo>
                <a:lnTo>
                  <a:pt x="76200" y="0"/>
                </a:lnTo>
                <a:lnTo>
                  <a:pt x="247650" y="0"/>
                </a:lnTo>
                <a:lnTo>
                  <a:pt x="171450" y="76200"/>
                </a:lnTo>
                <a:close/>
              </a:path>
            </a:pathLst>
          </a:custGeom>
          <a:solidFill xmlns:a="http://schemas.openxmlformats.org/drawingml/2006/main">
            <a:srgbClr val="FFE5D3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6" name="response-decoder-block-4-front">
            <a:extLst xmlns:a="http://schemas.openxmlformats.org/drawingml/2006/main">
              <a:ext uri="{FF2B5EF4-FFF2-40B4-BE49-F238E27FC236}">
                <a16:creationId xmlns:a16="http://schemas.microsoft.com/office/drawing/2014/main" id="{A1323E4C-A793-41A6-93DF-35836CA0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3733800"/>
            <a:ext cx="1714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B0"/>
          </a:solidFill>
          <a:ln xmlns:a="http://schemas.openxmlformats.org/drawingml/2006/main" w="15240">
            <a:solidFill>
              <a:srgbClr val="F05A00"/>
            </a:solidFill>
            <a:prstDash val="solid"/>
          </a:ln>
        </p:spPr>
      </p:sp>
      <p:sp>
        <p:nvSpPr>
          <p:cNvPr id="167" name="response-decoder-block-4-side">
            <a:extLst xmlns:a="http://schemas.openxmlformats.org/drawingml/2006/main">
              <a:ext uri="{FF2B5EF4-FFF2-40B4-BE49-F238E27FC236}">
                <a16:creationId xmlns:a16="http://schemas.microsoft.com/office/drawing/2014/main" id="{CFEDC8A9-A850-4EA1-B7E4-1C1B1514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76200" cy="504825"/>
          </a:xfrm>
          <a:custGeom xmlns:a="http://schemas.openxmlformats.org/drawingml/2006/main">
            <a:pathLst>
              <a:path w="76200" h="504825">
                <a:moveTo>
                  <a:pt x="0" y="76200"/>
                </a:moveTo>
                <a:lnTo>
                  <a:pt x="76200" y="0"/>
                </a:lnTo>
                <a:lnTo>
                  <a:pt x="76200" y="428625"/>
                </a:lnTo>
                <a:lnTo>
                  <a:pt x="0" y="504825"/>
                </a:lnTo>
                <a:close/>
              </a:path>
            </a:pathLst>
          </a:custGeom>
          <a:solidFill xmlns:a="http://schemas.openxmlformats.org/drawingml/2006/main">
            <a:srgbClr val="F6A16F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8" name="response-decoder-block-4-top">
            <a:extLst xmlns:a="http://schemas.openxmlformats.org/drawingml/2006/main">
              <a:ext uri="{FF2B5EF4-FFF2-40B4-BE49-F238E27FC236}">
                <a16:creationId xmlns:a16="http://schemas.microsoft.com/office/drawing/2014/main" id="{9588ABBB-8A4C-4DBB-BFFC-501BBAA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247650" cy="76200"/>
          </a:xfrm>
          <a:custGeom xmlns:a="http://schemas.openxmlformats.org/drawingml/2006/main">
            <a:pathLst>
              <a:path w="247650" h="76200">
                <a:moveTo>
                  <a:pt x="0" y="76200"/>
                </a:moveTo>
                <a:lnTo>
                  <a:pt x="76200" y="0"/>
                </a:lnTo>
                <a:lnTo>
                  <a:pt x="247650" y="0"/>
                </a:lnTo>
                <a:lnTo>
                  <a:pt x="171450" y="76200"/>
                </a:lnTo>
                <a:close/>
              </a:path>
            </a:pathLst>
          </a:custGeom>
          <a:solidFill xmlns:a="http://schemas.openxmlformats.org/drawingml/2006/main">
            <a:srgbClr val="FFE5D3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69" name="source-waveform-frame">
            <a:extLst xmlns:a="http://schemas.openxmlformats.org/drawingml/2006/main">
              <a:ext uri="{FF2B5EF4-FFF2-40B4-BE49-F238E27FC236}">
                <a16:creationId xmlns:a16="http://schemas.microsoft.com/office/drawing/2014/main" id="{C6E7D2DA-C8EA-4139-B71B-1353FD65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857250"/>
            <a:ext cx="1371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37A2D"/>
            </a:solidFill>
            <a:prstDash val="solid"/>
          </a:ln>
        </p:spPr>
      </p:sp>
      <p:sp>
        <p:nvSpPr>
          <p:cNvPr id="170" name="source-waveform-editable-waveform">
            <a:extLst xmlns:a="http://schemas.openxmlformats.org/drawingml/2006/main">
              <a:ext uri="{FF2B5EF4-FFF2-40B4-BE49-F238E27FC236}">
                <a16:creationId xmlns:a16="http://schemas.microsoft.com/office/drawing/2014/main" id="{7F3159B8-3DB0-4189-8B9E-0DAB455E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57250"/>
            <a:ext cx="1371600" cy="695325"/>
          </a:xfrm>
          <a:custGeom xmlns:a="http://schemas.openxmlformats.org/drawingml/2006/main">
            <a:pathLst>
              <a:path w="1371600" h="695325">
                <a:moveTo>
                  <a:pt x="57150" y="326621"/>
                </a:moveTo>
                <a:lnTo>
                  <a:pt x="65588" y="192568"/>
                </a:lnTo>
                <a:lnTo>
                  <a:pt x="74027" y="317250"/>
                </a:lnTo>
                <a:lnTo>
                  <a:pt x="82465" y="379656"/>
                </a:lnTo>
                <a:lnTo>
                  <a:pt x="90903" y="381776"/>
                </a:lnTo>
                <a:lnTo>
                  <a:pt x="99341" y="457441"/>
                </a:lnTo>
                <a:lnTo>
                  <a:pt x="107780" y="363651"/>
                </a:lnTo>
                <a:lnTo>
                  <a:pt x="116218" y="177743"/>
                </a:lnTo>
                <a:lnTo>
                  <a:pt x="124656" y="278172"/>
                </a:lnTo>
                <a:lnTo>
                  <a:pt x="133094" y="459376"/>
                </a:lnTo>
                <a:lnTo>
                  <a:pt x="141533" y="413734"/>
                </a:lnTo>
                <a:lnTo>
                  <a:pt x="149971" y="361598"/>
                </a:lnTo>
                <a:lnTo>
                  <a:pt x="158409" y="354586"/>
                </a:lnTo>
                <a:lnTo>
                  <a:pt x="166847" y="235416"/>
                </a:lnTo>
                <a:lnTo>
                  <a:pt x="175286" y="250458"/>
                </a:lnTo>
                <a:lnTo>
                  <a:pt x="183724" y="466443"/>
                </a:lnTo>
                <a:lnTo>
                  <a:pt x="192162" y="475365"/>
                </a:lnTo>
                <a:lnTo>
                  <a:pt x="200600" y="303082"/>
                </a:lnTo>
                <a:lnTo>
                  <a:pt x="209039" y="285784"/>
                </a:lnTo>
                <a:lnTo>
                  <a:pt x="217477" y="306610"/>
                </a:lnTo>
                <a:lnTo>
                  <a:pt x="225915" y="286801"/>
                </a:lnTo>
                <a:lnTo>
                  <a:pt x="234353" y="419421"/>
                </a:lnTo>
                <a:lnTo>
                  <a:pt x="242792" y="498914"/>
                </a:lnTo>
                <a:lnTo>
                  <a:pt x="251230" y="311005"/>
                </a:lnTo>
                <a:lnTo>
                  <a:pt x="259668" y="208880"/>
                </a:lnTo>
                <a:lnTo>
                  <a:pt x="268106" y="329704"/>
                </a:lnTo>
                <a:lnTo>
                  <a:pt x="276545" y="375823"/>
                </a:lnTo>
                <a:lnTo>
                  <a:pt x="284983" y="383008"/>
                </a:lnTo>
                <a:lnTo>
                  <a:pt x="293421" y="449911"/>
                </a:lnTo>
                <a:lnTo>
                  <a:pt x="301859" y="347106"/>
                </a:lnTo>
                <a:lnTo>
                  <a:pt x="310298" y="188148"/>
                </a:lnTo>
                <a:lnTo>
                  <a:pt x="318736" y="300205"/>
                </a:lnTo>
                <a:lnTo>
                  <a:pt x="327174" y="453877"/>
                </a:lnTo>
                <a:lnTo>
                  <a:pt x="335612" y="401045"/>
                </a:lnTo>
                <a:lnTo>
                  <a:pt x="344051" y="361087"/>
                </a:lnTo>
                <a:lnTo>
                  <a:pt x="352489" y="348898"/>
                </a:lnTo>
                <a:lnTo>
                  <a:pt x="360927" y="237176"/>
                </a:lnTo>
                <a:lnTo>
                  <a:pt x="369365" y="270934"/>
                </a:lnTo>
                <a:lnTo>
                  <a:pt x="377804" y="468037"/>
                </a:lnTo>
                <a:lnTo>
                  <a:pt x="386242" y="453808"/>
                </a:lnTo>
                <a:lnTo>
                  <a:pt x="394680" y="298908"/>
                </a:lnTo>
                <a:lnTo>
                  <a:pt x="403118" y="294508"/>
                </a:lnTo>
                <a:lnTo>
                  <a:pt x="411557" y="307732"/>
                </a:lnTo>
                <a:lnTo>
                  <a:pt x="419995" y="295306"/>
                </a:lnTo>
                <a:lnTo>
                  <a:pt x="428433" y="426039"/>
                </a:lnTo>
                <a:lnTo>
                  <a:pt x="436871" y="480595"/>
                </a:lnTo>
                <a:lnTo>
                  <a:pt x="445310" y="298557"/>
                </a:lnTo>
                <a:lnTo>
                  <a:pt x="453748" y="224145"/>
                </a:lnTo>
                <a:lnTo>
                  <a:pt x="462186" y="339491"/>
                </a:lnTo>
                <a:lnTo>
                  <a:pt x="470624" y="372340"/>
                </a:lnTo>
                <a:lnTo>
                  <a:pt x="479063" y="384630"/>
                </a:lnTo>
                <a:lnTo>
                  <a:pt x="487501" y="442385"/>
                </a:lnTo>
                <a:lnTo>
                  <a:pt x="495939" y="332705"/>
                </a:lnTo>
                <a:lnTo>
                  <a:pt x="504378" y="198806"/>
                </a:lnTo>
                <a:lnTo>
                  <a:pt x="512816" y="319004"/>
                </a:lnTo>
                <a:lnTo>
                  <a:pt x="521254" y="447769"/>
                </a:lnTo>
                <a:lnTo>
                  <a:pt x="529692" y="390587"/>
                </a:lnTo>
                <a:lnTo>
                  <a:pt x="538131" y="360925"/>
                </a:lnTo>
                <a:lnTo>
                  <a:pt x="546569" y="343254"/>
                </a:lnTo>
                <a:lnTo>
                  <a:pt x="555007" y="239590"/>
                </a:lnTo>
                <a:lnTo>
                  <a:pt x="563445" y="289421"/>
                </a:lnTo>
                <a:lnTo>
                  <a:pt x="571884" y="467943"/>
                </a:lnTo>
                <a:lnTo>
                  <a:pt x="580322" y="434671"/>
                </a:lnTo>
                <a:lnTo>
                  <a:pt x="588760" y="296500"/>
                </a:lnTo>
                <a:lnTo>
                  <a:pt x="597198" y="301894"/>
                </a:lnTo>
                <a:lnTo>
                  <a:pt x="605637" y="308345"/>
                </a:lnTo>
                <a:lnTo>
                  <a:pt x="614075" y="303580"/>
                </a:lnTo>
                <a:lnTo>
                  <a:pt x="622513" y="431262"/>
                </a:lnTo>
                <a:lnTo>
                  <a:pt x="630951" y="463439"/>
                </a:lnTo>
                <a:lnTo>
                  <a:pt x="639390" y="288722"/>
                </a:lnTo>
                <a:lnTo>
                  <a:pt x="647828" y="238342"/>
                </a:lnTo>
                <a:lnTo>
                  <a:pt x="656266" y="347099"/>
                </a:lnTo>
                <a:lnTo>
                  <a:pt x="664704" y="369283"/>
                </a:lnTo>
                <a:lnTo>
                  <a:pt x="673143" y="386526"/>
                </a:lnTo>
                <a:lnTo>
                  <a:pt x="681581" y="434867"/>
                </a:lnTo>
                <a:lnTo>
                  <a:pt x="690019" y="320151"/>
                </a:lnTo>
                <a:lnTo>
                  <a:pt x="698457" y="209544"/>
                </a:lnTo>
                <a:lnTo>
                  <a:pt x="706896" y="335044"/>
                </a:lnTo>
                <a:lnTo>
                  <a:pt x="715334" y="441326"/>
                </a:lnTo>
                <a:lnTo>
                  <a:pt x="723772" y="382030"/>
                </a:lnTo>
                <a:lnTo>
                  <a:pt x="732210" y="360935"/>
                </a:lnTo>
                <a:lnTo>
                  <a:pt x="740649" y="337666"/>
                </a:lnTo>
                <a:lnTo>
                  <a:pt x="749087" y="242559"/>
                </a:lnTo>
                <a:lnTo>
                  <a:pt x="757525" y="306157"/>
                </a:lnTo>
                <a:lnTo>
                  <a:pt x="765963" y="466523"/>
                </a:lnTo>
                <a:lnTo>
                  <a:pt x="774402" y="417676"/>
                </a:lnTo>
                <a:lnTo>
                  <a:pt x="782840" y="295452"/>
                </a:lnTo>
                <a:lnTo>
                  <a:pt x="791278" y="308071"/>
                </a:lnTo>
                <a:lnTo>
                  <a:pt x="799716" y="308620"/>
                </a:lnTo>
                <a:lnTo>
                  <a:pt x="808155" y="311659"/>
                </a:lnTo>
                <a:lnTo>
                  <a:pt x="816593" y="435290"/>
                </a:lnTo>
                <a:lnTo>
                  <a:pt x="825031" y="447358"/>
                </a:lnTo>
                <a:lnTo>
                  <a:pt x="833469" y="281052"/>
                </a:lnTo>
                <a:lnTo>
                  <a:pt x="841908" y="251497"/>
                </a:lnTo>
                <a:lnTo>
                  <a:pt x="850346" y="352928"/>
                </a:lnTo>
                <a:lnTo>
                  <a:pt x="858784" y="366693"/>
                </a:lnTo>
                <a:lnTo>
                  <a:pt x="867222" y="388600"/>
                </a:lnTo>
                <a:lnTo>
                  <a:pt x="875661" y="427343"/>
                </a:lnTo>
                <a:lnTo>
                  <a:pt x="884099" y="309193"/>
                </a:lnTo>
                <a:lnTo>
                  <a:pt x="892537" y="220259"/>
                </a:lnTo>
                <a:lnTo>
                  <a:pt x="900976" y="348730"/>
                </a:lnTo>
                <a:lnTo>
                  <a:pt x="909414" y="434741"/>
                </a:lnTo>
                <a:lnTo>
                  <a:pt x="917852" y="375085"/>
                </a:lnTo>
                <a:lnTo>
                  <a:pt x="926290" y="360985"/>
                </a:lnTo>
                <a:lnTo>
                  <a:pt x="934729" y="332147"/>
                </a:lnTo>
                <a:lnTo>
                  <a:pt x="943167" y="246016"/>
                </a:lnTo>
                <a:lnTo>
                  <a:pt x="951605" y="321357"/>
                </a:lnTo>
                <a:lnTo>
                  <a:pt x="960043" y="464049"/>
                </a:lnTo>
                <a:lnTo>
                  <a:pt x="968482" y="402572"/>
                </a:lnTo>
                <a:lnTo>
                  <a:pt x="976920" y="295447"/>
                </a:lnTo>
                <a:lnTo>
                  <a:pt x="985358" y="313165"/>
                </a:lnTo>
                <a:lnTo>
                  <a:pt x="993796" y="308693"/>
                </a:lnTo>
                <a:lnTo>
                  <a:pt x="1002235" y="319578"/>
                </a:lnTo>
                <a:lnTo>
                  <a:pt x="1010673" y="438278"/>
                </a:lnTo>
                <a:lnTo>
                  <a:pt x="1019111" y="432252"/>
                </a:lnTo>
                <a:lnTo>
                  <a:pt x="1027549" y="275190"/>
                </a:lnTo>
                <a:lnTo>
                  <a:pt x="1035988" y="263661"/>
                </a:lnTo>
                <a:lnTo>
                  <a:pt x="1044426" y="357306"/>
                </a:lnTo>
                <a:lnTo>
                  <a:pt x="1052864" y="364590"/>
                </a:lnTo>
                <a:lnTo>
                  <a:pt x="1061302" y="390771"/>
                </a:lnTo>
                <a:lnTo>
                  <a:pt x="1069741" y="419794"/>
                </a:lnTo>
                <a:lnTo>
                  <a:pt x="1078179" y="299627"/>
                </a:lnTo>
                <a:lnTo>
                  <a:pt x="1086617" y="230892"/>
                </a:lnTo>
                <a:lnTo>
                  <a:pt x="1095055" y="360400"/>
                </a:lnTo>
                <a:lnTo>
                  <a:pt x="1103494" y="428145"/>
                </a:lnTo>
                <a:lnTo>
                  <a:pt x="1111932" y="369510"/>
                </a:lnTo>
                <a:lnTo>
                  <a:pt x="1120370" y="360970"/>
                </a:lnTo>
                <a:lnTo>
                  <a:pt x="1128808" y="326707"/>
                </a:lnTo>
                <a:lnTo>
                  <a:pt x="1137247" y="249922"/>
                </a:lnTo>
                <a:lnTo>
                  <a:pt x="1145685" y="335209"/>
                </a:lnTo>
                <a:lnTo>
                  <a:pt x="1154123" y="460722"/>
                </a:lnTo>
                <a:lnTo>
                  <a:pt x="1162561" y="389132"/>
                </a:lnTo>
                <a:lnTo>
                  <a:pt x="1171000" y="296241"/>
                </a:lnTo>
                <a:lnTo>
                  <a:pt x="1179438" y="317290"/>
                </a:lnTo>
                <a:lnTo>
                  <a:pt x="1187876" y="308680"/>
                </a:lnTo>
                <a:lnTo>
                  <a:pt x="1196314" y="327368"/>
                </a:lnTo>
                <a:lnTo>
                  <a:pt x="1204753" y="440340"/>
                </a:lnTo>
                <a:lnTo>
                  <a:pt x="1213191" y="418021"/>
                </a:lnTo>
                <a:lnTo>
                  <a:pt x="1221629" y="270852"/>
                </a:lnTo>
                <a:lnTo>
                  <a:pt x="1230067" y="274899"/>
                </a:lnTo>
                <a:lnTo>
                  <a:pt x="1238506" y="360497"/>
                </a:lnTo>
                <a:lnTo>
                  <a:pt x="1246944" y="362982"/>
                </a:lnTo>
                <a:lnTo>
                  <a:pt x="1255382" y="392965"/>
                </a:lnTo>
                <a:lnTo>
                  <a:pt x="1263820" y="412189"/>
                </a:lnTo>
                <a:lnTo>
                  <a:pt x="1272259" y="291292"/>
                </a:lnTo>
                <a:lnTo>
                  <a:pt x="1280697" y="241420"/>
                </a:lnTo>
                <a:lnTo>
                  <a:pt x="1289135" y="370331"/>
                </a:lnTo>
                <a:lnTo>
                  <a:pt x="1297573" y="421627"/>
                </a:lnTo>
                <a:lnTo>
                  <a:pt x="1306012" y="365098"/>
                </a:lnTo>
                <a:lnTo>
                  <a:pt x="1314450" y="360808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137A2D"/>
            </a:solidFill>
            <a:prstDash val="solid"/>
          </a:ln>
        </p:spPr>
      </p:sp>
      <p:sp>
        <p:nvSpPr>
          <p:cNvPr id="171" name="source-tensor">
            <a:extLst xmlns:a="http://schemas.openxmlformats.org/drawingml/2006/main">
              <a:ext uri="{FF2B5EF4-FFF2-40B4-BE49-F238E27FC236}">
                <a16:creationId xmlns:a16="http://schemas.microsoft.com/office/drawing/2014/main" id="{0F985909-1578-4D03-B352-AB73C7BA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10525" y="552450"/>
            <a:ext cx="1514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37A2D"/>
                </a:solidFill>
              </a:defRPr>
            </a:pPr>
            <a:r>
              <a:rPr sz="1425" b="1">
                <a:solidFill>
                  <a:srgbClr val="137A2D"/>
                </a:solidFill>
              </a:rPr>
              <a:t>x̂ [B, 5761]</a:t>
            </a:r>
          </a:p>
        </p:txBody>
      </p:sp>
      <p:sp>
        <p:nvSpPr>
          <p:cNvPr id="172" name="source-tick-0">
            <a:extLst xmlns:a="http://schemas.openxmlformats.org/drawingml/2006/main">
              <a:ext uri="{FF2B5EF4-FFF2-40B4-BE49-F238E27FC236}">
                <a16:creationId xmlns:a16="http://schemas.microsoft.com/office/drawing/2014/main" id="{C000A97E-9593-4388-8B84-CD15D801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1571625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73" name="source-axis">
            <a:extLst xmlns:a="http://schemas.openxmlformats.org/drawingml/2006/main">
              <a:ext uri="{FF2B5EF4-FFF2-40B4-BE49-F238E27FC236}">
                <a16:creationId xmlns:a16="http://schemas.microsoft.com/office/drawing/2014/main" id="{801BA4FE-EC25-4DE7-AF43-283EB582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58175" y="1638300"/>
            <a:ext cx="1000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Sample index</a:t>
            </a:r>
          </a:p>
        </p:txBody>
      </p:sp>
      <p:sp>
        <p:nvSpPr>
          <p:cNvPr id="174" name="source-tick-end">
            <a:extLst xmlns:a="http://schemas.openxmlformats.org/drawingml/2006/main">
              <a:ext uri="{FF2B5EF4-FFF2-40B4-BE49-F238E27FC236}">
                <a16:creationId xmlns:a16="http://schemas.microsoft.com/office/drawing/2014/main" id="{B1779F2D-5B37-45F0-92E7-540E3275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0175" y="157162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5760</a:t>
            </a:r>
          </a:p>
        </p:txBody>
      </p:sp>
      <p:sp>
        <p:nvSpPr>
          <p:cNvPr id="175" name="response-waveform-frame">
            <a:extLst xmlns:a="http://schemas.openxmlformats.org/drawingml/2006/main">
              <a:ext uri="{FF2B5EF4-FFF2-40B4-BE49-F238E27FC236}">
                <a16:creationId xmlns:a16="http://schemas.microsoft.com/office/drawing/2014/main" id="{1CE0DB79-71C3-4A5E-B729-762E79DD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648075"/>
            <a:ext cx="1381125" cy="676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F05A00"/>
            </a:solidFill>
            <a:prstDash val="solid"/>
          </a:ln>
        </p:spPr>
      </p:sp>
      <p:sp>
        <p:nvSpPr>
          <p:cNvPr id="176" name="response-waveform-editable-waveform">
            <a:extLst xmlns:a="http://schemas.openxmlformats.org/drawingml/2006/main">
              <a:ext uri="{FF2B5EF4-FFF2-40B4-BE49-F238E27FC236}">
                <a16:creationId xmlns:a16="http://schemas.microsoft.com/office/drawing/2014/main" id="{60377768-D404-4950-863C-D8CC933C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48075"/>
            <a:ext cx="1381125" cy="676275"/>
          </a:xfrm>
          <a:custGeom xmlns:a="http://schemas.openxmlformats.org/drawingml/2006/main">
            <a:pathLst>
              <a:path w="1381125" h="676275">
                <a:moveTo>
                  <a:pt x="57150" y="338138"/>
                </a:moveTo>
                <a:lnTo>
                  <a:pt x="65652" y="180426"/>
                </a:lnTo>
                <a:lnTo>
                  <a:pt x="74154" y="470863"/>
                </a:lnTo>
                <a:lnTo>
                  <a:pt x="82657" y="239203"/>
                </a:lnTo>
                <a:lnTo>
                  <a:pt x="91159" y="420727"/>
                </a:lnTo>
                <a:lnTo>
                  <a:pt x="99661" y="394091"/>
                </a:lnTo>
                <a:lnTo>
                  <a:pt x="108163" y="165878"/>
                </a:lnTo>
                <a:lnTo>
                  <a:pt x="116665" y="451479"/>
                </a:lnTo>
                <a:lnTo>
                  <a:pt x="125167" y="299898"/>
                </a:lnTo>
                <a:lnTo>
                  <a:pt x="133670" y="349391"/>
                </a:lnTo>
                <a:lnTo>
                  <a:pt x="142172" y="423255"/>
                </a:lnTo>
                <a:lnTo>
                  <a:pt x="150674" y="181201"/>
                </a:lnTo>
                <a:lnTo>
                  <a:pt x="159176" y="413825"/>
                </a:lnTo>
                <a:lnTo>
                  <a:pt x="167678" y="355485"/>
                </a:lnTo>
                <a:lnTo>
                  <a:pt x="176181" y="300380"/>
                </a:lnTo>
                <a:lnTo>
                  <a:pt x="184683" y="426921"/>
                </a:lnTo>
                <a:lnTo>
                  <a:pt x="193185" y="216190"/>
                </a:lnTo>
                <a:lnTo>
                  <a:pt x="201687" y="371037"/>
                </a:lnTo>
                <a:lnTo>
                  <a:pt x="210189" y="396787"/>
                </a:lnTo>
                <a:lnTo>
                  <a:pt x="218691" y="275532"/>
                </a:lnTo>
                <a:lnTo>
                  <a:pt x="227194" y="411020"/>
                </a:lnTo>
                <a:lnTo>
                  <a:pt x="235696" y="259764"/>
                </a:lnTo>
                <a:lnTo>
                  <a:pt x="244198" y="333348"/>
                </a:lnTo>
                <a:lnTo>
                  <a:pt x="252700" y="419703"/>
                </a:lnTo>
                <a:lnTo>
                  <a:pt x="261202" y="271842"/>
                </a:lnTo>
                <a:lnTo>
                  <a:pt x="269705" y="383690"/>
                </a:lnTo>
                <a:lnTo>
                  <a:pt x="278207" y="302240"/>
                </a:lnTo>
                <a:lnTo>
                  <a:pt x="286709" y="307010"/>
                </a:lnTo>
                <a:lnTo>
                  <a:pt x="295211" y="424622"/>
                </a:lnTo>
                <a:lnTo>
                  <a:pt x="303713" y="283355"/>
                </a:lnTo>
                <a:lnTo>
                  <a:pt x="312215" y="353107"/>
                </a:lnTo>
                <a:lnTo>
                  <a:pt x="320718" y="336738"/>
                </a:lnTo>
                <a:lnTo>
                  <a:pt x="329220" y="294261"/>
                </a:lnTo>
                <a:lnTo>
                  <a:pt x="337722" y="415148"/>
                </a:lnTo>
                <a:lnTo>
                  <a:pt x="346224" y="303072"/>
                </a:lnTo>
                <a:lnTo>
                  <a:pt x="354726" y="325911"/>
                </a:lnTo>
                <a:lnTo>
                  <a:pt x="363229" y="359677"/>
                </a:lnTo>
                <a:lnTo>
                  <a:pt x="371731" y="294045"/>
                </a:lnTo>
                <a:lnTo>
                  <a:pt x="380233" y="396569"/>
                </a:lnTo>
                <a:lnTo>
                  <a:pt x="388735" y="324531"/>
                </a:lnTo>
                <a:lnTo>
                  <a:pt x="397237" y="306360"/>
                </a:lnTo>
                <a:lnTo>
                  <a:pt x="405739" y="370534"/>
                </a:lnTo>
                <a:lnTo>
                  <a:pt x="414242" y="303139"/>
                </a:lnTo>
                <a:lnTo>
                  <a:pt x="422744" y="374428"/>
                </a:lnTo>
                <a:lnTo>
                  <a:pt x="431246" y="342843"/>
                </a:lnTo>
                <a:lnTo>
                  <a:pt x="439748" y="296170"/>
                </a:lnTo>
                <a:lnTo>
                  <a:pt x="448250" y="371092"/>
                </a:lnTo>
                <a:lnTo>
                  <a:pt x="456753" y="317381"/>
                </a:lnTo>
                <a:lnTo>
                  <a:pt x="465255" y="353432"/>
                </a:lnTo>
                <a:lnTo>
                  <a:pt x="473757" y="355157"/>
                </a:lnTo>
                <a:lnTo>
                  <a:pt x="482259" y="294867"/>
                </a:lnTo>
                <a:lnTo>
                  <a:pt x="490761" y="364486"/>
                </a:lnTo>
                <a:lnTo>
                  <a:pt x="499263" y="332723"/>
                </a:lnTo>
                <a:lnTo>
                  <a:pt x="507766" y="336814"/>
                </a:lnTo>
                <a:lnTo>
                  <a:pt x="516268" y="360612"/>
                </a:lnTo>
                <a:lnTo>
                  <a:pt x="524770" y="300468"/>
                </a:lnTo>
                <a:lnTo>
                  <a:pt x="533272" y="354243"/>
                </a:lnTo>
                <a:lnTo>
                  <a:pt x="541774" y="345973"/>
                </a:lnTo>
                <a:lnTo>
                  <a:pt x="550277" y="326144"/>
                </a:lnTo>
                <a:lnTo>
                  <a:pt x="558779" y="359935"/>
                </a:lnTo>
                <a:lnTo>
                  <a:pt x="567281" y="310249"/>
                </a:lnTo>
                <a:lnTo>
                  <a:pt x="575783" y="343532"/>
                </a:lnTo>
                <a:lnTo>
                  <a:pt x="584285" y="355172"/>
                </a:lnTo>
                <a:lnTo>
                  <a:pt x="592787" y="321493"/>
                </a:lnTo>
                <a:lnTo>
                  <a:pt x="601290" y="354851"/>
                </a:lnTo>
                <a:lnTo>
                  <a:pt x="609792" y="321450"/>
                </a:lnTo>
                <a:lnTo>
                  <a:pt x="618294" y="334676"/>
                </a:lnTo>
                <a:lnTo>
                  <a:pt x="626796" y="359629"/>
                </a:lnTo>
                <a:lnTo>
                  <a:pt x="635298" y="321833"/>
                </a:lnTo>
                <a:lnTo>
                  <a:pt x="643801" y="347480"/>
                </a:lnTo>
                <a:lnTo>
                  <a:pt x="652303" y="331792"/>
                </a:lnTo>
                <a:lnTo>
                  <a:pt x="660805" y="328961"/>
                </a:lnTo>
                <a:lnTo>
                  <a:pt x="669307" y="359714"/>
                </a:lnTo>
                <a:lnTo>
                  <a:pt x="677809" y="325531"/>
                </a:lnTo>
                <a:lnTo>
                  <a:pt x="686311" y="339817"/>
                </a:lnTo>
                <a:lnTo>
                  <a:pt x="694814" y="339764"/>
                </a:lnTo>
                <a:lnTo>
                  <a:pt x="703316" y="326692"/>
                </a:lnTo>
                <a:lnTo>
                  <a:pt x="711818" y="356504"/>
                </a:lnTo>
                <a:lnTo>
                  <a:pt x="720320" y="330814"/>
                </a:lnTo>
                <a:lnTo>
                  <a:pt x="728822" y="333389"/>
                </a:lnTo>
                <a:lnTo>
                  <a:pt x="737324" y="344692"/>
                </a:lnTo>
                <a:lnTo>
                  <a:pt x="745827" y="327412"/>
                </a:lnTo>
                <a:lnTo>
                  <a:pt x="754329" y="351393"/>
                </a:lnTo>
                <a:lnTo>
                  <a:pt x="762831" y="336136"/>
                </a:lnTo>
                <a:lnTo>
                  <a:pt x="771333" y="329089"/>
                </a:lnTo>
                <a:lnTo>
                  <a:pt x="779835" y="346634"/>
                </a:lnTo>
                <a:lnTo>
                  <a:pt x="788338" y="330203"/>
                </a:lnTo>
                <a:lnTo>
                  <a:pt x="796840" y="345750"/>
                </a:lnTo>
                <a:lnTo>
                  <a:pt x="805342" y="340398"/>
                </a:lnTo>
                <a:lnTo>
                  <a:pt x="813844" y="327180"/>
                </a:lnTo>
                <a:lnTo>
                  <a:pt x="822346" y="346167"/>
                </a:lnTo>
                <a:lnTo>
                  <a:pt x="830848" y="333995"/>
                </a:lnTo>
                <a:lnTo>
                  <a:pt x="839351" y="340675"/>
                </a:lnTo>
                <a:lnTo>
                  <a:pt x="847853" y="343028"/>
                </a:lnTo>
                <a:lnTo>
                  <a:pt x="856355" y="327414"/>
                </a:lnTo>
                <a:lnTo>
                  <a:pt x="864857" y="344137"/>
                </a:lnTo>
                <a:lnTo>
                  <a:pt x="873359" y="337806"/>
                </a:lnTo>
                <a:lnTo>
                  <a:pt x="881862" y="336867"/>
                </a:lnTo>
                <a:lnTo>
                  <a:pt x="890364" y="343934"/>
                </a:lnTo>
                <a:lnTo>
                  <a:pt x="898866" y="329212"/>
                </a:lnTo>
                <a:lnTo>
                  <a:pt x="907368" y="341429"/>
                </a:lnTo>
                <a:lnTo>
                  <a:pt x="915870" y="340911"/>
                </a:lnTo>
                <a:lnTo>
                  <a:pt x="924372" y="334608"/>
                </a:lnTo>
                <a:lnTo>
                  <a:pt x="932875" y="343391"/>
                </a:lnTo>
                <a:lnTo>
                  <a:pt x="941377" y="331865"/>
                </a:lnTo>
                <a:lnTo>
                  <a:pt x="949879" y="338797"/>
                </a:lnTo>
                <a:lnTo>
                  <a:pt x="958381" y="342906"/>
                </a:lnTo>
                <a:lnTo>
                  <a:pt x="966883" y="333826"/>
                </a:lnTo>
                <a:lnTo>
                  <a:pt x="975386" y="341880"/>
                </a:lnTo>
                <a:lnTo>
                  <a:pt x="983888" y="334696"/>
                </a:lnTo>
                <a:lnTo>
                  <a:pt x="992390" y="336756"/>
                </a:lnTo>
                <a:lnTo>
                  <a:pt x="1000892" y="343701"/>
                </a:lnTo>
                <a:lnTo>
                  <a:pt x="1009394" y="334201"/>
                </a:lnTo>
                <a:lnTo>
                  <a:pt x="1017896" y="339940"/>
                </a:lnTo>
                <a:lnTo>
                  <a:pt x="1026399" y="337178"/>
                </a:lnTo>
                <a:lnTo>
                  <a:pt x="1034901" y="335557"/>
                </a:lnTo>
                <a:lnTo>
                  <a:pt x="1043403" y="343450"/>
                </a:lnTo>
                <a:lnTo>
                  <a:pt x="1051905" y="335299"/>
                </a:lnTo>
                <a:lnTo>
                  <a:pt x="1060407" y="338053"/>
                </a:lnTo>
                <a:lnTo>
                  <a:pt x="1068910" y="338989"/>
                </a:lnTo>
                <a:lnTo>
                  <a:pt x="1077412" y="335217"/>
                </a:lnTo>
                <a:lnTo>
                  <a:pt x="1085914" y="342461"/>
                </a:lnTo>
                <a:lnTo>
                  <a:pt x="1094416" y="336679"/>
                </a:lnTo>
                <a:lnTo>
                  <a:pt x="1102918" y="336560"/>
                </a:lnTo>
                <a:lnTo>
                  <a:pt x="1111420" y="340014"/>
                </a:lnTo>
                <a:lnTo>
                  <a:pt x="1119923" y="335576"/>
                </a:lnTo>
                <a:lnTo>
                  <a:pt x="1128425" y="341092"/>
                </a:lnTo>
                <a:lnTo>
                  <a:pt x="1136927" y="337975"/>
                </a:lnTo>
                <a:lnTo>
                  <a:pt x="1145429" y="335642"/>
                </a:lnTo>
                <a:lnTo>
                  <a:pt x="1153931" y="340313"/>
                </a:lnTo>
                <a:lnTo>
                  <a:pt x="1162434" y="336385"/>
                </a:lnTo>
                <a:lnTo>
                  <a:pt x="1170936" y="339677"/>
                </a:lnTo>
                <a:lnTo>
                  <a:pt x="1179438" y="338947"/>
                </a:lnTo>
                <a:lnTo>
                  <a:pt x="1187940" y="335324"/>
                </a:lnTo>
                <a:lnTo>
                  <a:pt x="1196442" y="340058"/>
                </a:lnTo>
                <a:lnTo>
                  <a:pt x="1204944" y="337372"/>
                </a:lnTo>
                <a:lnTo>
                  <a:pt x="1213447" y="338467"/>
                </a:lnTo>
                <a:lnTo>
                  <a:pt x="1221949" y="339487"/>
                </a:lnTo>
                <a:lnTo>
                  <a:pt x="1230451" y="335514"/>
                </a:lnTo>
                <a:lnTo>
                  <a:pt x="1238953" y="339472"/>
                </a:lnTo>
                <a:lnTo>
                  <a:pt x="1247455" y="338303"/>
                </a:lnTo>
                <a:lnTo>
                  <a:pt x="1255958" y="337611"/>
                </a:lnTo>
                <a:lnTo>
                  <a:pt x="1264460" y="339602"/>
                </a:lnTo>
                <a:lnTo>
                  <a:pt x="1272962" y="336051"/>
                </a:lnTo>
                <a:lnTo>
                  <a:pt x="1281464" y="338773"/>
                </a:lnTo>
                <a:lnTo>
                  <a:pt x="1289966" y="339017"/>
                </a:lnTo>
                <a:lnTo>
                  <a:pt x="1298468" y="337150"/>
                </a:lnTo>
                <a:lnTo>
                  <a:pt x="1306971" y="339380"/>
                </a:lnTo>
                <a:lnTo>
                  <a:pt x="1315473" y="336753"/>
                </a:lnTo>
                <a:lnTo>
                  <a:pt x="1323975" y="338138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F05A00"/>
            </a:solidFill>
            <a:prstDash val="solid"/>
          </a:ln>
        </p:spPr>
      </p:sp>
      <p:sp>
        <p:nvSpPr>
          <p:cNvPr id="177" name="response-tensor">
            <a:extLst xmlns:a="http://schemas.openxmlformats.org/drawingml/2006/main">
              <a:ext uri="{FF2B5EF4-FFF2-40B4-BE49-F238E27FC236}">
                <a16:creationId xmlns:a16="http://schemas.microsoft.com/office/drawing/2014/main" id="{51C80BD4-5E61-4966-BE45-158BFE6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10515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05A00"/>
                </a:solidFill>
              </a:defRPr>
            </a:pPr>
            <a:r>
              <a:rPr sz="1425" b="1">
                <a:solidFill>
                  <a:srgbClr val="F05A00"/>
                </a:solidFill>
              </a:rPr>
              <a:t>ĥ [B, 1153]</a:t>
            </a:r>
          </a:p>
        </p:txBody>
      </p:sp>
      <p:sp>
        <p:nvSpPr>
          <p:cNvPr id="178" name="response-condition">
            <a:extLst xmlns:a="http://schemas.openxmlformats.org/drawingml/2006/main">
              <a:ext uri="{FF2B5EF4-FFF2-40B4-BE49-F238E27FC236}">
                <a16:creationId xmlns:a16="http://schemas.microsoft.com/office/drawing/2014/main" id="{3967A8E7-909A-49F0-88EE-7937B89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3343275"/>
            <a:ext cx="126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5A00"/>
                </a:solidFill>
              </a:defRPr>
            </a:pPr>
            <a:r>
              <a:rPr sz="1275" b="1">
                <a:solidFill>
                  <a:srgbClr val="F05A00"/>
                </a:solidFill>
              </a:rPr>
              <a:t>h₀ = 1, 0–2 ms</a:t>
            </a:r>
          </a:p>
        </p:txBody>
      </p:sp>
      <p:sp>
        <p:nvSpPr>
          <p:cNvPr id="179" name="response-tick-0">
            <a:extLst xmlns:a="http://schemas.openxmlformats.org/drawingml/2006/main">
              <a:ext uri="{FF2B5EF4-FFF2-40B4-BE49-F238E27FC236}">
                <a16:creationId xmlns:a16="http://schemas.microsoft.com/office/drawing/2014/main" id="{7D6DB910-F434-4D20-9C5E-AA6152BC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4343400"/>
            <a:ext cx="2381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80" name="response-axis">
            <a:extLst xmlns:a="http://schemas.openxmlformats.org/drawingml/2006/main">
              <a:ext uri="{FF2B5EF4-FFF2-40B4-BE49-F238E27FC236}">
                <a16:creationId xmlns:a16="http://schemas.microsoft.com/office/drawing/2014/main" id="{BF2D9D2A-8F77-4C8E-A119-AB0842C2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44196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Sample index (at 576 kHz)</a:t>
            </a:r>
          </a:p>
        </p:txBody>
      </p:sp>
      <p:sp>
        <p:nvSpPr>
          <p:cNvPr id="181" name="response-tick-end">
            <a:extLst xmlns:a="http://schemas.openxmlformats.org/drawingml/2006/main">
              <a:ext uri="{FF2B5EF4-FFF2-40B4-BE49-F238E27FC236}">
                <a16:creationId xmlns:a16="http://schemas.microsoft.com/office/drawing/2014/main" id="{AC802CC6-77F2-4A85-BD05-48FEFD1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01025" y="4343400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1152</a:t>
            </a:r>
          </a:p>
        </p:txBody>
      </p:sp>
      <p:sp>
        <p:nvSpPr>
          <p:cNvPr id="182" name="fft-box">
            <a:extLst xmlns:a="http://schemas.openxmlformats.org/drawingml/2006/main">
              <a:ext uri="{FF2B5EF4-FFF2-40B4-BE49-F238E27FC236}">
                <a16:creationId xmlns:a16="http://schemas.microsoft.com/office/drawing/2014/main" id="{6005F7E5-5526-40A5-8416-2C07AE39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047875"/>
            <a:ext cx="11049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E8FF"/>
          </a:solidFill>
          <a:ln xmlns:a="http://schemas.openxmlformats.org/drawingml/2006/main" w="17145">
            <a:solidFill>
              <a:srgbClr val="6F1DB5"/>
            </a:solidFill>
            <a:prstDash val="solid"/>
          </a:ln>
        </p:spPr>
      </p:sp>
      <p:sp>
        <p:nvSpPr>
          <p:cNvPr id="183" name="fft-label">
            <a:extLst xmlns:a="http://schemas.openxmlformats.org/drawingml/2006/main">
              <a:ext uri="{FF2B5EF4-FFF2-40B4-BE49-F238E27FC236}">
                <a16:creationId xmlns:a16="http://schemas.microsoft.com/office/drawing/2014/main" id="{69ECD9A2-B8AB-4DA5-AF52-E22D1DB2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2174177"/>
            <a:ext cx="100965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1DB5"/>
                </a:solidFill>
              </a:defRPr>
            </a:pPr>
            <a:r>
              <a:rPr sz="1200" b="1">
                <a:solidFill>
                  <a:srgbClr val="6F1DB5"/>
                </a:solidFill>
              </a:rPr>
              <a:t>Causal FFT</a:t>
            </a:r>
          </a:p>
          <a:p xmlns:a="http://schemas.openxmlformats.org/drawingml/2006/main">
            <a:pPr algn="ctr">
              <a:defRPr sz="1200" b="1">
                <a:solidFill>
                  <a:srgbClr val="6F1DB5"/>
                </a:solidFill>
              </a:defRPr>
            </a:pPr>
            <a:r>
              <a:rPr sz="1200" b="1">
                <a:solidFill>
                  <a:srgbClr val="6F1DB5"/>
                </a:solidFill>
              </a:rPr>
              <a:t>convolution</a:t>
            </a:r>
          </a:p>
        </p:txBody>
      </p:sp>
      <p:sp>
        <p:nvSpPr>
          <p:cNvPr id="184" name="reconstruction-frame">
            <a:extLst xmlns:a="http://schemas.openxmlformats.org/drawingml/2006/main">
              <a:ext uri="{FF2B5EF4-FFF2-40B4-BE49-F238E27FC236}">
                <a16:creationId xmlns:a16="http://schemas.microsoft.com/office/drawing/2014/main" id="{3723857B-5FD3-4524-8659-85E05A5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2171700"/>
            <a:ext cx="1066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6F1DB5"/>
            </a:solidFill>
            <a:prstDash val="solid"/>
          </a:ln>
        </p:spPr>
      </p:sp>
      <p:sp>
        <p:nvSpPr>
          <p:cNvPr id="185" name="reconstruction-editable-waveform">
            <a:extLst xmlns:a="http://schemas.openxmlformats.org/drawingml/2006/main">
              <a:ext uri="{FF2B5EF4-FFF2-40B4-BE49-F238E27FC236}">
                <a16:creationId xmlns:a16="http://schemas.microsoft.com/office/drawing/2014/main" id="{4DB31839-AB07-4E2F-936E-001558B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71700"/>
            <a:ext cx="1066800" cy="704850"/>
          </a:xfrm>
          <a:custGeom xmlns:a="http://schemas.openxmlformats.org/drawingml/2006/main">
            <a:pathLst>
              <a:path w="1066800" h="704850">
                <a:moveTo>
                  <a:pt x="57150" y="314078"/>
                </a:moveTo>
                <a:lnTo>
                  <a:pt x="63543" y="224879"/>
                </a:lnTo>
                <a:lnTo>
                  <a:pt x="69935" y="338662"/>
                </a:lnTo>
                <a:lnTo>
                  <a:pt x="76328" y="392458"/>
                </a:lnTo>
                <a:lnTo>
                  <a:pt x="82720" y="457789"/>
                </a:lnTo>
                <a:lnTo>
                  <a:pt x="89113" y="362562"/>
                </a:lnTo>
                <a:lnTo>
                  <a:pt x="95506" y="191532"/>
                </a:lnTo>
                <a:lnTo>
                  <a:pt x="101898" y="335928"/>
                </a:lnTo>
                <a:lnTo>
                  <a:pt x="108291" y="477550"/>
                </a:lnTo>
                <a:lnTo>
                  <a:pt x="114684" y="384262"/>
                </a:lnTo>
                <a:lnTo>
                  <a:pt x="121076" y="323326"/>
                </a:lnTo>
                <a:lnTo>
                  <a:pt x="127469" y="268678"/>
                </a:lnTo>
                <a:lnTo>
                  <a:pt x="133861" y="305763"/>
                </a:lnTo>
                <a:lnTo>
                  <a:pt x="140254" y="482345"/>
                </a:lnTo>
                <a:lnTo>
                  <a:pt x="146647" y="414893"/>
                </a:lnTo>
                <a:lnTo>
                  <a:pt x="153039" y="243061"/>
                </a:lnTo>
                <a:lnTo>
                  <a:pt x="159432" y="300548"/>
                </a:lnTo>
                <a:lnTo>
                  <a:pt x="165824" y="374154"/>
                </a:lnTo>
                <a:lnTo>
                  <a:pt x="172217" y="415489"/>
                </a:lnTo>
                <a:lnTo>
                  <a:pt x="178610" y="418761"/>
                </a:lnTo>
                <a:lnTo>
                  <a:pt x="185002" y="262294"/>
                </a:lnTo>
                <a:lnTo>
                  <a:pt x="191395" y="257849"/>
                </a:lnTo>
                <a:lnTo>
                  <a:pt x="197788" y="434498"/>
                </a:lnTo>
                <a:lnTo>
                  <a:pt x="204180" y="422974"/>
                </a:lnTo>
                <a:lnTo>
                  <a:pt x="210573" y="338236"/>
                </a:lnTo>
                <a:lnTo>
                  <a:pt x="216965" y="305627"/>
                </a:lnTo>
                <a:lnTo>
                  <a:pt x="223358" y="280594"/>
                </a:lnTo>
                <a:lnTo>
                  <a:pt x="229751" y="401308"/>
                </a:lnTo>
                <a:lnTo>
                  <a:pt x="236143" y="462928"/>
                </a:lnTo>
                <a:lnTo>
                  <a:pt x="242536" y="305348"/>
                </a:lnTo>
                <a:lnTo>
                  <a:pt x="248929" y="268258"/>
                </a:lnTo>
                <a:lnTo>
                  <a:pt x="255321" y="356368"/>
                </a:lnTo>
                <a:lnTo>
                  <a:pt x="261714" y="388346"/>
                </a:lnTo>
                <a:lnTo>
                  <a:pt x="268106" y="419847"/>
                </a:lnTo>
                <a:lnTo>
                  <a:pt x="274499" y="340300"/>
                </a:lnTo>
                <a:lnTo>
                  <a:pt x="280892" y="241796"/>
                </a:lnTo>
                <a:lnTo>
                  <a:pt x="287284" y="361777"/>
                </a:lnTo>
                <a:lnTo>
                  <a:pt x="293677" y="442126"/>
                </a:lnTo>
                <a:lnTo>
                  <a:pt x="300069" y="362283"/>
                </a:lnTo>
                <a:lnTo>
                  <a:pt x="306462" y="323012"/>
                </a:lnTo>
                <a:lnTo>
                  <a:pt x="312855" y="294641"/>
                </a:lnTo>
                <a:lnTo>
                  <a:pt x="319247" y="336152"/>
                </a:lnTo>
                <a:lnTo>
                  <a:pt x="325640" y="450008"/>
                </a:lnTo>
                <a:lnTo>
                  <a:pt x="332033" y="378380"/>
                </a:lnTo>
                <a:lnTo>
                  <a:pt x="338425" y="266938"/>
                </a:lnTo>
                <a:lnTo>
                  <a:pt x="344818" y="326053"/>
                </a:lnTo>
                <a:lnTo>
                  <a:pt x="351210" y="377497"/>
                </a:lnTo>
                <a:lnTo>
                  <a:pt x="357603" y="399421"/>
                </a:lnTo>
                <a:lnTo>
                  <a:pt x="363996" y="387144"/>
                </a:lnTo>
                <a:lnTo>
                  <a:pt x="370388" y="276935"/>
                </a:lnTo>
                <a:lnTo>
                  <a:pt x="376781" y="298001"/>
                </a:lnTo>
                <a:lnTo>
                  <a:pt x="383173" y="424002"/>
                </a:lnTo>
                <a:lnTo>
                  <a:pt x="389566" y="395869"/>
                </a:lnTo>
                <a:lnTo>
                  <a:pt x="395959" y="332039"/>
                </a:lnTo>
                <a:lnTo>
                  <a:pt x="402351" y="314550"/>
                </a:lnTo>
                <a:lnTo>
                  <a:pt x="408744" y="308761"/>
                </a:lnTo>
                <a:lnTo>
                  <a:pt x="415137" y="401503"/>
                </a:lnTo>
                <a:lnTo>
                  <a:pt x="421529" y="425460"/>
                </a:lnTo>
                <a:lnTo>
                  <a:pt x="427922" y="302730"/>
                </a:lnTo>
                <a:lnTo>
                  <a:pt x="434314" y="294192"/>
                </a:lnTo>
                <a:lnTo>
                  <a:pt x="440707" y="365732"/>
                </a:lnTo>
                <a:lnTo>
                  <a:pt x="447100" y="384115"/>
                </a:lnTo>
                <a:lnTo>
                  <a:pt x="453492" y="397499"/>
                </a:lnTo>
                <a:lnTo>
                  <a:pt x="459885" y="329605"/>
                </a:lnTo>
                <a:lnTo>
                  <a:pt x="466278" y="271901"/>
                </a:lnTo>
                <a:lnTo>
                  <a:pt x="472670" y="375303"/>
                </a:lnTo>
                <a:lnTo>
                  <a:pt x="479063" y="420351"/>
                </a:lnTo>
                <a:lnTo>
                  <a:pt x="485455" y="349632"/>
                </a:lnTo>
                <a:lnTo>
                  <a:pt x="491848" y="324178"/>
                </a:lnTo>
                <a:lnTo>
                  <a:pt x="498241" y="310712"/>
                </a:lnTo>
                <a:lnTo>
                  <a:pt x="504633" y="352680"/>
                </a:lnTo>
                <a:lnTo>
                  <a:pt x="511026" y="429836"/>
                </a:lnTo>
                <a:lnTo>
                  <a:pt x="517418" y="357533"/>
                </a:lnTo>
                <a:lnTo>
                  <a:pt x="523811" y="282032"/>
                </a:lnTo>
                <a:lnTo>
                  <a:pt x="530204" y="341475"/>
                </a:lnTo>
                <a:lnTo>
                  <a:pt x="536596" y="378677"/>
                </a:lnTo>
                <a:lnTo>
                  <a:pt x="542989" y="388851"/>
                </a:lnTo>
                <a:lnTo>
                  <a:pt x="549382" y="368874"/>
                </a:lnTo>
                <a:lnTo>
                  <a:pt x="555774" y="286706"/>
                </a:lnTo>
                <a:lnTo>
                  <a:pt x="562167" y="321976"/>
                </a:lnTo>
                <a:lnTo>
                  <a:pt x="568559" y="417085"/>
                </a:lnTo>
                <a:lnTo>
                  <a:pt x="574952" y="378952"/>
                </a:lnTo>
                <a:lnTo>
                  <a:pt x="581345" y="328561"/>
                </a:lnTo>
                <a:lnTo>
                  <a:pt x="587737" y="320914"/>
                </a:lnTo>
                <a:lnTo>
                  <a:pt x="594130" y="325799"/>
                </a:lnTo>
                <a:lnTo>
                  <a:pt x="600522" y="400897"/>
                </a:lnTo>
                <a:lnTo>
                  <a:pt x="606915" y="402359"/>
                </a:lnTo>
                <a:lnTo>
                  <a:pt x="613308" y="301286"/>
                </a:lnTo>
                <a:lnTo>
                  <a:pt x="619700" y="310738"/>
                </a:lnTo>
                <a:lnTo>
                  <a:pt x="626093" y="371721"/>
                </a:lnTo>
                <a:lnTo>
                  <a:pt x="632486" y="380730"/>
                </a:lnTo>
                <a:lnTo>
                  <a:pt x="638878" y="383373"/>
                </a:lnTo>
                <a:lnTo>
                  <a:pt x="645271" y="323362"/>
                </a:lnTo>
                <a:lnTo>
                  <a:pt x="651663" y="290958"/>
                </a:lnTo>
                <a:lnTo>
                  <a:pt x="658056" y="383996"/>
                </a:lnTo>
                <a:lnTo>
                  <a:pt x="664449" y="406255"/>
                </a:lnTo>
                <a:lnTo>
                  <a:pt x="670841" y="341069"/>
                </a:lnTo>
                <a:lnTo>
                  <a:pt x="677234" y="325401"/>
                </a:lnTo>
                <a:lnTo>
                  <a:pt x="683627" y="321377"/>
                </a:lnTo>
                <a:lnTo>
                  <a:pt x="690019" y="363053"/>
                </a:lnTo>
                <a:lnTo>
                  <a:pt x="696412" y="416770"/>
                </a:lnTo>
                <a:lnTo>
                  <a:pt x="702804" y="343711"/>
                </a:lnTo>
                <a:lnTo>
                  <a:pt x="709197" y="291838"/>
                </a:lnTo>
                <a:lnTo>
                  <a:pt x="715590" y="352237"/>
                </a:lnTo>
                <a:lnTo>
                  <a:pt x="721982" y="379302"/>
                </a:lnTo>
                <a:lnTo>
                  <a:pt x="728375" y="381407"/>
                </a:lnTo>
                <a:lnTo>
                  <a:pt x="734767" y="356904"/>
                </a:lnTo>
                <a:lnTo>
                  <a:pt x="741160" y="293148"/>
                </a:lnTo>
                <a:lnTo>
                  <a:pt x="747553" y="338258"/>
                </a:lnTo>
                <a:lnTo>
                  <a:pt x="753945" y="412783"/>
                </a:lnTo>
                <a:lnTo>
                  <a:pt x="760338" y="366909"/>
                </a:lnTo>
                <a:lnTo>
                  <a:pt x="766731" y="326022"/>
                </a:lnTo>
                <a:lnTo>
                  <a:pt x="773123" y="325747"/>
                </a:lnTo>
                <a:lnTo>
                  <a:pt x="779516" y="337415"/>
                </a:lnTo>
                <a:lnTo>
                  <a:pt x="785908" y="400563"/>
                </a:lnTo>
                <a:lnTo>
                  <a:pt x="792301" y="386319"/>
                </a:lnTo>
                <a:lnTo>
                  <a:pt x="798694" y="299745"/>
                </a:lnTo>
                <a:lnTo>
                  <a:pt x="805086" y="322698"/>
                </a:lnTo>
                <a:lnTo>
                  <a:pt x="811479" y="376374"/>
                </a:lnTo>
                <a:lnTo>
                  <a:pt x="817871" y="377894"/>
                </a:lnTo>
                <a:lnTo>
                  <a:pt x="824264" y="373312"/>
                </a:lnTo>
                <a:lnTo>
                  <a:pt x="830657" y="318905"/>
                </a:lnTo>
                <a:lnTo>
                  <a:pt x="837049" y="304486"/>
                </a:lnTo>
                <a:lnTo>
                  <a:pt x="843442" y="390797"/>
                </a:lnTo>
                <a:lnTo>
                  <a:pt x="849835" y="395945"/>
                </a:lnTo>
                <a:lnTo>
                  <a:pt x="856227" y="334237"/>
                </a:lnTo>
                <a:lnTo>
                  <a:pt x="862620" y="326622"/>
                </a:lnTo>
                <a:lnTo>
                  <a:pt x="869012" y="329391"/>
                </a:lnTo>
                <a:lnTo>
                  <a:pt x="875405" y="370602"/>
                </a:lnTo>
                <a:lnTo>
                  <a:pt x="881798" y="407279"/>
                </a:lnTo>
                <a:lnTo>
                  <a:pt x="888190" y="333012"/>
                </a:lnTo>
                <a:lnTo>
                  <a:pt x="894583" y="299042"/>
                </a:lnTo>
                <a:lnTo>
                  <a:pt x="900976" y="360967"/>
                </a:lnTo>
                <a:lnTo>
                  <a:pt x="907368" y="379619"/>
                </a:lnTo>
                <a:lnTo>
                  <a:pt x="913761" y="375414"/>
                </a:lnTo>
                <a:lnTo>
                  <a:pt x="920153" y="347945"/>
                </a:lnTo>
                <a:lnTo>
                  <a:pt x="926546" y="297953"/>
                </a:lnTo>
                <a:lnTo>
                  <a:pt x="932939" y="351002"/>
                </a:lnTo>
                <a:lnTo>
                  <a:pt x="939331" y="409727"/>
                </a:lnTo>
                <a:lnTo>
                  <a:pt x="945724" y="356988"/>
                </a:lnTo>
                <a:lnTo>
                  <a:pt x="952116" y="324007"/>
                </a:lnTo>
                <a:lnTo>
                  <a:pt x="958509" y="330007"/>
                </a:lnTo>
                <a:lnTo>
                  <a:pt x="964902" y="346420"/>
                </a:lnTo>
                <a:lnTo>
                  <a:pt x="971294" y="400268"/>
                </a:lnTo>
                <a:lnTo>
                  <a:pt x="977687" y="373514"/>
                </a:lnTo>
                <a:lnTo>
                  <a:pt x="984080" y="298239"/>
                </a:lnTo>
                <a:lnTo>
                  <a:pt x="990472" y="332725"/>
                </a:lnTo>
                <a:lnTo>
                  <a:pt x="996865" y="380316"/>
                </a:lnTo>
                <a:lnTo>
                  <a:pt x="1003257" y="375063"/>
                </a:lnTo>
                <a:lnTo>
                  <a:pt x="1009650" y="365163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6F1DB5"/>
            </a:solidFill>
            <a:prstDash val="solid"/>
          </a:ln>
        </p:spPr>
      </p:sp>
      <p:sp>
        <p:nvSpPr>
          <p:cNvPr id="186" name="reconstruction-title">
            <a:extLst xmlns:a="http://schemas.openxmlformats.org/drawingml/2006/main">
              <a:ext uri="{FF2B5EF4-FFF2-40B4-BE49-F238E27FC236}">
                <a16:creationId xmlns:a16="http://schemas.microsoft.com/office/drawing/2014/main" id="{D127A57E-C723-4C02-9F54-85BB31BB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39425" y="186690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F1DB5"/>
                </a:solidFill>
              </a:defRPr>
            </a:pPr>
            <a:r>
              <a:rPr sz="1200" b="1">
                <a:solidFill>
                  <a:srgbClr val="6F1DB5"/>
                </a:solidFill>
              </a:rPr>
              <a:t>Reconstruction ŷ</a:t>
            </a:r>
          </a:p>
        </p:txBody>
      </p:sp>
      <p:sp>
        <p:nvSpPr>
          <p:cNvPr id="187" name="reconstruction-tick-0">
            <a:extLst xmlns:a="http://schemas.openxmlformats.org/drawingml/2006/main">
              <a:ext uri="{FF2B5EF4-FFF2-40B4-BE49-F238E27FC236}">
                <a16:creationId xmlns:a16="http://schemas.microsoft.com/office/drawing/2014/main" id="{68B68287-58DC-464A-A0C2-20ECAFED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956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88" name="reconstruction-axis">
            <a:extLst xmlns:a="http://schemas.openxmlformats.org/drawingml/2006/main">
              <a:ext uri="{FF2B5EF4-FFF2-40B4-BE49-F238E27FC236}">
                <a16:creationId xmlns:a16="http://schemas.microsoft.com/office/drawing/2014/main" id="{F0FF41E1-1674-40C7-A770-F6924ACB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725" y="2962275"/>
            <a:ext cx="809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Sample index</a:t>
            </a:r>
          </a:p>
        </p:txBody>
      </p:sp>
      <p:sp>
        <p:nvSpPr>
          <p:cNvPr id="189" name="reconstruction-tick-end">
            <a:extLst xmlns:a="http://schemas.openxmlformats.org/drawingml/2006/main">
              <a:ext uri="{FF2B5EF4-FFF2-40B4-BE49-F238E27FC236}">
                <a16:creationId xmlns:a16="http://schemas.microsoft.com/office/drawing/2014/main" id="{4AB40DD7-3169-433B-A03F-A1C85DB1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01450" y="2895600"/>
            <a:ext cx="504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5760</a:t>
            </a:r>
          </a:p>
        </p:txBody>
      </p:sp>
      <p:sp>
        <p:nvSpPr>
          <p:cNvPr id="190" name="subtract-node">
            <a:extLst xmlns:a="http://schemas.openxmlformats.org/drawingml/2006/main">
              <a:ext uri="{FF2B5EF4-FFF2-40B4-BE49-F238E27FC236}">
                <a16:creationId xmlns:a16="http://schemas.microsoft.com/office/drawing/2014/main" id="{13BD1921-D66D-4984-A08D-08941265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96775" y="22764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11111"/>
            </a:solidFill>
            <a:prstDash val="solid"/>
          </a:ln>
        </p:spPr>
      </p:sp>
      <p:sp>
        <p:nvSpPr>
          <p:cNvPr id="191" name="subtract-symbol">
            <a:extLst xmlns:a="http://schemas.openxmlformats.org/drawingml/2006/main">
              <a:ext uri="{FF2B5EF4-FFF2-40B4-BE49-F238E27FC236}">
                <a16:creationId xmlns:a16="http://schemas.microsoft.com/office/drawing/2014/main" id="{79D823E5-ACBE-43F7-9265-4E9B6020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25350" y="2295525"/>
            <a:ext cx="323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−</a:t>
            </a:r>
          </a:p>
        </p:txBody>
      </p:sp>
      <p:sp>
        <p:nvSpPr>
          <p:cNvPr id="192" name="residual-frame">
            <a:extLst xmlns:a="http://schemas.openxmlformats.org/drawingml/2006/main">
              <a:ext uri="{FF2B5EF4-FFF2-40B4-BE49-F238E27FC236}">
                <a16:creationId xmlns:a16="http://schemas.microsoft.com/office/drawing/2014/main" id="{D5F5830F-8D23-4FA0-B621-E33AFCFC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0" y="2171700"/>
            <a:ext cx="1381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11111"/>
            </a:solidFill>
            <a:prstDash val="solid"/>
          </a:ln>
        </p:spPr>
      </p:sp>
      <p:sp>
        <p:nvSpPr>
          <p:cNvPr id="193" name="residual-editable-waveform">
            <a:extLst xmlns:a="http://schemas.openxmlformats.org/drawingml/2006/main">
              <a:ext uri="{FF2B5EF4-FFF2-40B4-BE49-F238E27FC236}">
                <a16:creationId xmlns:a16="http://schemas.microsoft.com/office/drawing/2014/main" id="{B12073CB-93F2-4C14-BBD3-74E3BAEE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171700"/>
            <a:ext cx="1381125" cy="704850"/>
          </a:xfrm>
          <a:custGeom xmlns:a="http://schemas.openxmlformats.org/drawingml/2006/main">
            <a:pathLst>
              <a:path w="1381125" h="704850">
                <a:moveTo>
                  <a:pt x="57150" y="352425"/>
                </a:moveTo>
                <a:lnTo>
                  <a:pt x="65652" y="287601"/>
                </a:lnTo>
                <a:lnTo>
                  <a:pt x="74154" y="331768"/>
                </a:lnTo>
                <a:lnTo>
                  <a:pt x="82657" y="361086"/>
                </a:lnTo>
                <a:lnTo>
                  <a:pt x="91159" y="429378"/>
                </a:lnTo>
                <a:lnTo>
                  <a:pt x="99661" y="346905"/>
                </a:lnTo>
                <a:lnTo>
                  <a:pt x="108163" y="309880"/>
                </a:lnTo>
                <a:lnTo>
                  <a:pt x="116665" y="311271"/>
                </a:lnTo>
                <a:lnTo>
                  <a:pt x="125167" y="361301"/>
                </a:lnTo>
                <a:lnTo>
                  <a:pt x="133670" y="426156"/>
                </a:lnTo>
                <a:lnTo>
                  <a:pt x="142172" y="350855"/>
                </a:lnTo>
                <a:lnTo>
                  <a:pt x="150674" y="327834"/>
                </a:lnTo>
                <a:lnTo>
                  <a:pt x="159176" y="291702"/>
                </a:lnTo>
                <a:lnTo>
                  <a:pt x="167678" y="367796"/>
                </a:lnTo>
                <a:lnTo>
                  <a:pt x="176181" y="410734"/>
                </a:lnTo>
                <a:lnTo>
                  <a:pt x="184683" y="366606"/>
                </a:lnTo>
                <a:lnTo>
                  <a:pt x="193185" y="334497"/>
                </a:lnTo>
                <a:lnTo>
                  <a:pt x="201687" y="282590"/>
                </a:lnTo>
                <a:lnTo>
                  <a:pt x="210189" y="370585"/>
                </a:lnTo>
                <a:lnTo>
                  <a:pt x="218691" y="392034"/>
                </a:lnTo>
                <a:lnTo>
                  <a:pt x="227194" y="388496"/>
                </a:lnTo>
                <a:lnTo>
                  <a:pt x="235696" y="330749"/>
                </a:lnTo>
                <a:lnTo>
                  <a:pt x="244198" y="287411"/>
                </a:lnTo>
                <a:lnTo>
                  <a:pt x="252700" y="362598"/>
                </a:lnTo>
                <a:lnTo>
                  <a:pt x="261202" y="379741"/>
                </a:lnTo>
                <a:lnTo>
                  <a:pt x="269705" y="406677"/>
                </a:lnTo>
                <a:lnTo>
                  <a:pt x="278207" y="324233"/>
                </a:lnTo>
                <a:lnTo>
                  <a:pt x="286709" y="301739"/>
                </a:lnTo>
                <a:lnTo>
                  <a:pt x="295211" y="344036"/>
                </a:lnTo>
                <a:lnTo>
                  <a:pt x="303713" y="378382"/>
                </a:lnTo>
                <a:lnTo>
                  <a:pt x="312215" y="413337"/>
                </a:lnTo>
                <a:lnTo>
                  <a:pt x="320718" y="324169"/>
                </a:lnTo>
                <a:lnTo>
                  <a:pt x="329220" y="316339"/>
                </a:lnTo>
                <a:lnTo>
                  <a:pt x="337722" y="322021"/>
                </a:lnTo>
                <a:lnTo>
                  <a:pt x="346224" y="384867"/>
                </a:lnTo>
                <a:lnTo>
                  <a:pt x="354726" y="407387"/>
                </a:lnTo>
                <a:lnTo>
                  <a:pt x="363229" y="335436"/>
                </a:lnTo>
                <a:lnTo>
                  <a:pt x="371731" y="323055"/>
                </a:lnTo>
                <a:lnTo>
                  <a:pt x="380233" y="305981"/>
                </a:lnTo>
                <a:lnTo>
                  <a:pt x="388735" y="390872"/>
                </a:lnTo>
                <a:lnTo>
                  <a:pt x="397237" y="394806"/>
                </a:lnTo>
                <a:lnTo>
                  <a:pt x="405739" y="355611"/>
                </a:lnTo>
                <a:lnTo>
                  <a:pt x="414242" y="319757"/>
                </a:lnTo>
                <a:lnTo>
                  <a:pt x="422744" y="301799"/>
                </a:lnTo>
                <a:lnTo>
                  <a:pt x="431246" y="388341"/>
                </a:lnTo>
                <a:lnTo>
                  <a:pt x="439748" y="384623"/>
                </a:lnTo>
                <a:lnTo>
                  <a:pt x="448250" y="376650"/>
                </a:lnTo>
                <a:lnTo>
                  <a:pt x="456753" y="311330"/>
                </a:lnTo>
                <a:lnTo>
                  <a:pt x="465255" y="308382"/>
                </a:lnTo>
                <a:lnTo>
                  <a:pt x="473757" y="374601"/>
                </a:lnTo>
                <a:lnTo>
                  <a:pt x="482259" y="383198"/>
                </a:lnTo>
                <a:lnTo>
                  <a:pt x="490761" y="389998"/>
                </a:lnTo>
                <a:lnTo>
                  <a:pt x="499263" y="306269"/>
                </a:lnTo>
                <a:lnTo>
                  <a:pt x="507766" y="318677"/>
                </a:lnTo>
                <a:lnTo>
                  <a:pt x="516268" y="353942"/>
                </a:lnTo>
                <a:lnTo>
                  <a:pt x="524770" y="390406"/>
                </a:lnTo>
                <a:lnTo>
                  <a:pt x="533272" y="391815"/>
                </a:lnTo>
                <a:lnTo>
                  <a:pt x="541774" y="311156"/>
                </a:lnTo>
                <a:lnTo>
                  <a:pt x="550277" y="324320"/>
                </a:lnTo>
                <a:lnTo>
                  <a:pt x="558779" y="334806"/>
                </a:lnTo>
                <a:lnTo>
                  <a:pt x="567281" y="400003"/>
                </a:lnTo>
                <a:lnTo>
                  <a:pt x="575783" y="385102"/>
                </a:lnTo>
                <a:lnTo>
                  <a:pt x="584285" y="326528"/>
                </a:lnTo>
                <a:lnTo>
                  <a:pt x="592787" y="320907"/>
                </a:lnTo>
                <a:lnTo>
                  <a:pt x="601290" y="324509"/>
                </a:lnTo>
                <a:lnTo>
                  <a:pt x="609792" y="403795"/>
                </a:lnTo>
                <a:lnTo>
                  <a:pt x="618294" y="377508"/>
                </a:lnTo>
                <a:lnTo>
                  <a:pt x="626796" y="346633"/>
                </a:lnTo>
                <a:lnTo>
                  <a:pt x="635298" y="310604"/>
                </a:lnTo>
                <a:lnTo>
                  <a:pt x="643801" y="324829"/>
                </a:lnTo>
                <a:lnTo>
                  <a:pt x="652303" y="396891"/>
                </a:lnTo>
                <a:lnTo>
                  <a:pt x="660805" y="376350"/>
                </a:lnTo>
                <a:lnTo>
                  <a:pt x="669307" y="363112"/>
                </a:lnTo>
                <a:lnTo>
                  <a:pt x="677809" y="300560"/>
                </a:lnTo>
                <a:lnTo>
                  <a:pt x="686311" y="331186"/>
                </a:lnTo>
                <a:lnTo>
                  <a:pt x="694814" y="380737"/>
                </a:lnTo>
                <a:lnTo>
                  <a:pt x="703316" y="384004"/>
                </a:lnTo>
                <a:lnTo>
                  <a:pt x="711818" y="370179"/>
                </a:lnTo>
                <a:lnTo>
                  <a:pt x="720320" y="298252"/>
                </a:lnTo>
                <a:lnTo>
                  <a:pt x="728822" y="335788"/>
                </a:lnTo>
                <a:lnTo>
                  <a:pt x="737324" y="362118"/>
                </a:lnTo>
                <a:lnTo>
                  <a:pt x="745827" y="396547"/>
                </a:lnTo>
                <a:lnTo>
                  <a:pt x="754329" y="368044"/>
                </a:lnTo>
                <a:lnTo>
                  <a:pt x="762831" y="306749"/>
                </a:lnTo>
                <a:lnTo>
                  <a:pt x="771333" y="332686"/>
                </a:lnTo>
                <a:lnTo>
                  <a:pt x="779835" y="348867"/>
                </a:lnTo>
                <a:lnTo>
                  <a:pt x="788338" y="406383"/>
                </a:lnTo>
                <a:lnTo>
                  <a:pt x="796840" y="362501"/>
                </a:lnTo>
                <a:lnTo>
                  <a:pt x="805342" y="322849"/>
                </a:lnTo>
                <a:lnTo>
                  <a:pt x="813844" y="321505"/>
                </a:lnTo>
                <a:lnTo>
                  <a:pt x="822346" y="345043"/>
                </a:lnTo>
                <a:lnTo>
                  <a:pt x="830848" y="407105"/>
                </a:lnTo>
                <a:lnTo>
                  <a:pt x="839351" y="361043"/>
                </a:lnTo>
                <a:lnTo>
                  <a:pt x="847853" y="339173"/>
                </a:lnTo>
                <a:lnTo>
                  <a:pt x="856355" y="307587"/>
                </a:lnTo>
                <a:lnTo>
                  <a:pt x="864857" y="348597"/>
                </a:lnTo>
                <a:lnTo>
                  <a:pt x="873359" y="397510"/>
                </a:lnTo>
                <a:lnTo>
                  <a:pt x="881862" y="368025"/>
                </a:lnTo>
                <a:lnTo>
                  <a:pt x="890364" y="348807"/>
                </a:lnTo>
                <a:lnTo>
                  <a:pt x="898866" y="298530"/>
                </a:lnTo>
                <a:lnTo>
                  <a:pt x="907368" y="352924"/>
                </a:lnTo>
                <a:lnTo>
                  <a:pt x="915870" y="382266"/>
                </a:lnTo>
                <a:lnTo>
                  <a:pt x="924372" y="381929"/>
                </a:lnTo>
                <a:lnTo>
                  <a:pt x="932875" y="349530"/>
                </a:lnTo>
                <a:lnTo>
                  <a:pt x="941377" y="299382"/>
                </a:lnTo>
                <a:lnTo>
                  <a:pt x="949879" y="351224"/>
                </a:lnTo>
                <a:lnTo>
                  <a:pt x="958381" y="368903"/>
                </a:lnTo>
                <a:lnTo>
                  <a:pt x="966883" y="396375"/>
                </a:lnTo>
                <a:lnTo>
                  <a:pt x="975386" y="345001"/>
                </a:lnTo>
                <a:lnTo>
                  <a:pt x="983888" y="309528"/>
                </a:lnTo>
                <a:lnTo>
                  <a:pt x="992390" y="340882"/>
                </a:lnTo>
                <a:lnTo>
                  <a:pt x="1000892" y="363089"/>
                </a:lnTo>
                <a:lnTo>
                  <a:pt x="1009394" y="404186"/>
                </a:lnTo>
                <a:lnTo>
                  <a:pt x="1017896" y="342220"/>
                </a:lnTo>
                <a:lnTo>
                  <a:pt x="1026399" y="323175"/>
                </a:lnTo>
                <a:lnTo>
                  <a:pt x="1034901" y="325123"/>
                </a:lnTo>
                <a:lnTo>
                  <a:pt x="1043403" y="365189"/>
                </a:lnTo>
                <a:lnTo>
                  <a:pt x="1051905" y="401879"/>
                </a:lnTo>
                <a:lnTo>
                  <a:pt x="1060407" y="346952"/>
                </a:lnTo>
                <a:lnTo>
                  <a:pt x="1068910" y="333068"/>
                </a:lnTo>
                <a:lnTo>
                  <a:pt x="1077412" y="310950"/>
                </a:lnTo>
                <a:lnTo>
                  <a:pt x="1085914" y="370225"/>
                </a:lnTo>
                <a:lnTo>
                  <a:pt x="1094416" y="391761"/>
                </a:lnTo>
                <a:lnTo>
                  <a:pt x="1102918" y="360010"/>
                </a:lnTo>
                <a:lnTo>
                  <a:pt x="1111420" y="335040"/>
                </a:lnTo>
                <a:lnTo>
                  <a:pt x="1119923" y="304736"/>
                </a:lnTo>
                <a:lnTo>
                  <a:pt x="1128425" y="371217"/>
                </a:lnTo>
                <a:lnTo>
                  <a:pt x="1136927" y="380368"/>
                </a:lnTo>
                <a:lnTo>
                  <a:pt x="1145429" y="376727"/>
                </a:lnTo>
                <a:lnTo>
                  <a:pt x="1153931" y="330514"/>
                </a:lnTo>
                <a:lnTo>
                  <a:pt x="1162434" y="308278"/>
                </a:lnTo>
                <a:lnTo>
                  <a:pt x="1170936" y="363719"/>
                </a:lnTo>
                <a:lnTo>
                  <a:pt x="1179438" y="374279"/>
                </a:lnTo>
                <a:lnTo>
                  <a:pt x="1187940" y="389902"/>
                </a:lnTo>
                <a:lnTo>
                  <a:pt x="1196442" y="325437"/>
                </a:lnTo>
                <a:lnTo>
                  <a:pt x="1204944" y="317783"/>
                </a:lnTo>
                <a:lnTo>
                  <a:pt x="1213447" y="348689"/>
                </a:lnTo>
                <a:lnTo>
                  <a:pt x="1221949" y="375993"/>
                </a:lnTo>
                <a:lnTo>
                  <a:pt x="1230451" y="394293"/>
                </a:lnTo>
                <a:lnTo>
                  <a:pt x="1238953" y="326370"/>
                </a:lnTo>
                <a:lnTo>
                  <a:pt x="1247455" y="326379"/>
                </a:lnTo>
                <a:lnTo>
                  <a:pt x="1255958" y="331908"/>
                </a:lnTo>
                <a:lnTo>
                  <a:pt x="1264460" y="382458"/>
                </a:lnTo>
                <a:lnTo>
                  <a:pt x="1272962" y="389823"/>
                </a:lnTo>
                <a:lnTo>
                  <a:pt x="1281464" y="336236"/>
                </a:lnTo>
                <a:lnTo>
                  <a:pt x="1289966" y="328510"/>
                </a:lnTo>
                <a:lnTo>
                  <a:pt x="1298468" y="320356"/>
                </a:lnTo>
                <a:lnTo>
                  <a:pt x="1306971" y="387136"/>
                </a:lnTo>
                <a:lnTo>
                  <a:pt x="1315473" y="381493"/>
                </a:lnTo>
                <a:lnTo>
                  <a:pt x="1323975" y="352425"/>
                </a:lnTo>
              </a:path>
            </a:pathLst>
          </a:custGeom>
          <a:noFill xmlns:a="http://schemas.openxmlformats.org/drawingml/2006/main"/>
          <a:ln xmlns:a="http://schemas.openxmlformats.org/drawingml/2006/main" w="10001">
            <a:solidFill>
              <a:srgbClr val="111111"/>
            </a:solidFill>
            <a:prstDash val="solid"/>
          </a:ln>
        </p:spPr>
      </p:sp>
      <p:sp>
        <p:nvSpPr>
          <p:cNvPr id="194" name="residual-title">
            <a:extLst xmlns:a="http://schemas.openxmlformats.org/drawingml/2006/main">
              <a:ext uri="{FF2B5EF4-FFF2-40B4-BE49-F238E27FC236}">
                <a16:creationId xmlns:a16="http://schemas.microsoft.com/office/drawing/2014/main" id="{2B3A0404-BD63-4CDF-AC7E-C25B528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1866900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Residual r = y − ŷ</a:t>
            </a:r>
          </a:p>
        </p:txBody>
      </p:sp>
      <p:sp>
        <p:nvSpPr>
          <p:cNvPr id="195" name="residual-tick-0">
            <a:extLst xmlns:a="http://schemas.openxmlformats.org/drawingml/2006/main">
              <a:ext uri="{FF2B5EF4-FFF2-40B4-BE49-F238E27FC236}">
                <a16:creationId xmlns:a16="http://schemas.microsoft.com/office/drawing/2014/main" id="{AD11E764-D51E-4428-964B-144E7260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6375" y="289560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196" name="residual-axis">
            <a:extLst xmlns:a="http://schemas.openxmlformats.org/drawingml/2006/main">
              <a:ext uri="{FF2B5EF4-FFF2-40B4-BE49-F238E27FC236}">
                <a16:creationId xmlns:a16="http://schemas.microsoft.com/office/drawing/2014/main" id="{286B29E8-D81C-4FA9-8ACB-ED21D981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2962275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Sample index</a:t>
            </a:r>
          </a:p>
        </p:txBody>
      </p:sp>
      <p:sp>
        <p:nvSpPr>
          <p:cNvPr id="197" name="residual-tick-end">
            <a:extLst xmlns:a="http://schemas.openxmlformats.org/drawingml/2006/main">
              <a:ext uri="{FF2B5EF4-FFF2-40B4-BE49-F238E27FC236}">
                <a16:creationId xmlns:a16="http://schemas.microsoft.com/office/drawing/2014/main" id="{EB9346C1-0FFD-4AD8-94AC-0ABEBBA7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7450" y="28956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5760</a:t>
            </a:r>
          </a:p>
        </p:txBody>
      </p:sp>
      <p:sp>
        <p:nvSpPr>
          <p:cNvPr id="198" name="source-feature-box">
            <a:extLst xmlns:a="http://schemas.openxmlformats.org/drawingml/2006/main">
              <a:ext uri="{FF2B5EF4-FFF2-40B4-BE49-F238E27FC236}">
                <a16:creationId xmlns:a16="http://schemas.microsoft.com/office/drawing/2014/main" id="{DD09D945-A834-460F-B2DC-DBDEF1EF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390900"/>
            <a:ext cx="1209675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EFF8F1"/>
          </a:solidFill>
          <a:ln xmlns:a="http://schemas.openxmlformats.org/drawingml/2006/main" w="17145">
            <a:solidFill>
              <a:srgbClr val="137A2D"/>
            </a:solidFill>
            <a:prstDash val="solid"/>
          </a:ln>
        </p:spPr>
      </p:sp>
      <p:sp>
        <p:nvSpPr>
          <p:cNvPr id="199" name="source-feature-label">
            <a:extLst xmlns:a="http://schemas.openxmlformats.org/drawingml/2006/main">
              <a:ext uri="{FF2B5EF4-FFF2-40B4-BE49-F238E27FC236}">
                <a16:creationId xmlns:a16="http://schemas.microsoft.com/office/drawing/2014/main" id="{A801F0B8-5225-4857-822D-37E4FB25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3481578"/>
            <a:ext cx="11144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7A2D"/>
                </a:solidFill>
              </a:defRPr>
            </a:pPr>
            <a:r>
              <a:rPr sz="1050" b="1">
                <a:solidFill>
                  <a:srgbClr val="137A2D"/>
                </a:solidFill>
              </a:rPr>
              <a:t>Source feature</a:t>
            </a:r>
          </a:p>
          <a:p xmlns:a="http://schemas.openxmlformats.org/drawingml/2006/main">
            <a:pPr algn="ctr">
              <a:defRPr sz="1050" b="1">
                <a:solidFill>
                  <a:srgbClr val="137A2D"/>
                </a:solidFill>
              </a:defRPr>
            </a:pPr>
            <a:r>
              <a:rPr sz="1050" b="1">
                <a:solidFill>
                  <a:srgbClr val="137A2D"/>
                </a:solidFill>
              </a:rPr>
              <a:t>encoder</a:t>
            </a:r>
          </a:p>
        </p:txBody>
      </p:sp>
      <p:sp>
        <p:nvSpPr>
          <p:cNvPr id="200" name="source-feature-dim">
            <a:extLst xmlns:a="http://schemas.openxmlformats.org/drawingml/2006/main">
              <a:ext uri="{FF2B5EF4-FFF2-40B4-BE49-F238E27FC236}">
                <a16:creationId xmlns:a16="http://schemas.microsoft.com/office/drawing/2014/main" id="{6002C9B4-0061-44E6-A38D-9AC17C22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34480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7A2D"/>
                </a:solidFill>
              </a:defRPr>
            </a:pPr>
            <a:r>
              <a:rPr sz="1050" b="1">
                <a:solidFill>
                  <a:srgbClr val="137A2D"/>
                </a:solidFill>
              </a:rPr>
              <a:t>32-D</a:t>
            </a:r>
          </a:p>
        </p:txBody>
      </p:sp>
      <p:sp>
        <p:nvSpPr>
          <p:cNvPr id="201" name="response-feature-box">
            <a:extLst xmlns:a="http://schemas.openxmlformats.org/drawingml/2006/main">
              <a:ext uri="{FF2B5EF4-FFF2-40B4-BE49-F238E27FC236}">
                <a16:creationId xmlns:a16="http://schemas.microsoft.com/office/drawing/2014/main" id="{3C634CA8-494A-4373-AA48-4332420D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171950"/>
            <a:ext cx="1209675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17145">
            <a:solidFill>
              <a:srgbClr val="F05A00"/>
            </a:solidFill>
            <a:prstDash val="solid"/>
          </a:ln>
        </p:spPr>
      </p:sp>
      <p:sp>
        <p:nvSpPr>
          <p:cNvPr id="202" name="response-feature-label">
            <a:extLst xmlns:a="http://schemas.openxmlformats.org/drawingml/2006/main">
              <a:ext uri="{FF2B5EF4-FFF2-40B4-BE49-F238E27FC236}">
                <a16:creationId xmlns:a16="http://schemas.microsoft.com/office/drawing/2014/main" id="{E5352AD7-E6C2-4090-B845-A93D326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96425" y="4262628"/>
            <a:ext cx="1114425" cy="352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05A00"/>
                </a:solidFill>
              </a:defRPr>
            </a:pPr>
            <a:r>
              <a:rPr sz="900" b="1">
                <a:solidFill>
                  <a:srgbClr val="F05A00"/>
                </a:solidFill>
              </a:rPr>
              <a:t>Response feature</a:t>
            </a:r>
          </a:p>
          <a:p xmlns:a="http://schemas.openxmlformats.org/drawingml/2006/main">
            <a:pPr algn="ctr">
              <a:defRPr sz="900" b="1">
                <a:solidFill>
                  <a:srgbClr val="F05A00"/>
                </a:solidFill>
              </a:defRPr>
            </a:pPr>
            <a:r>
              <a:rPr sz="900" b="1">
                <a:solidFill>
                  <a:srgbClr val="F05A00"/>
                </a:solidFill>
              </a:rPr>
              <a:t>encoder</a:t>
            </a:r>
          </a:p>
        </p:txBody>
      </p:sp>
      <p:sp>
        <p:nvSpPr>
          <p:cNvPr id="203" name="response-feature-dim">
            <a:extLst xmlns:a="http://schemas.openxmlformats.org/drawingml/2006/main">
              <a:ext uri="{FF2B5EF4-FFF2-40B4-BE49-F238E27FC236}">
                <a16:creationId xmlns:a16="http://schemas.microsoft.com/office/drawing/2014/main" id="{4E84C073-4233-439C-B344-1A46F6706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42195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5A00"/>
                </a:solidFill>
              </a:defRPr>
            </a:pPr>
            <a:r>
              <a:rPr sz="1050" b="1">
                <a:solidFill>
                  <a:srgbClr val="F05A00"/>
                </a:solidFill>
              </a:rPr>
              <a:t>32-D</a:t>
            </a:r>
          </a:p>
        </p:txBody>
      </p:sp>
      <p:sp>
        <p:nvSpPr>
          <p:cNvPr id="204" name="concat-upper-box">
            <a:extLst xmlns:a="http://schemas.openxmlformats.org/drawingml/2006/main">
              <a:ext uri="{FF2B5EF4-FFF2-40B4-BE49-F238E27FC236}">
                <a16:creationId xmlns:a16="http://schemas.microsoft.com/office/drawing/2014/main" id="{E88AA195-EAB0-477D-8E9C-EBF5FFC5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3962400"/>
            <a:ext cx="857250" cy="97155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7145">
            <a:solidFill>
              <a:srgbClr val="E40062"/>
            </a:solidFill>
            <a:prstDash val="solid"/>
          </a:ln>
        </p:spPr>
      </p:sp>
      <p:sp>
        <p:nvSpPr>
          <p:cNvPr id="205" name="concat-upper-label">
            <a:extLst xmlns:a="http://schemas.openxmlformats.org/drawingml/2006/main">
              <a:ext uri="{FF2B5EF4-FFF2-40B4-BE49-F238E27FC236}">
                <a16:creationId xmlns:a16="http://schemas.microsoft.com/office/drawing/2014/main" id="{16BCADE0-C0EC-4BFA-92D1-88763104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400" y="4127563"/>
            <a:ext cx="762000" cy="641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40062"/>
                </a:solidFill>
              </a:defRPr>
            </a:pPr>
            <a:r>
              <a:rPr sz="825" b="1">
                <a:solidFill>
                  <a:srgbClr val="E40062"/>
                </a:solidFill>
              </a:rPr>
              <a:t>Concatenate</a:t>
            </a:r>
          </a:p>
          <a:p xmlns:a="http://schemas.openxmlformats.org/drawingml/2006/main">
            <a:pPr algn="ctr">
              <a:defRPr sz="825" b="1">
                <a:solidFill>
                  <a:srgbClr val="E40062"/>
                </a:solidFill>
              </a:defRPr>
            </a:pPr>
            <a:r>
              <a:rPr sz="825" b="1">
                <a:solidFill>
                  <a:srgbClr val="E40062"/>
                </a:solidFill>
              </a:rPr>
              <a:t>96-D</a:t>
            </a:r>
          </a:p>
        </p:txBody>
      </p:sp>
      <p:sp>
        <p:nvSpPr>
          <p:cNvPr id="206" name="residual-feature-box">
            <a:extLst xmlns:a="http://schemas.openxmlformats.org/drawingml/2006/main">
              <a:ext uri="{FF2B5EF4-FFF2-40B4-BE49-F238E27FC236}">
                <a16:creationId xmlns:a16="http://schemas.microsoft.com/office/drawing/2014/main" id="{AF7CACED-C519-49D2-B420-5C86AE46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0" y="4048125"/>
            <a:ext cx="819150" cy="819150"/>
          </a:xfrm>
          <a:prstGeom xmlns:a="http://schemas.openxmlformats.org/drawingml/2006/main" prst="roundRect">
            <a:avLst>
              <a:gd name="adj" fmla="val 12791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7145">
            <a:solidFill>
              <a:srgbClr val="111111"/>
            </a:solidFill>
            <a:prstDash val="solid"/>
          </a:ln>
        </p:spPr>
      </p:sp>
      <p:sp>
        <p:nvSpPr>
          <p:cNvPr id="207" name="residual-feature-label">
            <a:extLst xmlns:a="http://schemas.openxmlformats.org/drawingml/2006/main">
              <a:ext uri="{FF2B5EF4-FFF2-40B4-BE49-F238E27FC236}">
                <a16:creationId xmlns:a16="http://schemas.microsoft.com/office/drawing/2014/main" id="{DE7A26AC-8C9A-4A1E-ABC5-A1B5C53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5375" y="4187381"/>
            <a:ext cx="723900" cy="5406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Residual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feature</a:t>
            </a:r>
          </a:p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208" name="residual-feature-dim">
            <a:extLst xmlns:a="http://schemas.openxmlformats.org/drawingml/2006/main">
              <a:ext uri="{FF2B5EF4-FFF2-40B4-BE49-F238E27FC236}">
                <a16:creationId xmlns:a16="http://schemas.microsoft.com/office/drawing/2014/main" id="{7B63F423-2A49-4B75-8352-4EE05FE5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4200525"/>
            <a:ext cx="523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32-D</a:t>
            </a:r>
          </a:p>
        </p:txBody>
      </p:sp>
      <p:sp>
        <p:nvSpPr>
          <p:cNvPr id="209" name="concat-lower-box">
            <a:extLst xmlns:a="http://schemas.openxmlformats.org/drawingml/2006/main">
              <a:ext uri="{FF2B5EF4-FFF2-40B4-BE49-F238E27FC236}">
                <a16:creationId xmlns:a16="http://schemas.microsoft.com/office/drawing/2014/main" id="{412983C7-0D28-46CE-BC65-0274377F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34775" y="5457825"/>
            <a:ext cx="85725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7145">
            <a:solidFill>
              <a:srgbClr val="E40062"/>
            </a:solidFill>
            <a:prstDash val="solid"/>
          </a:ln>
        </p:spPr>
      </p:sp>
      <p:sp>
        <p:nvSpPr>
          <p:cNvPr id="210" name="concat-lower-label">
            <a:extLst xmlns:a="http://schemas.openxmlformats.org/drawingml/2006/main">
              <a:ext uri="{FF2B5EF4-FFF2-40B4-BE49-F238E27FC236}">
                <a16:creationId xmlns:a16="http://schemas.microsoft.com/office/drawing/2014/main" id="{8D489B69-0869-46BA-AE39-8B9ABA56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82400" y="5538788"/>
            <a:ext cx="762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40062"/>
                </a:solidFill>
              </a:defRPr>
            </a:pPr>
            <a:r>
              <a:rPr sz="750" b="1">
                <a:solidFill>
                  <a:srgbClr val="E40062"/>
                </a:solidFill>
              </a:rPr>
              <a:t>Concatenate</a:t>
            </a:r>
          </a:p>
          <a:p xmlns:a="http://schemas.openxmlformats.org/drawingml/2006/main">
            <a:pPr algn="ctr">
              <a:defRPr sz="750" b="1">
                <a:solidFill>
                  <a:srgbClr val="E40062"/>
                </a:solidFill>
              </a:defRPr>
            </a:pPr>
            <a:r>
              <a:rPr sz="750" b="1">
                <a:solidFill>
                  <a:srgbClr val="E40062"/>
                </a:solidFill>
              </a:rPr>
              <a:t>96-D</a:t>
            </a:r>
          </a:p>
        </p:txBody>
      </p:sp>
      <p:sp>
        <p:nvSpPr>
          <p:cNvPr id="211" name="mlp-box">
            <a:extLst xmlns:a="http://schemas.openxmlformats.org/drawingml/2006/main">
              <a:ext uri="{FF2B5EF4-FFF2-40B4-BE49-F238E27FC236}">
                <a16:creationId xmlns:a16="http://schemas.microsoft.com/office/drawing/2014/main" id="{64AC880A-E2D0-4BA8-A149-1D3F1284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0" y="5457825"/>
            <a:ext cx="838200" cy="4762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7145">
            <a:solidFill>
              <a:srgbClr val="E40062"/>
            </a:solidFill>
            <a:prstDash val="solid"/>
          </a:ln>
        </p:spPr>
      </p:sp>
      <p:sp>
        <p:nvSpPr>
          <p:cNvPr id="212" name="mlp-label">
            <a:extLst xmlns:a="http://schemas.openxmlformats.org/drawingml/2006/main">
              <a:ext uri="{FF2B5EF4-FFF2-40B4-BE49-F238E27FC236}">
                <a16:creationId xmlns:a16="http://schemas.microsoft.com/office/drawing/2014/main" id="{C5F3B61A-0706-4EC5-BD1E-01DE4735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5375" y="5538788"/>
            <a:ext cx="742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40062"/>
                </a:solidFill>
              </a:defRPr>
            </a:pPr>
            <a:r>
              <a:rPr sz="750" b="1">
                <a:solidFill>
                  <a:srgbClr val="E40062"/>
                </a:solidFill>
              </a:rPr>
              <a:t>MLP</a:t>
            </a:r>
          </a:p>
          <a:p xmlns:a="http://schemas.openxmlformats.org/drawingml/2006/main">
            <a:pPr algn="ctr">
              <a:defRPr sz="750" b="1">
                <a:solidFill>
                  <a:srgbClr val="E40062"/>
                </a:solidFill>
              </a:defRPr>
            </a:pPr>
            <a:r>
              <a:rPr sz="750" b="1">
                <a:solidFill>
                  <a:srgbClr val="E40062"/>
                </a:solidFill>
              </a:rPr>
              <a:t>96→64→1</a:t>
            </a:r>
          </a:p>
        </p:txBody>
      </p:sp>
      <p:sp>
        <p:nvSpPr>
          <p:cNvPr id="213" name="classification-logit">
            <a:extLst xmlns:a="http://schemas.openxmlformats.org/drawingml/2006/main">
              <a:ext uri="{FF2B5EF4-FFF2-40B4-BE49-F238E27FC236}">
                <a16:creationId xmlns:a16="http://schemas.microsoft.com/office/drawing/2014/main" id="{C764459B-7667-4216-ACFE-B1D0988B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2150" y="5438775"/>
            <a:ext cx="110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40062"/>
                </a:solidFill>
              </a:defRPr>
            </a:pPr>
            <a:r>
              <a:rPr sz="1050" b="1">
                <a:solidFill>
                  <a:srgbClr val="E40062"/>
                </a:solidFill>
              </a:rPr>
              <a:t>Classification</a:t>
            </a:r>
          </a:p>
          <a:p xmlns:a="http://schemas.openxmlformats.org/drawingml/2006/main">
            <a:pPr algn="ctr">
              <a:defRPr sz="1050" b="1">
                <a:solidFill>
                  <a:srgbClr val="E40062"/>
                </a:solidFill>
              </a:defRPr>
            </a:pPr>
            <a:r>
              <a:rPr sz="1050" b="1">
                <a:solidFill>
                  <a:srgbClr val="E40062"/>
                </a:solidFill>
              </a:rPr>
              <a:t>logit s</a:t>
            </a:r>
          </a:p>
        </p:txBody>
      </p:sp>
      <p:sp>
        <p:nvSpPr>
          <p:cNvPr id="214" name="label-box">
            <a:extLst xmlns:a="http://schemas.openxmlformats.org/drawingml/2006/main">
              <a:ext uri="{FF2B5EF4-FFF2-40B4-BE49-F238E27FC236}">
                <a16:creationId xmlns:a16="http://schemas.microsoft.com/office/drawing/2014/main" id="{8874C2D6-39D5-482A-A905-ABA60FFA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53950" y="6572250"/>
            <a:ext cx="771525" cy="4572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0F6"/>
          </a:solidFill>
          <a:ln xmlns:a="http://schemas.openxmlformats.org/drawingml/2006/main" w="17145">
            <a:solidFill>
              <a:srgbClr val="E40062"/>
            </a:solidFill>
            <a:prstDash val="solid"/>
          </a:ln>
        </p:spPr>
      </p:sp>
      <p:sp>
        <p:nvSpPr>
          <p:cNvPr id="215" name="label-label">
            <a:extLst xmlns:a="http://schemas.openxmlformats.org/drawingml/2006/main">
              <a:ext uri="{FF2B5EF4-FFF2-40B4-BE49-F238E27FC236}">
                <a16:creationId xmlns:a16="http://schemas.microsoft.com/office/drawing/2014/main" id="{B74248BE-5B62-483B-9492-F0C0915F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01575" y="6649974"/>
            <a:ext cx="676275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0062"/>
                </a:solidFill>
              </a:defRPr>
            </a:pPr>
            <a:r>
              <a:rPr sz="1200" b="1">
                <a:solidFill>
                  <a:srgbClr val="E40062"/>
                </a:solidFill>
              </a:rPr>
              <a:t>Label c</a:t>
            </a:r>
          </a:p>
        </p:txBody>
      </p:sp>
      <p:sp>
        <p:nvSpPr>
          <p:cNvPr id="216" name="reconstruction-loss-box">
            <a:extLst xmlns:a="http://schemas.openxmlformats.org/drawingml/2006/main">
              <a:ext uri="{FF2B5EF4-FFF2-40B4-BE49-F238E27FC236}">
                <a16:creationId xmlns:a16="http://schemas.microsoft.com/office/drawing/2014/main" id="{87BA920C-D113-438C-BC36-F3FD6B27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5676900"/>
            <a:ext cx="1714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7145">
            <a:solidFill>
              <a:srgbClr val="3B3B3B"/>
            </a:solidFill>
            <a:prstDash val="solid"/>
          </a:ln>
        </p:spPr>
      </p:sp>
      <p:sp>
        <p:nvSpPr>
          <p:cNvPr id="217" name="reconstruction-loss-label">
            <a:extLst xmlns:a="http://schemas.openxmlformats.org/drawingml/2006/main">
              <a:ext uri="{FF2B5EF4-FFF2-40B4-BE49-F238E27FC236}">
                <a16:creationId xmlns:a16="http://schemas.microsoft.com/office/drawing/2014/main" id="{9D3E278C-9C1D-4CEF-82BF-3197AE9D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5749766"/>
            <a:ext cx="16192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Reconstruction loss</a:t>
            </a:r>
          </a:p>
        </p:txBody>
      </p:sp>
      <p:sp>
        <p:nvSpPr>
          <p:cNvPr id="218" name="physics-loss-box">
            <a:extLst xmlns:a="http://schemas.openxmlformats.org/drawingml/2006/main">
              <a:ext uri="{FF2B5EF4-FFF2-40B4-BE49-F238E27FC236}">
                <a16:creationId xmlns:a16="http://schemas.microsoft.com/office/drawing/2014/main" id="{F2F9EDAF-EBE7-4A0E-BDE8-19861F14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5676900"/>
            <a:ext cx="13906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7145">
            <a:solidFill>
              <a:srgbClr val="3B3B3B"/>
            </a:solidFill>
            <a:prstDash val="solid"/>
          </a:ln>
        </p:spPr>
      </p:sp>
      <p:sp>
        <p:nvSpPr>
          <p:cNvPr id="219" name="physics-loss-label">
            <a:extLst xmlns:a="http://schemas.openxmlformats.org/drawingml/2006/main">
              <a:ext uri="{FF2B5EF4-FFF2-40B4-BE49-F238E27FC236}">
                <a16:creationId xmlns:a16="http://schemas.microsoft.com/office/drawing/2014/main" id="{F149576D-33D5-4088-B81E-A942AC5D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5749766"/>
            <a:ext cx="12954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Physics loss</a:t>
            </a:r>
          </a:p>
        </p:txBody>
      </p:sp>
      <p:sp>
        <p:nvSpPr>
          <p:cNvPr id="220" name="bce-loss-box">
            <a:extLst xmlns:a="http://schemas.openxmlformats.org/drawingml/2006/main">
              <a:ext uri="{FF2B5EF4-FFF2-40B4-BE49-F238E27FC236}">
                <a16:creationId xmlns:a16="http://schemas.microsoft.com/office/drawing/2014/main" id="{A308B938-3078-44BA-B5D1-C4D298DE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0625" y="5676900"/>
            <a:ext cx="161925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7145">
            <a:solidFill>
              <a:srgbClr val="3B3B3B"/>
            </a:solidFill>
            <a:prstDash val="solid"/>
          </a:ln>
        </p:spPr>
      </p:sp>
      <p:sp>
        <p:nvSpPr>
          <p:cNvPr id="221" name="bce-loss-label">
            <a:extLst xmlns:a="http://schemas.openxmlformats.org/drawingml/2006/main">
              <a:ext uri="{FF2B5EF4-FFF2-40B4-BE49-F238E27FC236}">
                <a16:creationId xmlns:a16="http://schemas.microsoft.com/office/drawing/2014/main" id="{BFFDFE8E-C473-4998-A6ED-2573A5D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0" y="5749766"/>
            <a:ext cx="152400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BCE loss</a:t>
            </a:r>
          </a:p>
        </p:txBody>
      </p:sp>
      <p:sp>
        <p:nvSpPr>
          <p:cNvPr id="222" name="total-loss-box">
            <a:extLst xmlns:a="http://schemas.openxmlformats.org/drawingml/2006/main">
              <a:ext uri="{FF2B5EF4-FFF2-40B4-BE49-F238E27FC236}">
                <a16:creationId xmlns:a16="http://schemas.microsoft.com/office/drawing/2014/main" id="{0DE40747-45A3-44E1-BB5A-0AD22C23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775" y="6724650"/>
            <a:ext cx="30575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17145">
            <a:solidFill>
              <a:srgbClr val="3B3B3B"/>
            </a:solidFill>
            <a:prstDash val="solid"/>
          </a:ln>
        </p:spPr>
      </p:sp>
      <p:sp>
        <p:nvSpPr>
          <p:cNvPr id="223" name="total-loss-label">
            <a:extLst xmlns:a="http://schemas.openxmlformats.org/drawingml/2006/main">
              <a:ext uri="{FF2B5EF4-FFF2-40B4-BE49-F238E27FC236}">
                <a16:creationId xmlns:a16="http://schemas.microsoft.com/office/drawing/2014/main" id="{120C502E-7C12-4D58-86AC-04778C1C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6837998"/>
            <a:ext cx="296227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4" name="total-loss-title">
            <a:extLst xmlns:a="http://schemas.openxmlformats.org/drawingml/2006/main">
              <a:ext uri="{FF2B5EF4-FFF2-40B4-BE49-F238E27FC236}">
                <a16:creationId xmlns:a16="http://schemas.microsoft.com/office/drawing/2014/main" id="{5AC1131D-0C5A-4624-A9B7-29EF75B6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678180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Total loss</a:t>
            </a:r>
          </a:p>
        </p:txBody>
      </p:sp>
      <p:sp>
        <p:nvSpPr>
          <p:cNvPr id="225" name="total-loss-equation">
            <a:extLst xmlns:a="http://schemas.openxmlformats.org/drawingml/2006/main">
              <a:ext uri="{FF2B5EF4-FFF2-40B4-BE49-F238E27FC236}">
                <a16:creationId xmlns:a16="http://schemas.microsoft.com/office/drawing/2014/main" id="{5CB78909-ABBC-4A90-9996-D43F28D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7048500"/>
            <a:ext cx="2809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3B3B3B"/>
                </a:solidFill>
              </a:defRPr>
            </a:pPr>
            <a:r>
              <a:rPr sz="1200" b="0">
                <a:solidFill>
                  <a:srgbClr val="3B3B3B"/>
                </a:solidFill>
              </a:rPr>
              <a:t>L = LRecon + βLPhysics + λLBCE</a:t>
            </a:r>
          </a:p>
        </p:txBody>
      </p:sp>
      <p:sp>
        <p:nvSpPr>
          <p:cNvPr id="226" name="legend-box">
            <a:extLst xmlns:a="http://schemas.openxmlformats.org/drawingml/2006/main">
              <a:ext uri="{FF2B5EF4-FFF2-40B4-BE49-F238E27FC236}">
                <a16:creationId xmlns:a16="http://schemas.microsoft.com/office/drawing/2014/main" id="{CD64F76F-2581-4A0C-9FC6-177386F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" y="6657975"/>
            <a:ext cx="2171700" cy="828675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3B3B"/>
            </a:solidFill>
            <a:prstDash val="solid"/>
          </a:ln>
        </p:spPr>
      </p:sp>
      <p:sp>
        <p:nvSpPr>
          <p:cNvPr id="227" name="legend-solid-line">
            <a:extLst xmlns:a="http://schemas.openxmlformats.org/drawingml/2006/main">
              <a:ext uri="{FF2B5EF4-FFF2-40B4-BE49-F238E27FC236}">
                <a16:creationId xmlns:a16="http://schemas.microsoft.com/office/drawing/2014/main" id="{8F01E004-59FC-4F09-8A7B-4AEED8B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86575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28" name="legend-solid-head">
            <a:extLst xmlns:a="http://schemas.openxmlformats.org/drawingml/2006/main">
              <a:ext uri="{FF2B5EF4-FFF2-40B4-BE49-F238E27FC236}">
                <a16:creationId xmlns:a16="http://schemas.microsoft.com/office/drawing/2014/main" id="{F3DBE690-3369-429A-A1A4-1D0BDAA4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843713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3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4763">
            <a:solidFill>
              <a:srgbClr val="111111"/>
            </a:solidFill>
            <a:prstDash val="solid"/>
          </a:ln>
        </p:spPr>
      </p:sp>
      <p:sp>
        <p:nvSpPr>
          <p:cNvPr id="229" name="legend-solid-label">
            <a:extLst xmlns:a="http://schemas.openxmlformats.org/drawingml/2006/main">
              <a:ext uri="{FF2B5EF4-FFF2-40B4-BE49-F238E27FC236}">
                <a16:creationId xmlns:a16="http://schemas.microsoft.com/office/drawing/2014/main" id="{04898A6E-0DB9-4620-AC51-D57812AB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67627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Tensor / data flow</a:t>
            </a:r>
          </a:p>
        </p:txBody>
      </p:sp>
      <p:sp>
        <p:nvSpPr>
          <p:cNvPr id="230" name="legend-dashed-line">
            <a:extLst xmlns:a="http://schemas.openxmlformats.org/drawingml/2006/main">
              <a:ext uri="{FF2B5EF4-FFF2-40B4-BE49-F238E27FC236}">
                <a16:creationId xmlns:a16="http://schemas.microsoft.com/office/drawing/2014/main" id="{AB77C02E-22CD-4022-9EF7-15D09EF6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62800"/>
            <a:ext cx="419100" cy="9525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B3B3B"/>
            </a:solidFill>
            <a:prstDash val="dash"/>
          </a:ln>
        </p:spPr>
      </p:sp>
      <p:sp>
        <p:nvSpPr>
          <p:cNvPr id="231" name="legend-dashed-head">
            <a:extLst xmlns:a="http://schemas.openxmlformats.org/drawingml/2006/main">
              <a:ext uri="{FF2B5EF4-FFF2-40B4-BE49-F238E27FC236}">
                <a16:creationId xmlns:a16="http://schemas.microsoft.com/office/drawing/2014/main" id="{5A5642A2-28D0-455F-9A7F-46C8A584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119938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0"/>
                </a:moveTo>
                <a:lnTo>
                  <a:pt x="0" y="85725"/>
                </a:lnTo>
                <a:lnTo>
                  <a:pt x="85725" y="42863"/>
                </a:lnTo>
                <a:close/>
              </a:path>
            </a:pathLst>
          </a:custGeom>
          <a:solidFill xmlns:a="http://schemas.openxmlformats.org/drawingml/2006/main">
            <a:srgbClr val="3B3B3B"/>
          </a:solidFill>
          <a:ln xmlns:a="http://schemas.openxmlformats.org/drawingml/2006/main" w="4763">
            <a:solidFill>
              <a:srgbClr val="3B3B3B"/>
            </a:solidFill>
            <a:prstDash val="solid"/>
          </a:ln>
        </p:spPr>
      </p:sp>
      <p:sp>
        <p:nvSpPr>
          <p:cNvPr id="232" name="legend-dashed-label">
            <a:extLst xmlns:a="http://schemas.openxmlformats.org/drawingml/2006/main">
              <a:ext uri="{FF2B5EF4-FFF2-40B4-BE49-F238E27FC236}">
                <a16:creationId xmlns:a16="http://schemas.microsoft.com/office/drawing/2014/main" id="{EEDE3450-E689-4798-83F3-CF329D9F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7038975"/>
            <a:ext cx="1438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Training-only supervision</a:t>
            </a:r>
          </a:p>
        </p:txBody>
      </p:sp>
    </p:spTree>
    <p:extLst>
      <p:ext uri="{BB962C8B-B14F-4D97-AF65-F5344CB8AC3E}">
        <p14:creationId xmlns:p14="http://schemas.microsoft.com/office/powerpoint/2010/main" val="9967159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2026-08-29T12:34:01.6710000Z</dcterms:created>
  <dcterms:modified xsi:type="dcterms:W3CDTF">2026-08-29T12:34:01.6710000Z</dcterms:modified>
</coreProperties>
</file>